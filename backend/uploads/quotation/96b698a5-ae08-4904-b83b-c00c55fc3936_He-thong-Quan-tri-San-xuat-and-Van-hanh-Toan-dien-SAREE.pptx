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4630400" cy="8229600"/>
  <p:notesSz cx="8229600" cy="14630400"/>
  <p:embeddedFontLst>
    <p:embeddedFont>
      <p:font typeface="Petrona"/>
      <p:regular r:id="rId17"/>
    </p:embeddedFont>
    <p:embeddedFont>
      <p:font typeface="Petrona"/>
      <p:regular r:id="rId18"/>
    </p:embeddedFont>
    <p:embeddedFont>
      <p:font typeface="Petrona"/>
      <p:regular r:id="rId19"/>
    </p:embeddedFont>
    <p:embeddedFont>
      <p:font typeface="Petrona"/>
      <p:regular r:id="rId20"/>
    </p:embeddedFont>
    <p:embeddedFont>
      <p:font typeface="Inter"/>
      <p:regular r:id="rId21"/>
    </p:embeddedFont>
    <p:embeddedFont>
      <p:font typeface="Inter"/>
      <p:regular r:id="rId22"/>
    </p:embeddedFont>
    <p:embeddedFont>
      <p:font typeface="Inter"/>
      <p:regular r:id="rId23"/>
    </p:embeddedFont>
    <p:embeddedFont>
      <p:font typeface="Inter"/>
      <p:regular r:id="rId24"/>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openxmlformats.org/officeDocument/2006/relationships/font" Target="fonts/font1.fntdata"/><Relationship Id="rId18" Type="http://schemas.openxmlformats.org/officeDocument/2006/relationships/font" Target="fonts/font2.fntdata"/><Relationship Id="rId19" Type="http://schemas.openxmlformats.org/officeDocument/2006/relationships/font" Target="fonts/font3.fntdata"/><Relationship Id="rId20" Type="http://schemas.openxmlformats.org/officeDocument/2006/relationships/font" Target="fonts/font4.fntdata"/><Relationship Id="rId21" Type="http://schemas.openxmlformats.org/officeDocument/2006/relationships/font" Target="fonts/font5.fntdata"/><Relationship Id="rId22" Type="http://schemas.openxmlformats.org/officeDocument/2006/relationships/font" Target="fonts/font6.fntdata"/><Relationship Id="rId23" Type="http://schemas.openxmlformats.org/officeDocument/2006/relationships/font" Target="fonts/font7.fntdata"/><Relationship Id="rId24" Type="http://schemas.openxmlformats.org/officeDocument/2006/relationships/font" Target="fonts/font8.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3-1.pn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4-1.png"/><Relationship Id="rId3"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5-1.png"/><Relationship Id="rId3"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6-1.png"/><Relationship Id="rId3"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7-1.png"/><Relationship Id="rId3"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8-1.png"/><Relationship Id="rId3"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9-1.png"/><Relationship Id="rId3"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0-1.png"/><Relationship Id="rId3"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1-1.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2E9"/>
          </a:solidFill>
          <a:ln/>
        </p:spPr>
      </p:sp>
      <p:sp>
        <p:nvSpPr>
          <p:cNvPr id="3" name="Shape 1"/>
          <p:cNvSpPr/>
          <p:nvPr/>
        </p:nvSpPr>
        <p:spPr>
          <a:xfrm>
            <a:off x="0" y="0"/>
            <a:ext cx="14630400" cy="8229600"/>
          </a:xfrm>
          <a:prstGeom prst="rect">
            <a:avLst/>
          </a:prstGeom>
          <a:solidFill>
            <a:srgbClr val="FDFAF7"/>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2E9"/>
          </a:solidFill>
          <a:ln/>
        </p:spPr>
      </p:sp>
      <p:sp>
        <p:nvSpPr>
          <p:cNvPr id="3" name="Shape 1"/>
          <p:cNvSpPr/>
          <p:nvPr/>
        </p:nvSpPr>
        <p:spPr>
          <a:xfrm>
            <a:off x="0" y="0"/>
            <a:ext cx="14630400" cy="8229600"/>
          </a:xfrm>
          <a:prstGeom prst="rect">
            <a:avLst/>
          </a:prstGeom>
          <a:solidFill>
            <a:srgbClr val="FDFAF7"/>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2E9"/>
          </a:solidFill>
          <a:ln/>
        </p:spPr>
      </p:sp>
      <p:sp>
        <p:nvSpPr>
          <p:cNvPr id="3" name="Shape 1"/>
          <p:cNvSpPr/>
          <p:nvPr/>
        </p:nvSpPr>
        <p:spPr>
          <a:xfrm>
            <a:off x="0" y="0"/>
            <a:ext cx="14630400" cy="8229600"/>
          </a:xfrm>
          <a:prstGeom prst="rect">
            <a:avLst/>
          </a:prstGeom>
          <a:solidFill>
            <a:srgbClr val="FDFAF7"/>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2E9"/>
          </a:solidFill>
          <a:ln/>
        </p:spPr>
      </p:sp>
      <p:sp>
        <p:nvSpPr>
          <p:cNvPr id="3" name="Shape 1"/>
          <p:cNvSpPr/>
          <p:nvPr/>
        </p:nvSpPr>
        <p:spPr>
          <a:xfrm>
            <a:off x="0" y="0"/>
            <a:ext cx="14630400" cy="8229600"/>
          </a:xfrm>
          <a:prstGeom prst="rect">
            <a:avLst/>
          </a:prstGeom>
          <a:solidFill>
            <a:srgbClr val="FDFAF7"/>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2E9"/>
          </a:solidFill>
          <a:ln/>
        </p:spPr>
      </p:sp>
      <p:sp>
        <p:nvSpPr>
          <p:cNvPr id="3" name="Shape 1"/>
          <p:cNvSpPr/>
          <p:nvPr/>
        </p:nvSpPr>
        <p:spPr>
          <a:xfrm>
            <a:off x="0" y="0"/>
            <a:ext cx="14630400" cy="8229600"/>
          </a:xfrm>
          <a:prstGeom prst="rect">
            <a:avLst/>
          </a:prstGeom>
          <a:solidFill>
            <a:srgbClr val="FDFAF7"/>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2E9"/>
          </a:solidFill>
          <a:ln/>
        </p:spPr>
      </p:sp>
      <p:sp>
        <p:nvSpPr>
          <p:cNvPr id="3" name="Shape 1"/>
          <p:cNvSpPr/>
          <p:nvPr/>
        </p:nvSpPr>
        <p:spPr>
          <a:xfrm>
            <a:off x="0" y="0"/>
            <a:ext cx="14630400" cy="8229600"/>
          </a:xfrm>
          <a:prstGeom prst="rect">
            <a:avLst/>
          </a:prstGeom>
          <a:solidFill>
            <a:srgbClr val="FDFAF7"/>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2E9"/>
          </a:solidFill>
          <a:ln/>
        </p:spPr>
      </p:sp>
      <p:sp>
        <p:nvSpPr>
          <p:cNvPr id="3" name="Shape 1"/>
          <p:cNvSpPr/>
          <p:nvPr/>
        </p:nvSpPr>
        <p:spPr>
          <a:xfrm>
            <a:off x="0" y="0"/>
            <a:ext cx="14630400" cy="8229600"/>
          </a:xfrm>
          <a:prstGeom prst="rect">
            <a:avLst/>
          </a:prstGeom>
          <a:solidFill>
            <a:srgbClr val="FDFAF7"/>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2E9"/>
          </a:solidFill>
          <a:ln/>
        </p:spPr>
      </p:sp>
      <p:sp>
        <p:nvSpPr>
          <p:cNvPr id="3" name="Shape 1"/>
          <p:cNvSpPr/>
          <p:nvPr/>
        </p:nvSpPr>
        <p:spPr>
          <a:xfrm>
            <a:off x="0" y="0"/>
            <a:ext cx="14630400" cy="8229600"/>
          </a:xfrm>
          <a:prstGeom prst="rect">
            <a:avLst/>
          </a:prstGeom>
          <a:solidFill>
            <a:srgbClr val="FDFAF7"/>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2E9"/>
          </a:solidFill>
          <a:ln/>
        </p:spPr>
      </p:sp>
      <p:sp>
        <p:nvSpPr>
          <p:cNvPr id="3" name="Shape 1"/>
          <p:cNvSpPr/>
          <p:nvPr/>
        </p:nvSpPr>
        <p:spPr>
          <a:xfrm>
            <a:off x="0" y="0"/>
            <a:ext cx="14630400" cy="8229600"/>
          </a:xfrm>
          <a:prstGeom prst="rect">
            <a:avLst/>
          </a:prstGeom>
          <a:solidFill>
            <a:srgbClr val="FDFAF7"/>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2E9"/>
          </a:solidFill>
          <a:ln/>
        </p:spPr>
      </p:sp>
      <p:sp>
        <p:nvSpPr>
          <p:cNvPr id="3" name="Shape 1"/>
          <p:cNvSpPr/>
          <p:nvPr/>
        </p:nvSpPr>
        <p:spPr>
          <a:xfrm>
            <a:off x="0" y="0"/>
            <a:ext cx="14630400" cy="8229600"/>
          </a:xfrm>
          <a:prstGeom prst="rect">
            <a:avLst/>
          </a:prstGeom>
          <a:solidFill>
            <a:srgbClr val="FDFAF7"/>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svg"/><Relationship Id="rId3" Type="http://schemas.openxmlformats.org/officeDocument/2006/relationships/image" Target="../media/image-3-3.png"/><Relationship Id="rId4" Type="http://schemas.openxmlformats.org/officeDocument/2006/relationships/image" Target="../media/image-3-4.svg"/><Relationship Id="rId5" Type="http://schemas.openxmlformats.org/officeDocument/2006/relationships/image" Target="../media/image-3-5.png"/><Relationship Id="rId6" Type="http://schemas.openxmlformats.org/officeDocument/2006/relationships/image" Target="../media/image-3-6.sv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slideLayout" Target="../slideLayouts/slideLayout4.xml"/><Relationship Id="rId10"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svg"/><Relationship Id="rId4" Type="http://schemas.openxmlformats.org/officeDocument/2006/relationships/image" Target="../media/image-4-4.png"/><Relationship Id="rId5" Type="http://schemas.openxmlformats.org/officeDocument/2006/relationships/image" Target="../media/image-4-5.svg"/><Relationship Id="rId6" Type="http://schemas.openxmlformats.org/officeDocument/2006/relationships/image" Target="../media/image-4-6.png"/><Relationship Id="rId7" Type="http://schemas.openxmlformats.org/officeDocument/2006/relationships/image" Target="../media/image-4-7.svg"/><Relationship Id="rId8" Type="http://schemas.openxmlformats.org/officeDocument/2006/relationships/image" Target="../media/image-4-8.png"/><Relationship Id="rId9" Type="http://schemas.openxmlformats.org/officeDocument/2006/relationships/image" Target="../media/image-4-9.svg"/><Relationship Id="rId10" Type="http://schemas.openxmlformats.org/officeDocument/2006/relationships/slideLayout" Target="../slideLayouts/slideLayout5.xml"/><Relationship Id="rId11"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7.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8.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10.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1.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793790" y="1890713"/>
            <a:ext cx="13042821" cy="1364456"/>
          </a:xfrm>
          <a:prstGeom prst="rect">
            <a:avLst/>
          </a:prstGeom>
          <a:noFill/>
          <a:ln/>
        </p:spPr>
        <p:txBody>
          <a:bodyPr wrap="square" lIns="0" tIns="0" rIns="0" bIns="0" rtlCol="0" anchor="t"/>
          <a:lstStyle/>
          <a:p>
            <a:pPr algn="l" indent="0" marL="0">
              <a:lnSpc>
                <a:spcPts val="5350"/>
              </a:lnSpc>
              <a:buNone/>
            </a:pPr>
            <a:r>
              <a:rPr lang="en-US" sz="4250" b="1" dirty="0">
                <a:solidFill>
                  <a:srgbClr val="F95F88"/>
                </a:solidFill>
                <a:latin typeface="Petrona Bold" pitchFamily="34" charset="0"/>
                <a:ea typeface="Petrona Bold" pitchFamily="34" charset="-122"/>
                <a:cs typeface="Petrona Bold" pitchFamily="34" charset="-120"/>
              </a:rPr>
              <a:t>Hệ thống Quản trị Sản xuất &amp; Vận hành Toàn diện SAREE</a:t>
            </a:r>
            <a:endParaRPr lang="en-US" sz="4250" dirty="0"/>
          </a:p>
        </p:txBody>
      </p:sp>
      <p:sp>
        <p:nvSpPr>
          <p:cNvPr id="3" name="Text 1"/>
          <p:cNvSpPr/>
          <p:nvPr/>
        </p:nvSpPr>
        <p:spPr>
          <a:xfrm>
            <a:off x="793790" y="3334464"/>
            <a:ext cx="7816215" cy="341114"/>
          </a:xfrm>
          <a:prstGeom prst="rect">
            <a:avLst/>
          </a:prstGeom>
          <a:noFill/>
          <a:ln/>
        </p:spPr>
        <p:txBody>
          <a:bodyPr wrap="none" lIns="0" tIns="0" rIns="0" bIns="0" rtlCol="0" anchor="t"/>
          <a:lstStyle/>
          <a:p>
            <a:pPr algn="l" indent="0" marL="0">
              <a:lnSpc>
                <a:spcPts val="2650"/>
              </a:lnSpc>
              <a:buNone/>
            </a:pPr>
            <a:r>
              <a:rPr lang="en-US" sz="2100" b="1" dirty="0">
                <a:solidFill>
                  <a:srgbClr val="F95F88"/>
                </a:solidFill>
                <a:latin typeface="Petrona Bold" pitchFamily="34" charset="0"/>
                <a:ea typeface="Petrona Bold" pitchFamily="34" charset="-122"/>
                <a:cs typeface="Petrona Bold" pitchFamily="34" charset="-120"/>
              </a:rPr>
              <a:t>ERP/MES — </a:t>
            </a:r>
            <a:pPr algn="l" indent="0" marL="0">
              <a:lnSpc>
                <a:spcPts val="2650"/>
              </a:lnSpc>
              <a:buNone/>
            </a:pPr>
            <a:r>
              <a:rPr lang="en-US" sz="2100" b="1" dirty="0">
                <a:solidFill>
                  <a:srgbClr val="D75BE2"/>
                </a:solidFill>
                <a:latin typeface="Petrona Bold" pitchFamily="34" charset="0"/>
                <a:ea typeface="Petrona Bold" pitchFamily="34" charset="-122"/>
                <a:cs typeface="Petrona Bold" pitchFamily="34" charset="-120"/>
              </a:rPr>
              <a:t>Số hóa thực tế · Kiểm soát tức thì · Dự báo tương lai</a:t>
            </a:r>
            <a:endParaRPr lang="en-US" sz="2100" dirty="0"/>
          </a:p>
        </p:txBody>
      </p:sp>
      <p:sp>
        <p:nvSpPr>
          <p:cNvPr id="4" name="Text 2"/>
          <p:cNvSpPr/>
          <p:nvPr/>
        </p:nvSpPr>
        <p:spPr>
          <a:xfrm>
            <a:off x="793790" y="3973235"/>
            <a:ext cx="13042821" cy="317540"/>
          </a:xfrm>
          <a:prstGeom prst="rect">
            <a:avLst/>
          </a:prstGeom>
          <a:noFill/>
          <a:ln/>
        </p:spPr>
        <p:txBody>
          <a:bodyPr wrap="none" lIns="0" tIns="0" rIns="0" bIns="0" rtlCol="0" anchor="t"/>
          <a:lstStyle/>
          <a:p>
            <a:pPr algn="l" indent="0" marL="0">
              <a:lnSpc>
                <a:spcPts val="2500"/>
              </a:lnSpc>
              <a:buNone/>
            </a:pPr>
            <a:r>
              <a:rPr lang="en-US" sz="1550" dirty="0">
                <a:solidFill>
                  <a:srgbClr val="272525"/>
                </a:solidFill>
                <a:latin typeface="Inter" pitchFamily="34" charset="0"/>
                <a:ea typeface="Inter" pitchFamily="34" charset="-122"/>
                <a:cs typeface="Inter" pitchFamily="34" charset="-120"/>
              </a:rPr>
              <a:t>Trình bày bởi: </a:t>
            </a:r>
            <a:pPr algn="l" indent="0" marL="0">
              <a:lnSpc>
                <a:spcPts val="2500"/>
              </a:lnSpc>
              <a:buNone/>
            </a:pPr>
            <a:r>
              <a:rPr lang="en-US" sz="1550" b="1" dirty="0">
                <a:solidFill>
                  <a:srgbClr val="272525"/>
                </a:solidFill>
                <a:latin typeface="Inter" pitchFamily="34" charset="0"/>
                <a:ea typeface="Inter" pitchFamily="34" charset="-122"/>
                <a:cs typeface="Inter" pitchFamily="34" charset="-120"/>
              </a:rPr>
              <a:t>Bùi Tuấn Anh</a:t>
            </a:r>
            <a:pPr algn="l" indent="0" marL="0">
              <a:lnSpc>
                <a:spcPts val="2500"/>
              </a:lnSpc>
              <a:buNone/>
            </a:pPr>
            <a:r>
              <a:rPr lang="en-US" sz="1550" dirty="0">
                <a:solidFill>
                  <a:srgbClr val="272525"/>
                </a:solidFill>
                <a:latin typeface="Inter" pitchFamily="34" charset="0"/>
                <a:ea typeface="Inter" pitchFamily="34" charset="-122"/>
                <a:cs typeface="Inter" pitchFamily="34" charset="-120"/>
              </a:rPr>
              <a:t> – AI Engineer / Kiến trúc sư hệ thống · Đội ngũ Kỹ thuật SAREE</a:t>
            </a:r>
            <a:endParaRPr lang="en-US" sz="1550" dirty="0"/>
          </a:p>
        </p:txBody>
      </p:sp>
      <p:sp>
        <p:nvSpPr>
          <p:cNvPr id="5" name="Shape 3"/>
          <p:cNvSpPr/>
          <p:nvPr/>
        </p:nvSpPr>
        <p:spPr>
          <a:xfrm>
            <a:off x="793790" y="4514017"/>
            <a:ext cx="4215289" cy="1824752"/>
          </a:xfrm>
          <a:prstGeom prst="roundRect">
            <a:avLst>
              <a:gd name="adj" fmla="val 4568"/>
            </a:avLst>
          </a:prstGeom>
          <a:solidFill>
            <a:srgbClr val="E0D7F4"/>
          </a:solidFill>
          <a:ln w="7620">
            <a:solidFill>
              <a:srgbClr val="C6BDDA"/>
            </a:solidFill>
            <a:prstDash val="solid"/>
          </a:ln>
        </p:spPr>
      </p:sp>
      <p:sp>
        <p:nvSpPr>
          <p:cNvPr id="6" name="Text 4"/>
          <p:cNvSpPr/>
          <p:nvPr/>
        </p:nvSpPr>
        <p:spPr>
          <a:xfrm>
            <a:off x="999768" y="4719995"/>
            <a:ext cx="3004423" cy="341114"/>
          </a:xfrm>
          <a:prstGeom prst="rect">
            <a:avLst/>
          </a:prstGeom>
          <a:noFill/>
          <a:ln/>
        </p:spPr>
        <p:txBody>
          <a:bodyPr wrap="none" lIns="0" tIns="0" rIns="0" bIns="0" rtlCol="0" anchor="t"/>
          <a:lstStyle/>
          <a:p>
            <a:pPr algn="l" indent="0" marL="0">
              <a:lnSpc>
                <a:spcPts val="2650"/>
              </a:lnSpc>
              <a:buNone/>
            </a:pPr>
            <a:r>
              <a:rPr lang="en-US" sz="2100" b="1" dirty="0">
                <a:solidFill>
                  <a:srgbClr val="272525"/>
                </a:solidFill>
                <a:latin typeface="Petrona Bold" pitchFamily="34" charset="0"/>
                <a:ea typeface="Petrona Bold" pitchFamily="34" charset="-122"/>
                <a:cs typeface="Petrona Bold" pitchFamily="34" charset="-120"/>
              </a:rPr>
              <a:t>Chuyển đổi số toàn diện</a:t>
            </a:r>
            <a:endParaRPr lang="en-US" sz="2100" dirty="0"/>
          </a:p>
        </p:txBody>
      </p:sp>
      <p:sp>
        <p:nvSpPr>
          <p:cNvPr id="7" name="Text 5"/>
          <p:cNvSpPr/>
          <p:nvPr/>
        </p:nvSpPr>
        <p:spPr>
          <a:xfrm>
            <a:off x="999768" y="5180171"/>
            <a:ext cx="3803333" cy="952619"/>
          </a:xfrm>
          <a:prstGeom prst="rect">
            <a:avLst/>
          </a:prstGeom>
          <a:noFill/>
          <a:ln/>
        </p:spPr>
        <p:txBody>
          <a:bodyPr wrap="square" lIns="0" tIns="0" rIns="0" bIns="0" rtlCol="0" anchor="t"/>
          <a:lstStyle/>
          <a:p>
            <a:pPr algn="l" indent="0" marL="0">
              <a:lnSpc>
                <a:spcPts val="2500"/>
              </a:lnSpc>
              <a:buNone/>
            </a:pPr>
            <a:r>
              <a:rPr lang="en-US" sz="1550" dirty="0">
                <a:solidFill>
                  <a:srgbClr val="272525"/>
                </a:solidFill>
                <a:latin typeface="Inter" pitchFamily="34" charset="0"/>
                <a:ea typeface="Inter" pitchFamily="34" charset="-122"/>
                <a:cs typeface="Inter" pitchFamily="34" charset="-120"/>
              </a:rPr>
              <a:t>Số hóa toàn bộ quy trình từ báo giá, sản xuất đến lắp đặt công trình trong một nền tảng thống nhất.</a:t>
            </a:r>
            <a:endParaRPr lang="en-US" sz="1550" dirty="0"/>
          </a:p>
        </p:txBody>
      </p:sp>
      <p:sp>
        <p:nvSpPr>
          <p:cNvPr id="8" name="Shape 6"/>
          <p:cNvSpPr/>
          <p:nvPr/>
        </p:nvSpPr>
        <p:spPr>
          <a:xfrm>
            <a:off x="5207437" y="4514017"/>
            <a:ext cx="4215408" cy="1824752"/>
          </a:xfrm>
          <a:prstGeom prst="roundRect">
            <a:avLst>
              <a:gd name="adj" fmla="val 4568"/>
            </a:avLst>
          </a:prstGeom>
          <a:solidFill>
            <a:srgbClr val="E0D7F4"/>
          </a:solidFill>
          <a:ln w="7620">
            <a:solidFill>
              <a:srgbClr val="C6BDDA"/>
            </a:solidFill>
            <a:prstDash val="solid"/>
          </a:ln>
        </p:spPr>
      </p:sp>
      <p:sp>
        <p:nvSpPr>
          <p:cNvPr id="9" name="Text 7"/>
          <p:cNvSpPr/>
          <p:nvPr/>
        </p:nvSpPr>
        <p:spPr>
          <a:xfrm>
            <a:off x="5413415" y="4719995"/>
            <a:ext cx="2728913" cy="341114"/>
          </a:xfrm>
          <a:prstGeom prst="rect">
            <a:avLst/>
          </a:prstGeom>
          <a:noFill/>
          <a:ln/>
        </p:spPr>
        <p:txBody>
          <a:bodyPr wrap="none" lIns="0" tIns="0" rIns="0" bIns="0" rtlCol="0" anchor="t"/>
          <a:lstStyle/>
          <a:p>
            <a:pPr algn="l" indent="0" marL="0">
              <a:lnSpc>
                <a:spcPts val="2650"/>
              </a:lnSpc>
              <a:buNone/>
            </a:pPr>
            <a:r>
              <a:rPr lang="en-US" sz="2100" b="1" dirty="0">
                <a:solidFill>
                  <a:srgbClr val="272525"/>
                </a:solidFill>
                <a:latin typeface="Petrona Bold" pitchFamily="34" charset="0"/>
                <a:ea typeface="Petrona Bold" pitchFamily="34" charset="-122"/>
                <a:cs typeface="Petrona Bold" pitchFamily="34" charset="-120"/>
              </a:rPr>
              <a:t>Quản trị minh bạch</a:t>
            </a:r>
            <a:endParaRPr lang="en-US" sz="2100" dirty="0"/>
          </a:p>
        </p:txBody>
      </p:sp>
      <p:sp>
        <p:nvSpPr>
          <p:cNvPr id="10" name="Text 8"/>
          <p:cNvSpPr/>
          <p:nvPr/>
        </p:nvSpPr>
        <p:spPr>
          <a:xfrm>
            <a:off x="5413415" y="5180171"/>
            <a:ext cx="3803452" cy="952619"/>
          </a:xfrm>
          <a:prstGeom prst="rect">
            <a:avLst/>
          </a:prstGeom>
          <a:noFill/>
          <a:ln/>
        </p:spPr>
        <p:txBody>
          <a:bodyPr wrap="square" lIns="0" tIns="0" rIns="0" bIns="0" rtlCol="0" anchor="t"/>
          <a:lstStyle/>
          <a:p>
            <a:pPr algn="l" indent="0" marL="0">
              <a:lnSpc>
                <a:spcPts val="2500"/>
              </a:lnSpc>
              <a:buNone/>
            </a:pPr>
            <a:r>
              <a:rPr lang="en-US" sz="1550" dirty="0">
                <a:solidFill>
                  <a:srgbClr val="272525"/>
                </a:solidFill>
                <a:latin typeface="Inter" pitchFamily="34" charset="0"/>
                <a:ea typeface="Inter" pitchFamily="34" charset="-122"/>
                <a:cs typeface="Inter" pitchFamily="34" charset="-120"/>
              </a:rPr>
              <a:t>Mọi quyết định, mọi luồng phê duyệt đều được lưu vết rõ ràng — ai duyệt, lúc mấy giờ, kết quả ra sao.</a:t>
            </a:r>
            <a:endParaRPr lang="en-US" sz="1550" dirty="0"/>
          </a:p>
        </p:txBody>
      </p:sp>
      <p:sp>
        <p:nvSpPr>
          <p:cNvPr id="11" name="Shape 9"/>
          <p:cNvSpPr/>
          <p:nvPr/>
        </p:nvSpPr>
        <p:spPr>
          <a:xfrm>
            <a:off x="9621203" y="4514017"/>
            <a:ext cx="4215289" cy="1824752"/>
          </a:xfrm>
          <a:prstGeom prst="roundRect">
            <a:avLst>
              <a:gd name="adj" fmla="val 4568"/>
            </a:avLst>
          </a:prstGeom>
          <a:solidFill>
            <a:srgbClr val="E0D7F4"/>
          </a:solidFill>
          <a:ln w="7620">
            <a:solidFill>
              <a:srgbClr val="C6BDDA"/>
            </a:solidFill>
            <a:prstDash val="solid"/>
          </a:ln>
        </p:spPr>
      </p:sp>
      <p:sp>
        <p:nvSpPr>
          <p:cNvPr id="12" name="Text 10"/>
          <p:cNvSpPr/>
          <p:nvPr/>
        </p:nvSpPr>
        <p:spPr>
          <a:xfrm>
            <a:off x="9827181" y="4719995"/>
            <a:ext cx="3289935" cy="341114"/>
          </a:xfrm>
          <a:prstGeom prst="rect">
            <a:avLst/>
          </a:prstGeom>
          <a:noFill/>
          <a:ln/>
        </p:spPr>
        <p:txBody>
          <a:bodyPr wrap="none" lIns="0" tIns="0" rIns="0" bIns="0" rtlCol="0" anchor="t"/>
          <a:lstStyle/>
          <a:p>
            <a:pPr algn="l" indent="0" marL="0">
              <a:lnSpc>
                <a:spcPts val="2650"/>
              </a:lnSpc>
              <a:buNone/>
            </a:pPr>
            <a:r>
              <a:rPr lang="en-US" sz="2100" b="1" dirty="0">
                <a:solidFill>
                  <a:srgbClr val="272525"/>
                </a:solidFill>
                <a:latin typeface="Petrona Bold" pitchFamily="34" charset="0"/>
                <a:ea typeface="Petrona Bold" pitchFamily="34" charset="-122"/>
                <a:cs typeface="Petrona Bold" pitchFamily="34" charset="-120"/>
              </a:rPr>
              <a:t>Nhận diện rủi ro chủ động</a:t>
            </a:r>
            <a:endParaRPr lang="en-US" sz="2100" dirty="0"/>
          </a:p>
        </p:txBody>
      </p:sp>
      <p:sp>
        <p:nvSpPr>
          <p:cNvPr id="13" name="Text 11"/>
          <p:cNvSpPr/>
          <p:nvPr/>
        </p:nvSpPr>
        <p:spPr>
          <a:xfrm>
            <a:off x="9827181" y="5180171"/>
            <a:ext cx="3803333" cy="952619"/>
          </a:xfrm>
          <a:prstGeom prst="rect">
            <a:avLst/>
          </a:prstGeom>
          <a:noFill/>
          <a:ln/>
        </p:spPr>
        <p:txBody>
          <a:bodyPr wrap="square" lIns="0" tIns="0" rIns="0" bIns="0" rtlCol="0" anchor="t"/>
          <a:lstStyle/>
          <a:p>
            <a:pPr algn="l" indent="0" marL="0">
              <a:lnSpc>
                <a:spcPts val="2500"/>
              </a:lnSpc>
              <a:buNone/>
            </a:pPr>
            <a:r>
              <a:rPr lang="en-US" sz="1550" dirty="0">
                <a:solidFill>
                  <a:srgbClr val="272525"/>
                </a:solidFill>
                <a:latin typeface="Inter" pitchFamily="34" charset="0"/>
                <a:ea typeface="Inter" pitchFamily="34" charset="-122"/>
                <a:cs typeface="Inter" pitchFamily="34" charset="-120"/>
              </a:rPr>
              <a:t>Hệ thống cảnh báo sớm 4 tầng tự động quét và phát hiện nguy cơ trước khi dự án "vỡ" kế hoạch.</a:t>
            </a:r>
            <a:endParaRPr lang="en-US" sz="15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1008221"/>
            <a:ext cx="8241149" cy="579953"/>
          </a:xfrm>
          <a:prstGeom prst="rect">
            <a:avLst/>
          </a:prstGeom>
          <a:noFill/>
          <a:ln/>
        </p:spPr>
        <p:txBody>
          <a:bodyPr wrap="none" lIns="0" tIns="0" rIns="0" bIns="0" rtlCol="0" anchor="t"/>
          <a:lstStyle/>
          <a:p>
            <a:pPr algn="l" indent="0" marL="0">
              <a:lnSpc>
                <a:spcPts val="4550"/>
              </a:lnSpc>
              <a:buNone/>
            </a:pPr>
            <a:r>
              <a:rPr lang="en-US" sz="3650" b="1" dirty="0">
                <a:solidFill>
                  <a:srgbClr val="F95F88"/>
                </a:solidFill>
                <a:latin typeface="Petrona Bold" pitchFamily="34" charset="0"/>
                <a:ea typeface="Petrona Bold" pitchFamily="34" charset="-122"/>
                <a:cs typeface="Petrona Bold" pitchFamily="34" charset="-120"/>
              </a:rPr>
              <a:t>Bài Toán Vận Hành Thực Tế của SAREE</a:t>
            </a:r>
            <a:endParaRPr lang="en-US" sz="3650" dirty="0"/>
          </a:p>
        </p:txBody>
      </p:sp>
      <p:sp>
        <p:nvSpPr>
          <p:cNvPr id="3" name="Text 1"/>
          <p:cNvSpPr/>
          <p:nvPr/>
        </p:nvSpPr>
        <p:spPr>
          <a:xfrm>
            <a:off x="793790" y="1645444"/>
            <a:ext cx="6748343" cy="289917"/>
          </a:xfrm>
          <a:prstGeom prst="rect">
            <a:avLst/>
          </a:prstGeom>
          <a:noFill/>
          <a:ln/>
        </p:spPr>
        <p:txBody>
          <a:bodyPr wrap="none" lIns="0" tIns="0" rIns="0" bIns="0" rtlCol="0" anchor="t"/>
          <a:lstStyle/>
          <a:p>
            <a:pPr algn="l" indent="0" marL="0">
              <a:lnSpc>
                <a:spcPts val="2250"/>
              </a:lnSpc>
              <a:buNone/>
            </a:pPr>
            <a:r>
              <a:rPr lang="en-US" sz="1800" b="1" dirty="0">
                <a:solidFill>
                  <a:srgbClr val="F95F88"/>
                </a:solidFill>
                <a:latin typeface="Petrona Bold" pitchFamily="34" charset="0"/>
                <a:ea typeface="Petrona Bold" pitchFamily="34" charset="-122"/>
                <a:cs typeface="Petrona Bold" pitchFamily="34" charset="-120"/>
              </a:rPr>
              <a:t>Bức tranh tổng thể — Những nút thắt đang kìm hãm tăng trưởng</a:t>
            </a:r>
            <a:endParaRPr lang="en-US" sz="1800" dirty="0"/>
          </a:p>
        </p:txBody>
      </p:sp>
      <p:sp>
        <p:nvSpPr>
          <p:cNvPr id="4" name="Text 2"/>
          <p:cNvSpPr/>
          <p:nvPr/>
        </p:nvSpPr>
        <p:spPr>
          <a:xfrm>
            <a:off x="793790" y="2150388"/>
            <a:ext cx="13042821" cy="499348"/>
          </a:xfrm>
          <a:prstGeom prst="rect">
            <a:avLst/>
          </a:prstGeom>
          <a:noFill/>
          <a:ln/>
        </p:spPr>
        <p:txBody>
          <a:bodyPr wrap="square" lIns="0" tIns="0" rIns="0" bIns="0" rtlCol="0" anchor="t"/>
          <a:lstStyle/>
          <a:p>
            <a:pPr algn="l" indent="0" marL="0">
              <a:lnSpc>
                <a:spcPts val="1950"/>
              </a:lnSpc>
              <a:buNone/>
            </a:pPr>
            <a:r>
              <a:rPr lang="en-US" sz="1300" dirty="0">
                <a:solidFill>
                  <a:srgbClr val="272525"/>
                </a:solidFill>
                <a:latin typeface="Inter" pitchFamily="34" charset="0"/>
                <a:ea typeface="Inter" pitchFamily="34" charset="-122"/>
                <a:cs typeface="Inter" pitchFamily="34" charset="-120"/>
              </a:rPr>
              <a:t>SAREE đang vận hành một bộ máy đồ sộ với </a:t>
            </a:r>
            <a:pPr algn="l" indent="0" marL="0">
              <a:lnSpc>
                <a:spcPts val="1950"/>
              </a:lnSpc>
              <a:buNone/>
            </a:pPr>
            <a:r>
              <a:rPr lang="en-US" sz="1300" b="1" dirty="0">
                <a:solidFill>
                  <a:srgbClr val="272525"/>
                </a:solidFill>
                <a:latin typeface="Inter" pitchFamily="34" charset="0"/>
                <a:ea typeface="Inter" pitchFamily="34" charset="-122"/>
                <a:cs typeface="Inter" pitchFamily="34" charset="-120"/>
              </a:rPr>
              <a:t>Ban Giám đốc</a:t>
            </a:r>
            <a:pPr algn="l" indent="0" marL="0">
              <a:lnSpc>
                <a:spcPts val="1950"/>
              </a:lnSpc>
              <a:buNone/>
            </a:pPr>
            <a:r>
              <a:rPr lang="en-US" sz="1300" dirty="0">
                <a:solidFill>
                  <a:srgbClr val="272525"/>
                </a:solidFill>
                <a:latin typeface="Inter" pitchFamily="34" charset="0"/>
                <a:ea typeface="Inter" pitchFamily="34" charset="-122"/>
                <a:cs typeface="Inter" pitchFamily="34" charset="-120"/>
              </a:rPr>
              <a:t>, </a:t>
            </a:r>
            <a:pPr algn="l" indent="0" marL="0">
              <a:lnSpc>
                <a:spcPts val="1950"/>
              </a:lnSpc>
              <a:buNone/>
            </a:pPr>
            <a:r>
              <a:rPr lang="en-US" sz="1300" b="1" dirty="0">
                <a:solidFill>
                  <a:srgbClr val="272525"/>
                </a:solidFill>
                <a:latin typeface="Inter" pitchFamily="34" charset="0"/>
                <a:ea typeface="Inter" pitchFamily="34" charset="-122"/>
                <a:cs typeface="Inter" pitchFamily="34" charset="-120"/>
              </a:rPr>
              <a:t>07 Phòng chức năng văn phòng</a:t>
            </a:r>
            <a:pPr algn="l" indent="0" marL="0">
              <a:lnSpc>
                <a:spcPts val="1950"/>
              </a:lnSpc>
              <a:buNone/>
            </a:pPr>
            <a:r>
              <a:rPr lang="en-US" sz="1300" dirty="0">
                <a:solidFill>
                  <a:srgbClr val="272525"/>
                </a:solidFill>
                <a:latin typeface="Inter" pitchFamily="34" charset="0"/>
                <a:ea typeface="Inter" pitchFamily="34" charset="-122"/>
                <a:cs typeface="Inter" pitchFamily="34" charset="-120"/>
              </a:rPr>
              <a:t>, </a:t>
            </a:r>
            <a:pPr algn="l" indent="0" marL="0">
              <a:lnSpc>
                <a:spcPts val="1950"/>
              </a:lnSpc>
              <a:buNone/>
            </a:pPr>
            <a:r>
              <a:rPr lang="en-US" sz="1300" b="1" dirty="0">
                <a:solidFill>
                  <a:srgbClr val="272525"/>
                </a:solidFill>
                <a:latin typeface="Inter" pitchFamily="34" charset="0"/>
                <a:ea typeface="Inter" pitchFamily="34" charset="-122"/>
                <a:cs typeface="Inter" pitchFamily="34" charset="-120"/>
              </a:rPr>
              <a:t>09 Tổ sản xuất tại nhà máy</a:t>
            </a:r>
            <a:pPr algn="l" indent="0" marL="0">
              <a:lnSpc>
                <a:spcPts val="1950"/>
              </a:lnSpc>
              <a:buNone/>
            </a:pPr>
            <a:r>
              <a:rPr lang="en-US" sz="1300" dirty="0">
                <a:solidFill>
                  <a:srgbClr val="272525"/>
                </a:solidFill>
                <a:latin typeface="Inter" pitchFamily="34" charset="0"/>
                <a:ea typeface="Inter" pitchFamily="34" charset="-122"/>
                <a:cs typeface="Inter" pitchFamily="34" charset="-120"/>
              </a:rPr>
              <a:t> và </a:t>
            </a:r>
            <a:pPr algn="l" indent="0" marL="0">
              <a:lnSpc>
                <a:spcPts val="1950"/>
              </a:lnSpc>
              <a:buNone/>
            </a:pPr>
            <a:r>
              <a:rPr lang="en-US" sz="1300" b="1" dirty="0">
                <a:solidFill>
                  <a:srgbClr val="272525"/>
                </a:solidFill>
                <a:latin typeface="Inter" pitchFamily="34" charset="0"/>
                <a:ea typeface="Inter" pitchFamily="34" charset="-122"/>
                <a:cs typeface="Inter" pitchFamily="34" charset="-120"/>
              </a:rPr>
              <a:t>06 Nhóm thi công lắp đặt</a:t>
            </a:r>
            <a:pPr algn="l" indent="0" marL="0">
              <a:lnSpc>
                <a:spcPts val="1950"/>
              </a:lnSpc>
              <a:buNone/>
            </a:pPr>
            <a:r>
              <a:rPr lang="en-US" sz="1300" dirty="0">
                <a:solidFill>
                  <a:srgbClr val="272525"/>
                </a:solidFill>
                <a:latin typeface="Inter" pitchFamily="34" charset="0"/>
                <a:ea typeface="Inter" pitchFamily="34" charset="-122"/>
                <a:cs typeface="Inter" pitchFamily="34" charset="-120"/>
              </a:rPr>
              <a:t> tại công trình trải rộng nhiều tỉnh. Sự phối hợp ngang (giữa các phòng ban) và dọc (từ lãnh đạo xuống đến thợ) hiện đang phụ thuộc rất lớn vào thủ công.</a:t>
            </a:r>
            <a:endParaRPr lang="en-US" sz="1300" dirty="0"/>
          </a:p>
        </p:txBody>
      </p:sp>
      <p:sp>
        <p:nvSpPr>
          <p:cNvPr id="5" name="Shape 3"/>
          <p:cNvSpPr/>
          <p:nvPr/>
        </p:nvSpPr>
        <p:spPr>
          <a:xfrm>
            <a:off x="672346" y="2810947"/>
            <a:ext cx="6558558" cy="3600807"/>
          </a:xfrm>
          <a:prstGeom prst="roundRect">
            <a:avLst>
              <a:gd name="adj" fmla="val 3373"/>
            </a:avLst>
          </a:prstGeom>
          <a:solidFill>
            <a:srgbClr val="D75BE2"/>
          </a:solidFill>
          <a:ln/>
        </p:spPr>
      </p:sp>
      <p:sp>
        <p:nvSpPr>
          <p:cNvPr id="6" name="Text 4"/>
          <p:cNvSpPr/>
          <p:nvPr/>
        </p:nvSpPr>
        <p:spPr>
          <a:xfrm>
            <a:off x="840938" y="2954298"/>
            <a:ext cx="2319576" cy="289917"/>
          </a:xfrm>
          <a:prstGeom prst="rect">
            <a:avLst/>
          </a:prstGeom>
          <a:noFill/>
          <a:ln/>
        </p:spPr>
        <p:txBody>
          <a:bodyPr wrap="none" lIns="0" tIns="0" rIns="0" bIns="0" rtlCol="0" anchor="t"/>
          <a:lstStyle/>
          <a:p>
            <a:pPr algn="l" indent="0" marL="0">
              <a:lnSpc>
                <a:spcPts val="2250"/>
              </a:lnSpc>
              <a:buNone/>
            </a:pPr>
            <a:r>
              <a:rPr lang="en-US" sz="1800" b="1" dirty="0">
                <a:solidFill>
                  <a:srgbClr val="000000"/>
                </a:solidFill>
                <a:latin typeface="Petrona Bold" pitchFamily="34" charset="0"/>
                <a:ea typeface="Petrona Bold" pitchFamily="34" charset="-122"/>
                <a:cs typeface="Petrona Bold" pitchFamily="34" charset="-120"/>
              </a:rPr>
              <a:t>Giai đoạn Báo giá</a:t>
            </a:r>
            <a:endParaRPr lang="en-US" sz="1800" dirty="0"/>
          </a:p>
        </p:txBody>
      </p:sp>
      <p:sp>
        <p:nvSpPr>
          <p:cNvPr id="7" name="Text 5"/>
          <p:cNvSpPr/>
          <p:nvPr/>
        </p:nvSpPr>
        <p:spPr>
          <a:xfrm>
            <a:off x="840938" y="3387566"/>
            <a:ext cx="6221373" cy="1598295"/>
          </a:xfrm>
          <a:prstGeom prst="rect">
            <a:avLst/>
          </a:prstGeom>
          <a:noFill/>
          <a:ln/>
        </p:spPr>
        <p:txBody>
          <a:bodyPr wrap="square" lIns="0" tIns="0" rIns="0" bIns="0" rtlCol="0" anchor="t"/>
          <a:lstStyle/>
          <a:p>
            <a:pPr algn="l" marL="342900" indent="-342900">
              <a:lnSpc>
                <a:spcPts val="1950"/>
              </a:lnSpc>
              <a:buSzPct val="100000"/>
              <a:buChar char="•"/>
            </a:pPr>
            <a:r>
              <a:rPr lang="en-US" sz="1300" dirty="0">
                <a:solidFill>
                  <a:srgbClr val="000000"/>
                </a:solidFill>
                <a:latin typeface="Inter" pitchFamily="34" charset="0"/>
                <a:ea typeface="Inter" pitchFamily="34" charset="-122"/>
                <a:cs typeface="Inter" pitchFamily="34" charset="-120"/>
              </a:rPr>
              <a:t>Thông tin "ping-pong" qua 4 bộ phận qua file Excel/Word và Zalo, dễ thất lạc phiên bản.</a:t>
            </a:r>
            <a:endParaRPr lang="en-US" sz="1300" dirty="0"/>
          </a:p>
          <a:p>
            <a:pPr algn="l" marL="342900" indent="-342900">
              <a:lnSpc>
                <a:spcPts val="1950"/>
              </a:lnSpc>
              <a:buSzPct val="100000"/>
              <a:buChar char="•"/>
            </a:pPr>
            <a:r>
              <a:rPr lang="en-US" sz="1300" dirty="0">
                <a:solidFill>
                  <a:srgbClr val="000000"/>
                </a:solidFill>
                <a:latin typeface="Inter" pitchFamily="34" charset="0"/>
                <a:ea typeface="Inter" pitchFamily="34" charset="-122"/>
                <a:cs typeface="Inter" pitchFamily="34" charset="-120"/>
              </a:rPr>
              <a:t>Thiếu dữ liệu lịch sử để phân tích nguyên nhân trượt thầu, không thể tối ưu chiến lược.</a:t>
            </a:r>
            <a:endParaRPr lang="en-US" sz="1300" dirty="0"/>
          </a:p>
          <a:p>
            <a:pPr algn="l" marL="342900" indent="-342900">
              <a:lnSpc>
                <a:spcPts val="1950"/>
              </a:lnSpc>
              <a:buSzPct val="100000"/>
              <a:buChar char="•"/>
            </a:pPr>
            <a:r>
              <a:rPr lang="en-US" sz="1300" dirty="0">
                <a:solidFill>
                  <a:srgbClr val="000000"/>
                </a:solidFill>
                <a:latin typeface="Inter" pitchFamily="34" charset="0"/>
                <a:ea typeface="Inter" pitchFamily="34" charset="-122"/>
                <a:cs typeface="Inter" pitchFamily="34" charset="-120"/>
              </a:rPr>
              <a:t>Không có kho lưu trữ tập trung cho bản vẽ sơ bộ và comment của Ban Giám đốc.</a:t>
            </a:r>
            <a:endParaRPr lang="en-US" sz="1300" dirty="0"/>
          </a:p>
        </p:txBody>
      </p:sp>
      <p:sp>
        <p:nvSpPr>
          <p:cNvPr id="8" name="Text 6"/>
          <p:cNvSpPr/>
          <p:nvPr/>
        </p:nvSpPr>
        <p:spPr>
          <a:xfrm>
            <a:off x="7528560" y="2954298"/>
            <a:ext cx="2319576" cy="289917"/>
          </a:xfrm>
          <a:prstGeom prst="rect">
            <a:avLst/>
          </a:prstGeom>
          <a:noFill/>
          <a:ln/>
        </p:spPr>
        <p:txBody>
          <a:bodyPr wrap="none" lIns="0" tIns="0" rIns="0" bIns="0" rtlCol="0" anchor="t"/>
          <a:lstStyle/>
          <a:p>
            <a:pPr algn="l" indent="0" marL="0">
              <a:lnSpc>
                <a:spcPts val="2250"/>
              </a:lnSpc>
              <a:buNone/>
            </a:pPr>
            <a:r>
              <a:rPr lang="en-US" sz="1800" b="1" dirty="0">
                <a:solidFill>
                  <a:srgbClr val="F95F88"/>
                </a:solidFill>
                <a:latin typeface="Petrona Bold" pitchFamily="34" charset="0"/>
                <a:ea typeface="Petrona Bold" pitchFamily="34" charset="-122"/>
                <a:cs typeface="Petrona Bold" pitchFamily="34" charset="-120"/>
              </a:rPr>
              <a:t>Giai đoạn Sản xuất</a:t>
            </a:r>
            <a:endParaRPr lang="en-US" sz="1800" dirty="0"/>
          </a:p>
        </p:txBody>
      </p:sp>
      <p:sp>
        <p:nvSpPr>
          <p:cNvPr id="9" name="Text 7"/>
          <p:cNvSpPr/>
          <p:nvPr/>
        </p:nvSpPr>
        <p:spPr>
          <a:xfrm>
            <a:off x="7528560" y="3387566"/>
            <a:ext cx="6315670" cy="1048822"/>
          </a:xfrm>
          <a:prstGeom prst="rect">
            <a:avLst/>
          </a:prstGeom>
          <a:noFill/>
          <a:ln/>
        </p:spPr>
        <p:txBody>
          <a:bodyPr wrap="square" lIns="0" tIns="0" rIns="0" bIns="0" rtlCol="0" anchor="t"/>
          <a:lstStyle/>
          <a:p>
            <a:pPr algn="l" marL="342900" indent="-342900">
              <a:lnSpc>
                <a:spcPts val="1950"/>
              </a:lnSpc>
              <a:buSzPct val="100000"/>
              <a:buChar char="•"/>
            </a:pPr>
            <a:r>
              <a:rPr lang="en-US" sz="1300" dirty="0">
                <a:solidFill>
                  <a:srgbClr val="272525"/>
                </a:solidFill>
                <a:latin typeface="Inter" pitchFamily="34" charset="0"/>
                <a:ea typeface="Inter" pitchFamily="34" charset="-122"/>
                <a:cs typeface="Inter" pitchFamily="34" charset="-120"/>
              </a:rPr>
              <a:t>Quy trình xin vật tư rườm rà — qua 5 bước duyệt thủ công — gây ách tắc dây chuyền xưởng.</a:t>
            </a:r>
            <a:endParaRPr lang="en-US" sz="1300" dirty="0"/>
          </a:p>
          <a:p>
            <a:pPr algn="l" marL="342900" indent="-342900">
              <a:lnSpc>
                <a:spcPts val="1950"/>
              </a:lnSpc>
              <a:buSzPct val="100000"/>
              <a:buChar char="•"/>
            </a:pPr>
            <a:r>
              <a:rPr lang="en-US" sz="1300" dirty="0">
                <a:solidFill>
                  <a:srgbClr val="272525"/>
                </a:solidFill>
                <a:latin typeface="Inter" pitchFamily="34" charset="0"/>
                <a:ea typeface="Inter" pitchFamily="34" charset="-122"/>
                <a:cs typeface="Inter" pitchFamily="34" charset="-120"/>
              </a:rPr>
              <a:t>Không đo đếm được năng suất thực tế của từng trong 9 tổ sản xuất chuyên môn.</a:t>
            </a:r>
            <a:endParaRPr lang="en-US" sz="1300" dirty="0"/>
          </a:p>
        </p:txBody>
      </p:sp>
      <p:sp>
        <p:nvSpPr>
          <p:cNvPr id="10" name="Text 8"/>
          <p:cNvSpPr/>
          <p:nvPr/>
        </p:nvSpPr>
        <p:spPr>
          <a:xfrm>
            <a:off x="7528560" y="4579739"/>
            <a:ext cx="2319576" cy="289917"/>
          </a:xfrm>
          <a:prstGeom prst="rect">
            <a:avLst/>
          </a:prstGeom>
          <a:noFill/>
          <a:ln/>
        </p:spPr>
        <p:txBody>
          <a:bodyPr wrap="none" lIns="0" tIns="0" rIns="0" bIns="0" rtlCol="0" anchor="t"/>
          <a:lstStyle/>
          <a:p>
            <a:pPr algn="l" indent="0" marL="0">
              <a:lnSpc>
                <a:spcPts val="2250"/>
              </a:lnSpc>
              <a:buNone/>
            </a:pPr>
            <a:r>
              <a:rPr lang="en-US" sz="1800" b="1" dirty="0">
                <a:solidFill>
                  <a:srgbClr val="F95F88"/>
                </a:solidFill>
                <a:latin typeface="Petrona Bold" pitchFamily="34" charset="0"/>
                <a:ea typeface="Petrona Bold" pitchFamily="34" charset="-122"/>
                <a:cs typeface="Petrona Bold" pitchFamily="34" charset="-120"/>
              </a:rPr>
              <a:t>Giai đoạn Lắp đặt</a:t>
            </a:r>
            <a:endParaRPr lang="en-US" sz="1800" dirty="0"/>
          </a:p>
        </p:txBody>
      </p:sp>
      <p:sp>
        <p:nvSpPr>
          <p:cNvPr id="11" name="Text 9"/>
          <p:cNvSpPr/>
          <p:nvPr/>
        </p:nvSpPr>
        <p:spPr>
          <a:xfrm>
            <a:off x="7528560" y="5013008"/>
            <a:ext cx="6315670" cy="1348621"/>
          </a:xfrm>
          <a:prstGeom prst="rect">
            <a:avLst/>
          </a:prstGeom>
          <a:noFill/>
          <a:ln/>
        </p:spPr>
        <p:txBody>
          <a:bodyPr wrap="square" lIns="0" tIns="0" rIns="0" bIns="0" rtlCol="0" anchor="t"/>
          <a:lstStyle/>
          <a:p>
            <a:pPr algn="l" marL="342900" indent="-342900">
              <a:lnSpc>
                <a:spcPts val="1950"/>
              </a:lnSpc>
              <a:buSzPct val="100000"/>
              <a:buChar char="•"/>
            </a:pPr>
            <a:r>
              <a:rPr lang="en-US" sz="1300" dirty="0">
                <a:solidFill>
                  <a:srgbClr val="272525"/>
                </a:solidFill>
                <a:latin typeface="Inter" pitchFamily="34" charset="0"/>
                <a:ea typeface="Inter" pitchFamily="34" charset="-122"/>
                <a:cs typeface="Inter" pitchFamily="34" charset="-120"/>
              </a:rPr>
              <a:t>"Mù" thông tin tại công trường — không kiểm soát được thợ đi trễ về sớm.</a:t>
            </a:r>
            <a:endParaRPr lang="en-US" sz="1300" dirty="0"/>
          </a:p>
          <a:p>
            <a:pPr algn="l" marL="342900" indent="-342900">
              <a:lnSpc>
                <a:spcPts val="1950"/>
              </a:lnSpc>
              <a:buSzPct val="100000"/>
              <a:buChar char="•"/>
            </a:pPr>
            <a:r>
              <a:rPr lang="en-US" sz="1300" dirty="0">
                <a:solidFill>
                  <a:srgbClr val="272525"/>
                </a:solidFill>
                <a:latin typeface="Inter" pitchFamily="34" charset="0"/>
                <a:ea typeface="Inter" pitchFamily="34" charset="-122"/>
                <a:cs typeface="Inter" pitchFamily="34" charset="-120"/>
              </a:rPr>
              <a:t>Báo cáo tiến độ qua điện thoại dễ "nói khống", thiếu bằng chứng nghiệm thu trực quan.</a:t>
            </a:r>
            <a:endParaRPr lang="en-US" sz="1300" dirty="0"/>
          </a:p>
          <a:p>
            <a:pPr algn="l" marL="342900" indent="-342900">
              <a:lnSpc>
                <a:spcPts val="1950"/>
              </a:lnSpc>
              <a:buSzPct val="100000"/>
              <a:buChar char="•"/>
            </a:pPr>
            <a:r>
              <a:rPr lang="en-US" sz="1300" dirty="0">
                <a:solidFill>
                  <a:srgbClr val="272525"/>
                </a:solidFill>
                <a:latin typeface="Inter" pitchFamily="34" charset="0"/>
                <a:ea typeface="Inter" pitchFamily="34" charset="-122"/>
                <a:cs typeface="Inter" pitchFamily="34" charset="-120"/>
              </a:rPr>
              <a:t>Thợ nhóm B vác đồ xuống công trường mới biết nhóm A chưa làm xong nền móng.</a:t>
            </a:r>
            <a:endParaRPr lang="en-US" sz="1300" dirty="0"/>
          </a:p>
        </p:txBody>
      </p:sp>
      <p:sp>
        <p:nvSpPr>
          <p:cNvPr id="12" name="Shape 10"/>
          <p:cNvSpPr/>
          <p:nvPr/>
        </p:nvSpPr>
        <p:spPr>
          <a:xfrm>
            <a:off x="793790" y="6572964"/>
            <a:ext cx="13042821" cy="648414"/>
          </a:xfrm>
          <a:prstGeom prst="roundRect">
            <a:avLst>
              <a:gd name="adj" fmla="val 10927"/>
            </a:avLst>
          </a:prstGeom>
          <a:solidFill>
            <a:srgbClr val="FFB3B4"/>
          </a:solidFill>
          <a:ln/>
        </p:spPr>
      </p:sp>
      <p:pic>
        <p:nvPicPr>
          <p:cNvPr id="13" name="Image 0" descr="preencoded.png">    </p:cNvPr>
          <p:cNvPicPr>
            <a:picLocks noChangeAspect="1"/>
          </p:cNvPicPr>
          <p:nvPr/>
        </p:nvPicPr>
        <p:blipFill>
          <a:blip r:embed="rId1"/>
          <a:stretch>
            <a:fillRect/>
          </a:stretch>
        </p:blipFill>
        <p:spPr>
          <a:xfrm>
            <a:off x="962382" y="6819067"/>
            <a:ext cx="210860" cy="168593"/>
          </a:xfrm>
          <a:prstGeom prst="rect">
            <a:avLst/>
          </a:prstGeom>
        </p:spPr>
      </p:pic>
      <p:sp>
        <p:nvSpPr>
          <p:cNvPr id="14" name="Text 11"/>
          <p:cNvSpPr/>
          <p:nvPr/>
        </p:nvSpPr>
        <p:spPr>
          <a:xfrm>
            <a:off x="1341834" y="6758464"/>
            <a:ext cx="12326183" cy="249674"/>
          </a:xfrm>
          <a:prstGeom prst="rect">
            <a:avLst/>
          </a:prstGeom>
          <a:noFill/>
          <a:ln/>
        </p:spPr>
        <p:txBody>
          <a:bodyPr wrap="none" lIns="0" tIns="0" rIns="0" bIns="0" rtlCol="0" anchor="t"/>
          <a:lstStyle/>
          <a:p>
            <a:pPr algn="l" indent="0" marL="0">
              <a:lnSpc>
                <a:spcPts val="1950"/>
              </a:lnSpc>
              <a:buNone/>
            </a:pPr>
            <a:r>
              <a:rPr lang="en-US" sz="1300" dirty="0">
                <a:solidFill>
                  <a:srgbClr val="000000"/>
                </a:solidFill>
                <a:latin typeface="Inter" pitchFamily="34" charset="0"/>
                <a:ea typeface="Inter" pitchFamily="34" charset="-122"/>
                <a:cs typeface="Inter" pitchFamily="34" charset="-120"/>
              </a:rPr>
              <a:t>Hậu quả tổng thể: Sai lệch dữ liệu lan rộng, trễ deadline theo dây chuyền và rất khó quy trách nhiệm minh bạch khi xảy ra sự cố.</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396835" y="277654"/>
            <a:ext cx="5892165" cy="341114"/>
          </a:xfrm>
          <a:prstGeom prst="rect">
            <a:avLst/>
          </a:prstGeom>
          <a:noFill/>
          <a:ln/>
        </p:spPr>
        <p:txBody>
          <a:bodyPr wrap="none" lIns="0" tIns="0" rIns="0" bIns="0" rtlCol="0" anchor="t"/>
          <a:lstStyle/>
          <a:p>
            <a:pPr algn="l" indent="0" marL="0">
              <a:lnSpc>
                <a:spcPts val="2650"/>
              </a:lnSpc>
              <a:buNone/>
            </a:pPr>
            <a:r>
              <a:rPr lang="en-US" sz="2100" b="1" dirty="0">
                <a:solidFill>
                  <a:srgbClr val="F95F88"/>
                </a:solidFill>
                <a:latin typeface="Petrona Bold" pitchFamily="34" charset="0"/>
                <a:ea typeface="Petrona Bold" pitchFamily="34" charset="-122"/>
                <a:cs typeface="Petrona Bold" pitchFamily="34" charset="-120"/>
              </a:rPr>
              <a:t>Kiến Trúc Tổng Thể Hệ Thống SAREE ERP/MES</a:t>
            </a:r>
            <a:endParaRPr lang="en-US" sz="2100" dirty="0"/>
          </a:p>
        </p:txBody>
      </p:sp>
      <p:sp>
        <p:nvSpPr>
          <p:cNvPr id="3" name="Text 1"/>
          <p:cNvSpPr/>
          <p:nvPr/>
        </p:nvSpPr>
        <p:spPr>
          <a:xfrm>
            <a:off x="396835" y="638532"/>
            <a:ext cx="2862501" cy="170497"/>
          </a:xfrm>
          <a:prstGeom prst="rect">
            <a:avLst/>
          </a:prstGeom>
          <a:noFill/>
          <a:ln/>
        </p:spPr>
        <p:txBody>
          <a:bodyPr wrap="none" lIns="0" tIns="0" rIns="0" bIns="0" rtlCol="0" anchor="t"/>
          <a:lstStyle/>
          <a:p>
            <a:pPr algn="l" indent="0" marL="0">
              <a:lnSpc>
                <a:spcPts val="1300"/>
              </a:lnSpc>
              <a:buNone/>
            </a:pPr>
            <a:r>
              <a:rPr lang="en-US" sz="1050" b="1" dirty="0">
                <a:solidFill>
                  <a:srgbClr val="F95F88"/>
                </a:solidFill>
                <a:latin typeface="Petrona Bold" pitchFamily="34" charset="0"/>
                <a:ea typeface="Petrona Bold" pitchFamily="34" charset="-122"/>
                <a:cs typeface="Petrona Bold" pitchFamily="34" charset="-120"/>
              </a:rPr>
              <a:t>Ba phân hệ hợp nhất — Một nền tảng duy nhất</a:t>
            </a:r>
            <a:endParaRPr lang="en-US" sz="1050" dirty="0"/>
          </a:p>
        </p:txBody>
      </p:sp>
      <p:sp>
        <p:nvSpPr>
          <p:cNvPr id="4" name="Text 2"/>
          <p:cNvSpPr/>
          <p:nvPr/>
        </p:nvSpPr>
        <p:spPr>
          <a:xfrm>
            <a:off x="396835" y="883444"/>
            <a:ext cx="13836729" cy="237887"/>
          </a:xfrm>
          <a:prstGeom prst="rect">
            <a:avLst/>
          </a:prstGeom>
          <a:noFill/>
          <a:ln/>
        </p:spPr>
        <p:txBody>
          <a:bodyPr wrap="square" lIns="0" tIns="0" rIns="0" bIns="0" rtlCol="0" anchor="t"/>
          <a:lstStyle/>
          <a:p>
            <a:pPr algn="l" indent="0" marL="0">
              <a:lnSpc>
                <a:spcPts val="900"/>
              </a:lnSpc>
              <a:buNone/>
            </a:pPr>
            <a:r>
              <a:rPr lang="en-US" sz="750" dirty="0">
                <a:solidFill>
                  <a:srgbClr val="272525"/>
                </a:solidFill>
                <a:latin typeface="Inter" pitchFamily="34" charset="0"/>
                <a:ea typeface="Inter" pitchFamily="34" charset="-122"/>
                <a:cs typeface="Inter" pitchFamily="34" charset="-120"/>
              </a:rPr>
              <a:t>Hệ thống được thiết kế dựa trên mô hình dữ liệu phản ánh chính xác sơ đồ tổ chức thực tế của SAREE, với quan hệ một chiều </a:t>
            </a:r>
            <a:pPr algn="l" indent="0" marL="0">
              <a:lnSpc>
                <a:spcPts val="900"/>
              </a:lnSpc>
              <a:buNone/>
            </a:pPr>
            <a:r>
              <a:rPr lang="en-US" sz="750" b="1" dirty="0">
                <a:solidFill>
                  <a:srgbClr val="272525"/>
                </a:solidFill>
                <a:latin typeface="Inter" pitchFamily="34" charset="0"/>
                <a:ea typeface="Inter" pitchFamily="34" charset="-122"/>
                <a:cs typeface="Inter" pitchFamily="34" charset="-120"/>
              </a:rPr>
              <a:t>REPORTS_TO</a:t>
            </a:r>
            <a:pPr algn="l" indent="0" marL="0">
              <a:lnSpc>
                <a:spcPts val="900"/>
              </a:lnSpc>
              <a:buNone/>
            </a:pPr>
            <a:r>
              <a:rPr lang="en-US" sz="750" dirty="0">
                <a:solidFill>
                  <a:srgbClr val="272525"/>
                </a:solidFill>
                <a:latin typeface="Inter" pitchFamily="34" charset="0"/>
                <a:ea typeface="Inter" pitchFamily="34" charset="-122"/>
                <a:cs typeface="Inter" pitchFamily="34" charset="-120"/>
              </a:rPr>
              <a:t> (Nhân viên → Tổ trưởng → Quản lý → Giám đốc). Cấu trúc này loại bỏ hoàn toàn dư thừa dữ liệu, chồng chéo vai trò và đảm bảo phân quyền bảo mật chặt chẽ theo từng cấp độ.</a:t>
            </a:r>
            <a:endParaRPr lang="en-US" sz="750" dirty="0"/>
          </a:p>
        </p:txBody>
      </p:sp>
      <p:pic>
        <p:nvPicPr>
          <p:cNvPr id="5"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396835" y="1177052"/>
            <a:ext cx="248007" cy="248007"/>
          </a:xfrm>
          <a:prstGeom prst="rect">
            <a:avLst/>
          </a:prstGeom>
        </p:spPr>
      </p:pic>
      <p:sp>
        <p:nvSpPr>
          <p:cNvPr id="6" name="Text 3"/>
          <p:cNvSpPr/>
          <p:nvPr/>
        </p:nvSpPr>
        <p:spPr>
          <a:xfrm>
            <a:off x="396835" y="1486972"/>
            <a:ext cx="1364456" cy="170497"/>
          </a:xfrm>
          <a:prstGeom prst="rect">
            <a:avLst/>
          </a:prstGeom>
          <a:noFill/>
          <a:ln/>
        </p:spPr>
        <p:txBody>
          <a:bodyPr wrap="none" lIns="0" tIns="0" rIns="0" bIns="0" rtlCol="0" anchor="t"/>
          <a:lstStyle/>
          <a:p>
            <a:pPr algn="l" indent="0" marL="0">
              <a:lnSpc>
                <a:spcPts val="1300"/>
              </a:lnSpc>
              <a:buNone/>
            </a:pPr>
            <a:r>
              <a:rPr lang="en-US" sz="1050" b="1" dirty="0">
                <a:solidFill>
                  <a:srgbClr val="272525"/>
                </a:solidFill>
                <a:latin typeface="Petrona Bold" pitchFamily="34" charset="0"/>
                <a:ea typeface="Petrona Bold" pitchFamily="34" charset="-122"/>
                <a:cs typeface="Petrona Bold" pitchFamily="34" charset="-120"/>
              </a:rPr>
              <a:t>Sales Pipeline</a:t>
            </a:r>
            <a:endParaRPr lang="en-US" sz="1050" dirty="0"/>
          </a:p>
        </p:txBody>
      </p:sp>
      <p:sp>
        <p:nvSpPr>
          <p:cNvPr id="7" name="Text 4"/>
          <p:cNvSpPr/>
          <p:nvPr/>
        </p:nvSpPr>
        <p:spPr>
          <a:xfrm>
            <a:off x="396835" y="1687235"/>
            <a:ext cx="4570928" cy="356830"/>
          </a:xfrm>
          <a:prstGeom prst="rect">
            <a:avLst/>
          </a:prstGeom>
          <a:noFill/>
          <a:ln/>
        </p:spPr>
        <p:txBody>
          <a:bodyPr wrap="square" lIns="0" tIns="0" rIns="0" bIns="0" rtlCol="0" anchor="t"/>
          <a:lstStyle/>
          <a:p>
            <a:pPr algn="l" indent="0" marL="0">
              <a:lnSpc>
                <a:spcPts val="900"/>
              </a:lnSpc>
              <a:buNone/>
            </a:pPr>
            <a:r>
              <a:rPr lang="en-US" sz="750" dirty="0">
                <a:solidFill>
                  <a:srgbClr val="272525"/>
                </a:solidFill>
                <a:latin typeface="Inter" pitchFamily="34" charset="0"/>
                <a:ea typeface="Inter" pitchFamily="34" charset="-122"/>
                <a:cs typeface="Inter" pitchFamily="34" charset="-120"/>
              </a:rPr>
              <a:t>Quản lý toàn bộ vòng đời báo giá và quan hệ khách hàng. Từ khảo sát ban đầu, lên bảng chào giá, thương lượng đến ký hợp đồng — tất cả trong một luồng ticket tự động, có lưu vết đầy đủ. Tích hợp Win/Loss Analytics để tối ưu chiến lược kinh doanh dài hạn.</a:t>
            </a:r>
            <a:endParaRPr lang="en-US" sz="750" dirty="0"/>
          </a:p>
        </p:txBody>
      </p:sp>
      <p:pic>
        <p:nvPicPr>
          <p:cNvPr id="8"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29676" y="1177052"/>
            <a:ext cx="248007" cy="248007"/>
          </a:xfrm>
          <a:prstGeom prst="rect">
            <a:avLst/>
          </a:prstGeom>
        </p:spPr>
      </p:pic>
      <p:sp>
        <p:nvSpPr>
          <p:cNvPr id="9" name="Text 5"/>
          <p:cNvSpPr/>
          <p:nvPr/>
        </p:nvSpPr>
        <p:spPr>
          <a:xfrm>
            <a:off x="5029676" y="1486972"/>
            <a:ext cx="1679019" cy="170497"/>
          </a:xfrm>
          <a:prstGeom prst="rect">
            <a:avLst/>
          </a:prstGeom>
          <a:noFill/>
          <a:ln/>
        </p:spPr>
        <p:txBody>
          <a:bodyPr wrap="none" lIns="0" tIns="0" rIns="0" bIns="0" rtlCol="0" anchor="t"/>
          <a:lstStyle/>
          <a:p>
            <a:pPr algn="l" indent="0" marL="0">
              <a:lnSpc>
                <a:spcPts val="1300"/>
              </a:lnSpc>
              <a:buNone/>
            </a:pPr>
            <a:r>
              <a:rPr lang="en-US" sz="1050" b="1" dirty="0">
                <a:solidFill>
                  <a:srgbClr val="272525"/>
                </a:solidFill>
                <a:latin typeface="Petrona Bold" pitchFamily="34" charset="0"/>
                <a:ea typeface="Petrona Bold" pitchFamily="34" charset="-122"/>
                <a:cs typeface="Petrona Bold" pitchFamily="34" charset="-120"/>
              </a:rPr>
              <a:t>MES — Điều hành Sản xuất</a:t>
            </a:r>
            <a:endParaRPr lang="en-US" sz="1050" dirty="0"/>
          </a:p>
        </p:txBody>
      </p:sp>
      <p:sp>
        <p:nvSpPr>
          <p:cNvPr id="10" name="Text 6"/>
          <p:cNvSpPr/>
          <p:nvPr/>
        </p:nvSpPr>
        <p:spPr>
          <a:xfrm>
            <a:off x="5029676" y="1687235"/>
            <a:ext cx="4570928" cy="356830"/>
          </a:xfrm>
          <a:prstGeom prst="rect">
            <a:avLst/>
          </a:prstGeom>
          <a:noFill/>
          <a:ln/>
        </p:spPr>
        <p:txBody>
          <a:bodyPr wrap="square" lIns="0" tIns="0" rIns="0" bIns="0" rtlCol="0" anchor="t"/>
          <a:lstStyle/>
          <a:p>
            <a:pPr algn="l" indent="0" marL="0">
              <a:lnSpc>
                <a:spcPts val="900"/>
              </a:lnSpc>
              <a:buNone/>
            </a:pPr>
            <a:r>
              <a:rPr lang="en-US" sz="750" dirty="0">
                <a:solidFill>
                  <a:srgbClr val="272525"/>
                </a:solidFill>
                <a:latin typeface="Inter" pitchFamily="34" charset="0"/>
                <a:ea typeface="Inter" pitchFamily="34" charset="-122"/>
                <a:cs typeface="Inter" pitchFamily="34" charset="-120"/>
              </a:rPr>
              <a:t>Phân hệ Manufacturing Execution System quản lý điều phối toàn bộ 9 tổ sản xuất tại nhà máy. Tích hợp bảng Kanban sản xuất, E-Form xin vật tư điện tử với luồng duyệt tự động và kết nối trực tiếp với hệ thống Kho (Kho 1, 2, 3).</a:t>
            </a:r>
            <a:endParaRPr lang="en-US" sz="750" dirty="0"/>
          </a:p>
        </p:txBody>
      </p:sp>
      <p:pic>
        <p:nvPicPr>
          <p:cNvPr id="11"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662517" y="1177052"/>
            <a:ext cx="248007" cy="248007"/>
          </a:xfrm>
          <a:prstGeom prst="rect">
            <a:avLst/>
          </a:prstGeom>
        </p:spPr>
      </p:pic>
      <p:sp>
        <p:nvSpPr>
          <p:cNvPr id="12" name="Text 7"/>
          <p:cNvSpPr/>
          <p:nvPr/>
        </p:nvSpPr>
        <p:spPr>
          <a:xfrm>
            <a:off x="9662517" y="1486972"/>
            <a:ext cx="2513647" cy="170497"/>
          </a:xfrm>
          <a:prstGeom prst="rect">
            <a:avLst/>
          </a:prstGeom>
          <a:noFill/>
          <a:ln/>
        </p:spPr>
        <p:txBody>
          <a:bodyPr wrap="none" lIns="0" tIns="0" rIns="0" bIns="0" rtlCol="0" anchor="t"/>
          <a:lstStyle/>
          <a:p>
            <a:pPr algn="l" indent="0" marL="0">
              <a:lnSpc>
                <a:spcPts val="1300"/>
              </a:lnSpc>
              <a:buNone/>
            </a:pPr>
            <a:r>
              <a:rPr lang="en-US" sz="1050" b="1" dirty="0">
                <a:solidFill>
                  <a:srgbClr val="272525"/>
                </a:solidFill>
                <a:latin typeface="Petrona Bold" pitchFamily="34" charset="0"/>
                <a:ea typeface="Petrona Bold" pitchFamily="34" charset="-122"/>
                <a:cs typeface="Petrona Bold" pitchFamily="34" charset="-120"/>
              </a:rPr>
              <a:t>Site Management — Giám sát Công trình</a:t>
            </a:r>
            <a:endParaRPr lang="en-US" sz="1050" dirty="0"/>
          </a:p>
        </p:txBody>
      </p:sp>
      <p:sp>
        <p:nvSpPr>
          <p:cNvPr id="13" name="Text 8"/>
          <p:cNvSpPr/>
          <p:nvPr/>
        </p:nvSpPr>
        <p:spPr>
          <a:xfrm>
            <a:off x="9662517" y="1687235"/>
            <a:ext cx="4570928" cy="356830"/>
          </a:xfrm>
          <a:prstGeom prst="rect">
            <a:avLst/>
          </a:prstGeom>
          <a:noFill/>
          <a:ln/>
        </p:spPr>
        <p:txBody>
          <a:bodyPr wrap="square" lIns="0" tIns="0" rIns="0" bIns="0" rtlCol="0" anchor="t"/>
          <a:lstStyle/>
          <a:p>
            <a:pPr algn="l" indent="0" marL="0">
              <a:lnSpc>
                <a:spcPts val="900"/>
              </a:lnSpc>
              <a:buNone/>
            </a:pPr>
            <a:r>
              <a:rPr lang="en-US" sz="750" dirty="0">
                <a:solidFill>
                  <a:srgbClr val="272525"/>
                </a:solidFill>
                <a:latin typeface="Inter" pitchFamily="34" charset="0"/>
                <a:ea typeface="Inter" pitchFamily="34" charset="-122"/>
                <a:cs typeface="Inter" pitchFamily="34" charset="-120"/>
              </a:rPr>
              <a:t>Phân hệ giám sát 6 đội thợ chuyên môn (Điện, Hàn, Lạnh, Băng chuyền…) làm việc phân tán tại nhiều tỉnh. Tích hợp GPS Check-in, Daily Proof Report bằng ảnh và cơ chế Dependency Lock đảm bảo đúng thứ tự thi công.</a:t>
            </a:r>
            <a:endParaRPr lang="en-US" sz="750" dirty="0"/>
          </a:p>
        </p:txBody>
      </p:sp>
      <p:pic>
        <p:nvPicPr>
          <p:cNvPr id="14" name="Image 3" descr="preencoded.png">    </p:cNvPr>
          <p:cNvPicPr>
            <a:picLocks noChangeAspect="1"/>
          </p:cNvPicPr>
          <p:nvPr/>
        </p:nvPicPr>
        <p:blipFill>
          <a:blip r:embed="rId7"/>
          <a:stretch>
            <a:fillRect/>
          </a:stretch>
        </p:blipFill>
        <p:spPr>
          <a:xfrm>
            <a:off x="396835" y="2099786"/>
            <a:ext cx="10485120" cy="5852160"/>
          </a:xfrm>
          <a:prstGeom prst="rect">
            <a:avLst/>
          </a:prstGeom>
        </p:spPr>
      </p:pic>
      <p:pic>
        <p:nvPicPr>
          <p:cNvPr id="15" name="Image 4" descr="preencoded.png">    </p:cNvPr>
          <p:cNvPicPr>
            <a:picLocks noChangeAspect="1"/>
          </p:cNvPicPr>
          <p:nvPr/>
        </p:nvPicPr>
        <p:blipFill>
          <a:blip r:embed="rId8"/>
          <a:stretch>
            <a:fillRect/>
          </a:stretch>
        </p:blipFill>
        <p:spPr>
          <a:xfrm>
            <a:off x="396835" y="2099786"/>
            <a:ext cx="10485120" cy="585216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32579" y="472678"/>
            <a:ext cx="6985278" cy="462082"/>
          </a:xfrm>
          <a:prstGeom prst="rect">
            <a:avLst/>
          </a:prstGeom>
          <a:noFill/>
          <a:ln/>
        </p:spPr>
        <p:txBody>
          <a:bodyPr wrap="none" lIns="0" tIns="0" rIns="0" bIns="0" rtlCol="0" anchor="t"/>
          <a:lstStyle/>
          <a:p>
            <a:pPr algn="l" indent="0" marL="0">
              <a:lnSpc>
                <a:spcPts val="3600"/>
              </a:lnSpc>
              <a:buNone/>
            </a:pPr>
            <a:r>
              <a:rPr lang="en-US" sz="2900" b="1" dirty="0">
                <a:solidFill>
                  <a:srgbClr val="F95F88"/>
                </a:solidFill>
                <a:latin typeface="Petrona Bold" pitchFamily="34" charset="0"/>
                <a:ea typeface="Petrona Bold" pitchFamily="34" charset="-122"/>
                <a:cs typeface="Petrona Bold" pitchFamily="34" charset="-120"/>
              </a:rPr>
              <a:t>Module Báo Giá &amp; Quản Lý Dự Án Tiền Kỳ</a:t>
            </a:r>
            <a:endParaRPr lang="en-US" sz="2900" dirty="0"/>
          </a:p>
        </p:txBody>
      </p:sp>
      <p:sp>
        <p:nvSpPr>
          <p:cNvPr id="3" name="Text 1"/>
          <p:cNvSpPr/>
          <p:nvPr/>
        </p:nvSpPr>
        <p:spPr>
          <a:xfrm>
            <a:off x="632579" y="971074"/>
            <a:ext cx="6113145" cy="231100"/>
          </a:xfrm>
          <a:prstGeom prst="rect">
            <a:avLst/>
          </a:prstGeom>
          <a:noFill/>
          <a:ln/>
        </p:spPr>
        <p:txBody>
          <a:bodyPr wrap="none" lIns="0" tIns="0" rIns="0" bIns="0" rtlCol="0" anchor="t"/>
          <a:lstStyle/>
          <a:p>
            <a:pPr algn="l" indent="0" marL="0">
              <a:lnSpc>
                <a:spcPts val="1800"/>
              </a:lnSpc>
              <a:buNone/>
            </a:pPr>
            <a:r>
              <a:rPr lang="en-US" sz="1450" b="1" dirty="0">
                <a:solidFill>
                  <a:srgbClr val="F95F88"/>
                </a:solidFill>
                <a:latin typeface="Petrona Bold" pitchFamily="34" charset="0"/>
                <a:ea typeface="Petrona Bold" pitchFamily="34" charset="-122"/>
                <a:cs typeface="Petrona Bold" pitchFamily="34" charset="-120"/>
              </a:rPr>
              <a:t>Từ quy trình "ping-pong" thủ công → Luồng Ticket tự động hóa hoàn toàn</a:t>
            </a:r>
            <a:endParaRPr lang="en-US" sz="1450" dirty="0"/>
          </a:p>
        </p:txBody>
      </p:sp>
      <p:sp>
        <p:nvSpPr>
          <p:cNvPr id="4" name="Text 2"/>
          <p:cNvSpPr/>
          <p:nvPr/>
        </p:nvSpPr>
        <p:spPr>
          <a:xfrm>
            <a:off x="632579" y="1429703"/>
            <a:ext cx="1848445" cy="238720"/>
          </a:xfrm>
          <a:prstGeom prst="rect">
            <a:avLst/>
          </a:prstGeom>
          <a:noFill/>
          <a:ln/>
        </p:spPr>
        <p:txBody>
          <a:bodyPr wrap="none" lIns="0" tIns="0" rIns="0" bIns="0" rtlCol="0" anchor="t"/>
          <a:lstStyle/>
          <a:p>
            <a:pPr algn="l" indent="0" marL="0">
              <a:lnSpc>
                <a:spcPts val="1800"/>
              </a:lnSpc>
              <a:buNone/>
            </a:pPr>
            <a:r>
              <a:rPr lang="en-US" sz="1450" b="1" dirty="0">
                <a:solidFill>
                  <a:srgbClr val="000000"/>
                </a:solidFill>
                <a:latin typeface="Petrona Bold" pitchFamily="34" charset="0"/>
                <a:ea typeface="Petrona Bold" pitchFamily="34" charset="-122"/>
                <a:cs typeface="Petrona Bold" pitchFamily="34" charset="-120"/>
              </a:rPr>
              <a:t>🔴</a:t>
            </a:r>
            <a:pPr algn="l" indent="0" marL="0">
              <a:lnSpc>
                <a:spcPts val="1800"/>
              </a:lnSpc>
              <a:buNone/>
            </a:pPr>
            <a:r>
              <a:rPr lang="en-US" sz="1450" b="1" dirty="0">
                <a:solidFill>
                  <a:srgbClr val="F95F88"/>
                </a:solidFill>
                <a:latin typeface="Petrona Bold" pitchFamily="34" charset="0"/>
                <a:ea typeface="Petrona Bold" pitchFamily="34" charset="-122"/>
                <a:cs typeface="Petrona Bold" pitchFamily="34" charset="-120"/>
              </a:rPr>
              <a:t> Cách làm hiện tại</a:t>
            </a:r>
            <a:endParaRPr lang="en-US" sz="1450" dirty="0"/>
          </a:p>
        </p:txBody>
      </p:sp>
      <p:sp>
        <p:nvSpPr>
          <p:cNvPr id="5" name="Text 3"/>
          <p:cNvSpPr/>
          <p:nvPr/>
        </p:nvSpPr>
        <p:spPr>
          <a:xfrm>
            <a:off x="632579" y="1759387"/>
            <a:ext cx="6518672" cy="996672"/>
          </a:xfrm>
          <a:prstGeom prst="rect">
            <a:avLst/>
          </a:prstGeom>
          <a:noFill/>
          <a:ln/>
        </p:spPr>
        <p:txBody>
          <a:bodyPr wrap="square" lIns="0" tIns="0" rIns="0" bIns="0" rtlCol="0" anchor="t"/>
          <a:lstStyle/>
          <a:p>
            <a:pPr algn="l" marL="342900" indent="-342900">
              <a:lnSpc>
                <a:spcPts val="1400"/>
              </a:lnSpc>
              <a:buSzPct val="100000"/>
              <a:buChar char="•"/>
            </a:pPr>
            <a:r>
              <a:rPr lang="en-US" sz="1050" dirty="0">
                <a:solidFill>
                  <a:srgbClr val="272525"/>
                </a:solidFill>
                <a:latin typeface="Inter" pitchFamily="34" charset="0"/>
                <a:ea typeface="Inter" pitchFamily="34" charset="-122"/>
                <a:cs typeface="Inter" pitchFamily="34" charset="-120"/>
              </a:rPr>
              <a:t>File Excel/Word luân chuyển qua email và Zalo giữa Kinh doanh, Kỹ thuật, Vật tư và Ban Giám đốc — dễ nhầm phiên bản, dễ thất lạc file.</a:t>
            </a:r>
            <a:endParaRPr lang="en-US" sz="1050" dirty="0"/>
          </a:p>
          <a:p>
            <a:pPr algn="l" marL="342900" indent="-342900">
              <a:lnSpc>
                <a:spcPts val="1400"/>
              </a:lnSpc>
              <a:buSzPct val="100000"/>
              <a:buChar char="•"/>
            </a:pPr>
            <a:r>
              <a:rPr lang="en-US" sz="1050" dirty="0">
                <a:solidFill>
                  <a:srgbClr val="272525"/>
                </a:solidFill>
                <a:latin typeface="Inter" pitchFamily="34" charset="0"/>
                <a:ea typeface="Inter" pitchFamily="34" charset="-122"/>
                <a:cs typeface="Inter" pitchFamily="34" charset="-120"/>
              </a:rPr>
              <a:t>Không có kho lưu trữ tập trung. Bản vẽ sơ bộ, bảng giá, comment của Giám đốc rải rác ở nhiều nơi.</a:t>
            </a:r>
            <a:endParaRPr lang="en-US" sz="1050" dirty="0"/>
          </a:p>
          <a:p>
            <a:pPr algn="l" marL="342900" indent="-342900">
              <a:lnSpc>
                <a:spcPts val="1400"/>
              </a:lnSpc>
              <a:buSzPct val="100000"/>
              <a:buChar char="•"/>
            </a:pPr>
            <a:r>
              <a:rPr lang="en-US" sz="1050" dirty="0">
                <a:solidFill>
                  <a:srgbClr val="272525"/>
                </a:solidFill>
                <a:latin typeface="Inter" pitchFamily="34" charset="0"/>
                <a:ea typeface="Inter" pitchFamily="34" charset="-122"/>
                <a:cs typeface="Inter" pitchFamily="34" charset="-120"/>
              </a:rPr>
              <a:t>Không có dữ liệu lịch sử để phân tích lý do trượt thầu — kinh nghiệm chỉ nằm trong đầu người.</a:t>
            </a:r>
            <a:endParaRPr lang="en-US" sz="1050" dirty="0"/>
          </a:p>
          <a:p>
            <a:pPr algn="l" marL="342900" indent="-342900">
              <a:lnSpc>
                <a:spcPts val="1400"/>
              </a:lnSpc>
              <a:buSzPct val="100000"/>
              <a:buChar char="•"/>
            </a:pPr>
            <a:r>
              <a:rPr lang="en-US" sz="1050" dirty="0">
                <a:solidFill>
                  <a:srgbClr val="272525"/>
                </a:solidFill>
                <a:latin typeface="Inter" pitchFamily="34" charset="0"/>
                <a:ea typeface="Inter" pitchFamily="34" charset="-122"/>
                <a:cs typeface="Inter" pitchFamily="34" charset="-120"/>
              </a:rPr>
              <a:t>Khó biết ai đang "giữ" báo giá, bao giờ xong, ai cần giục.</a:t>
            </a:r>
            <a:endParaRPr lang="en-US" sz="1050" dirty="0"/>
          </a:p>
        </p:txBody>
      </p:sp>
      <p:sp>
        <p:nvSpPr>
          <p:cNvPr id="6" name="Shape 4"/>
          <p:cNvSpPr/>
          <p:nvPr/>
        </p:nvSpPr>
        <p:spPr>
          <a:xfrm>
            <a:off x="7389971" y="1338739"/>
            <a:ext cx="6712268" cy="1989892"/>
          </a:xfrm>
          <a:prstGeom prst="roundRect">
            <a:avLst>
              <a:gd name="adj" fmla="val 4864"/>
            </a:avLst>
          </a:prstGeom>
          <a:solidFill>
            <a:srgbClr val="D75BE2"/>
          </a:solidFill>
          <a:ln/>
        </p:spPr>
      </p:sp>
      <p:sp>
        <p:nvSpPr>
          <p:cNvPr id="7" name="Text 5"/>
          <p:cNvSpPr/>
          <p:nvPr/>
        </p:nvSpPr>
        <p:spPr>
          <a:xfrm>
            <a:off x="7524393" y="1429703"/>
            <a:ext cx="2496383" cy="238720"/>
          </a:xfrm>
          <a:prstGeom prst="rect">
            <a:avLst/>
          </a:prstGeom>
          <a:noFill/>
          <a:ln/>
        </p:spPr>
        <p:txBody>
          <a:bodyPr wrap="none" lIns="0" tIns="0" rIns="0" bIns="0" rtlCol="0" anchor="t"/>
          <a:lstStyle/>
          <a:p>
            <a:pPr algn="l" indent="0" marL="0">
              <a:lnSpc>
                <a:spcPts val="1800"/>
              </a:lnSpc>
              <a:buNone/>
            </a:pPr>
            <a:r>
              <a:rPr lang="en-US" sz="1450" b="1" dirty="0">
                <a:solidFill>
                  <a:srgbClr val="000000"/>
                </a:solidFill>
                <a:latin typeface="Petrona Bold" pitchFamily="34" charset="0"/>
                <a:ea typeface="Petrona Bold" pitchFamily="34" charset="-122"/>
                <a:cs typeface="Petrona Bold" pitchFamily="34" charset="-120"/>
              </a:rPr>
              <a:t>✅</a:t>
            </a:r>
            <a:pPr algn="l" indent="0" marL="0">
              <a:lnSpc>
                <a:spcPts val="1800"/>
              </a:lnSpc>
              <a:buNone/>
            </a:pPr>
            <a:r>
              <a:rPr lang="en-US" sz="1450" b="1" dirty="0">
                <a:solidFill>
                  <a:srgbClr val="000000"/>
                </a:solidFill>
                <a:latin typeface="Petrona Bold" pitchFamily="34" charset="0"/>
                <a:ea typeface="Petrona Bold" pitchFamily="34" charset="-122"/>
                <a:cs typeface="Petrona Bold" pitchFamily="34" charset="-120"/>
              </a:rPr>
              <a:t> Giải pháp trên SAREE ERP</a:t>
            </a:r>
            <a:endParaRPr lang="en-US" sz="1450" dirty="0"/>
          </a:p>
        </p:txBody>
      </p:sp>
      <p:sp>
        <p:nvSpPr>
          <p:cNvPr id="8" name="Text 6"/>
          <p:cNvSpPr/>
          <p:nvPr/>
        </p:nvSpPr>
        <p:spPr>
          <a:xfrm>
            <a:off x="7524393" y="1759387"/>
            <a:ext cx="6443424" cy="1537454"/>
          </a:xfrm>
          <a:prstGeom prst="rect">
            <a:avLst/>
          </a:prstGeom>
          <a:noFill/>
          <a:ln/>
        </p:spPr>
        <p:txBody>
          <a:bodyPr wrap="square" lIns="0" tIns="0" rIns="0" bIns="0" rtlCol="0" anchor="t"/>
          <a:lstStyle/>
          <a:p>
            <a:pPr algn="l" marL="342900" indent="-342900">
              <a:lnSpc>
                <a:spcPts val="1400"/>
              </a:lnSpc>
              <a:buSzPct val="100000"/>
              <a:buChar char="•"/>
            </a:pPr>
            <a:r>
              <a:rPr lang="en-US" sz="1050" b="1" dirty="0">
                <a:solidFill>
                  <a:srgbClr val="000000"/>
                </a:solidFill>
                <a:latin typeface="Inter" pitchFamily="34" charset="0"/>
                <a:ea typeface="Inter" pitchFamily="34" charset="-122"/>
                <a:cs typeface="Inter" pitchFamily="34" charset="-120"/>
              </a:rPr>
              <a:t>Ticket Luân chuyển tự động:</a:t>
            </a:r>
            <a:pPr algn="l" indent="0" marL="0">
              <a:lnSpc>
                <a:spcPts val="1400"/>
              </a:lnSpc>
              <a:buNone/>
            </a:pPr>
            <a:r>
              <a:rPr lang="en-US" sz="1050" dirty="0">
                <a:solidFill>
                  <a:srgbClr val="000000"/>
                </a:solidFill>
                <a:latin typeface="Inter" pitchFamily="34" charset="0"/>
                <a:ea typeface="Inter" pitchFamily="34" charset="-122"/>
                <a:cs typeface="Inter" pitchFamily="34" charset="-120"/>
              </a:rPr>
              <a:t> Mỗi báo giá là một Ticket duy nhất. Ai đến lượt người đó nhận thông báo Push Notification trên App. Không cần gọi điện giục giã, không mất thời gian chờ đợi mù quáng.</a:t>
            </a:r>
            <a:endParaRPr lang="en-US" sz="1050" dirty="0"/>
          </a:p>
          <a:p>
            <a:pPr algn="l" marL="342900" indent="-342900">
              <a:lnSpc>
                <a:spcPts val="1400"/>
              </a:lnSpc>
              <a:buSzPct val="100000"/>
              <a:buChar char="•"/>
            </a:pPr>
            <a:r>
              <a:rPr lang="en-US" sz="1050" b="1" dirty="0">
                <a:solidFill>
                  <a:srgbClr val="000000"/>
                </a:solidFill>
                <a:latin typeface="Inter" pitchFamily="34" charset="0"/>
                <a:ea typeface="Inter" pitchFamily="34" charset="-122"/>
                <a:cs typeface="Inter" pitchFamily="34" charset="-120"/>
              </a:rPr>
              <a:t>Kho lưu trữ tập trung:</a:t>
            </a:r>
            <a:pPr algn="l" indent="0" marL="0">
              <a:lnSpc>
                <a:spcPts val="1400"/>
              </a:lnSpc>
              <a:buNone/>
            </a:pPr>
            <a:r>
              <a:rPr lang="en-US" sz="1050" dirty="0">
                <a:solidFill>
                  <a:srgbClr val="000000"/>
                </a:solidFill>
                <a:latin typeface="Inter" pitchFamily="34" charset="0"/>
                <a:ea typeface="Inter" pitchFamily="34" charset="-122"/>
                <a:cs typeface="Inter" pitchFamily="34" charset="-120"/>
              </a:rPr>
              <a:t> Mọi bản vẽ sơ bộ, bảng giá vật tư, comment, chỉnh sửa đều đính kèm trong thẻ dự án — truy cập theo phân quyền.</a:t>
            </a:r>
            <a:endParaRPr lang="en-US" sz="1050" dirty="0"/>
          </a:p>
          <a:p>
            <a:pPr algn="l" marL="342900" indent="-342900">
              <a:lnSpc>
                <a:spcPts val="1400"/>
              </a:lnSpc>
              <a:buSzPct val="100000"/>
              <a:buChar char="•"/>
            </a:pPr>
            <a:r>
              <a:rPr lang="en-US" sz="1050" b="1" dirty="0">
                <a:solidFill>
                  <a:srgbClr val="000000"/>
                </a:solidFill>
                <a:latin typeface="Inter" pitchFamily="34" charset="0"/>
                <a:ea typeface="Inter" pitchFamily="34" charset="-122"/>
                <a:cs typeface="Inter" pitchFamily="34" charset="-120"/>
              </a:rPr>
              <a:t>Lưu vết thương lượng:</a:t>
            </a:r>
            <a:pPr algn="l" indent="0" marL="0">
              <a:lnSpc>
                <a:spcPts val="1400"/>
              </a:lnSpc>
              <a:buNone/>
            </a:pPr>
            <a:r>
              <a:rPr lang="en-US" sz="1050" dirty="0">
                <a:solidFill>
                  <a:srgbClr val="000000"/>
                </a:solidFill>
                <a:latin typeface="Inter" pitchFamily="34" charset="0"/>
                <a:ea typeface="Inter" pitchFamily="34" charset="-122"/>
                <a:cs typeface="Inter" pitchFamily="34" charset="-120"/>
              </a:rPr>
              <a:t> Ghi lại mọi điều chỉnh giá và yêu cầu của khách hàng theo dòng thời gian.</a:t>
            </a:r>
            <a:endParaRPr lang="en-US" sz="1050" dirty="0"/>
          </a:p>
          <a:p>
            <a:pPr algn="l" marL="342900" indent="-342900">
              <a:lnSpc>
                <a:spcPts val="1400"/>
              </a:lnSpc>
              <a:buSzPct val="100000"/>
              <a:buChar char="•"/>
            </a:pPr>
            <a:r>
              <a:rPr lang="en-US" sz="1050" b="1" dirty="0">
                <a:solidFill>
                  <a:srgbClr val="000000"/>
                </a:solidFill>
                <a:latin typeface="Inter" pitchFamily="34" charset="0"/>
                <a:ea typeface="Inter" pitchFamily="34" charset="-122"/>
                <a:cs typeface="Inter" pitchFamily="34" charset="-120"/>
              </a:rPr>
              <a:t>Win/Loss Analytics Dashboard:</a:t>
            </a:r>
            <a:pPr algn="l" indent="0" marL="0">
              <a:lnSpc>
                <a:spcPts val="1400"/>
              </a:lnSpc>
              <a:buNone/>
            </a:pPr>
            <a:r>
              <a:rPr lang="en-US" sz="1050" dirty="0">
                <a:solidFill>
                  <a:srgbClr val="000000"/>
                </a:solidFill>
                <a:latin typeface="Inter" pitchFamily="34" charset="0"/>
                <a:ea typeface="Inter" pitchFamily="34" charset="-122"/>
                <a:cs typeface="Inter" pitchFamily="34" charset="-120"/>
              </a:rPr>
              <a:t> Tự động thống kê tỷ lệ thắng/thua theo hạng mục thiết bị, khoảng thời gian và đối thủ — nền tảng để tối ưu chiến lược kinh doanh.</a:t>
            </a:r>
            <a:endParaRPr lang="en-US" sz="1050" dirty="0"/>
          </a:p>
        </p:txBody>
      </p:sp>
      <p:pic>
        <p:nvPicPr>
          <p:cNvPr id="9" name="Image 0" descr="preencoded.png">    </p:cNvPr>
          <p:cNvPicPr>
            <a:picLocks noChangeAspect="1"/>
          </p:cNvPicPr>
          <p:nvPr/>
        </p:nvPicPr>
        <p:blipFill>
          <a:blip r:embed="rId1"/>
          <a:stretch>
            <a:fillRect/>
          </a:stretch>
        </p:blipFill>
        <p:spPr>
          <a:xfrm>
            <a:off x="2897981" y="3431024"/>
            <a:ext cx="8834438" cy="4043243"/>
          </a:xfrm>
          <a:prstGeom prst="rect">
            <a:avLst/>
          </a:prstGeom>
        </p:spPr>
      </p:pic>
      <p:pic>
        <p:nvPicPr>
          <p:cNvPr id="10"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168623" y="4440514"/>
            <a:ext cx="568016" cy="568015"/>
          </a:xfrm>
          <a:prstGeom prst="rect">
            <a:avLst/>
          </a:prstGeom>
        </p:spPr>
      </p:pic>
      <p:sp>
        <p:nvSpPr>
          <p:cNvPr id="11" name="Text 7"/>
          <p:cNvSpPr/>
          <p:nvPr/>
        </p:nvSpPr>
        <p:spPr>
          <a:xfrm>
            <a:off x="9662557" y="6322419"/>
            <a:ext cx="1658605" cy="702918"/>
          </a:xfrm>
          <a:prstGeom prst="rect">
            <a:avLst/>
          </a:prstGeom>
          <a:noFill/>
          <a:ln/>
        </p:spPr>
        <p:txBody>
          <a:bodyPr wrap="square" lIns="0" tIns="0" rIns="0" bIns="0" rtlCol="0" anchor="t"/>
          <a:lstStyle/>
          <a:p>
            <a:pPr algn="ctr" indent="0" marL="0">
              <a:lnSpc>
                <a:spcPts val="2750"/>
              </a:lnSpc>
              <a:buNone/>
            </a:pPr>
            <a:r>
              <a:rPr lang="en-US" sz="2200" b="1" dirty="0">
                <a:solidFill>
                  <a:srgbClr val="272525"/>
                </a:solidFill>
                <a:latin typeface="Petrona Bold" pitchFamily="34" charset="0"/>
                <a:ea typeface="Petrona Bold" pitchFamily="34" charset="-122"/>
                <a:cs typeface="Petrona Bold" pitchFamily="34" charset="-120"/>
              </a:rPr>
              <a:t>BGĐ phê duyệt</a:t>
            </a:r>
            <a:endParaRPr lang="en-US" sz="2200" dirty="0"/>
          </a:p>
        </p:txBody>
      </p:sp>
      <p:pic>
        <p:nvPicPr>
          <p:cNvPr id="12"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089155" y="4441579"/>
            <a:ext cx="568016" cy="568015"/>
          </a:xfrm>
          <a:prstGeom prst="rect">
            <a:avLst/>
          </a:prstGeom>
        </p:spPr>
      </p:pic>
      <p:sp>
        <p:nvSpPr>
          <p:cNvPr id="13" name="Text 8"/>
          <p:cNvSpPr/>
          <p:nvPr/>
        </p:nvSpPr>
        <p:spPr>
          <a:xfrm>
            <a:off x="7572261" y="6322419"/>
            <a:ext cx="1658604" cy="702918"/>
          </a:xfrm>
          <a:prstGeom prst="rect">
            <a:avLst/>
          </a:prstGeom>
          <a:noFill/>
          <a:ln/>
        </p:spPr>
        <p:txBody>
          <a:bodyPr wrap="square" lIns="0" tIns="0" rIns="0" bIns="0" rtlCol="0" anchor="t"/>
          <a:lstStyle/>
          <a:p>
            <a:pPr algn="ctr" indent="0" marL="0">
              <a:lnSpc>
                <a:spcPts val="2750"/>
              </a:lnSpc>
              <a:buNone/>
            </a:pPr>
            <a:r>
              <a:rPr lang="en-US" sz="2200" b="1" dirty="0">
                <a:solidFill>
                  <a:srgbClr val="272525"/>
                </a:solidFill>
                <a:latin typeface="Petrona Bold" pitchFamily="34" charset="0"/>
                <a:ea typeface="Petrona Bold" pitchFamily="34" charset="-122"/>
                <a:cs typeface="Petrona Bold" pitchFamily="34" charset="-120"/>
              </a:rPr>
              <a:t>Vật tư điền đơn giá</a:t>
            </a:r>
            <a:endParaRPr lang="en-US" sz="2200" dirty="0"/>
          </a:p>
        </p:txBody>
      </p:sp>
      <p:pic>
        <p:nvPicPr>
          <p:cNvPr id="14"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010219" y="4441579"/>
            <a:ext cx="568015" cy="568015"/>
          </a:xfrm>
          <a:prstGeom prst="rect">
            <a:avLst/>
          </a:prstGeom>
        </p:spPr>
      </p:pic>
      <p:sp>
        <p:nvSpPr>
          <p:cNvPr id="15" name="Text 9"/>
          <p:cNvSpPr/>
          <p:nvPr/>
        </p:nvSpPr>
        <p:spPr>
          <a:xfrm>
            <a:off x="5493325" y="6322419"/>
            <a:ext cx="1658605" cy="702918"/>
          </a:xfrm>
          <a:prstGeom prst="rect">
            <a:avLst/>
          </a:prstGeom>
          <a:noFill/>
          <a:ln/>
        </p:spPr>
        <p:txBody>
          <a:bodyPr wrap="square" lIns="0" tIns="0" rIns="0" bIns="0" rtlCol="0" anchor="t"/>
          <a:lstStyle/>
          <a:p>
            <a:pPr algn="ctr" indent="0" marL="0">
              <a:lnSpc>
                <a:spcPts val="2750"/>
              </a:lnSpc>
              <a:buNone/>
            </a:pPr>
            <a:r>
              <a:rPr lang="en-US" sz="2200" b="1" dirty="0">
                <a:solidFill>
                  <a:srgbClr val="272525"/>
                </a:solidFill>
                <a:latin typeface="Petrona Bold" pitchFamily="34" charset="0"/>
                <a:ea typeface="Petrona Bold" pitchFamily="34" charset="-122"/>
                <a:cs typeface="Petrona Bold" pitchFamily="34" charset="-120"/>
              </a:rPr>
              <a:t>Kỹ thuật lên bản vẽ</a:t>
            </a:r>
            <a:endParaRPr lang="en-US" sz="2200" dirty="0"/>
          </a:p>
        </p:txBody>
      </p:sp>
      <p:pic>
        <p:nvPicPr>
          <p:cNvPr id="16" name="Image 4" descr="preencoded.png">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3919923" y="4441579"/>
            <a:ext cx="568015" cy="568015"/>
          </a:xfrm>
          <a:prstGeom prst="rect">
            <a:avLst/>
          </a:prstGeom>
        </p:spPr>
      </p:pic>
      <p:sp>
        <p:nvSpPr>
          <p:cNvPr id="17" name="Text 10"/>
          <p:cNvSpPr/>
          <p:nvPr/>
        </p:nvSpPr>
        <p:spPr>
          <a:xfrm>
            <a:off x="3368948" y="6322419"/>
            <a:ext cx="1658605" cy="702918"/>
          </a:xfrm>
          <a:prstGeom prst="rect">
            <a:avLst/>
          </a:prstGeom>
          <a:noFill/>
          <a:ln/>
        </p:spPr>
        <p:txBody>
          <a:bodyPr wrap="square" lIns="0" tIns="0" rIns="0" bIns="0" rtlCol="0" anchor="t"/>
          <a:lstStyle/>
          <a:p>
            <a:pPr algn="ctr" indent="0" marL="0">
              <a:lnSpc>
                <a:spcPts val="2750"/>
              </a:lnSpc>
              <a:buNone/>
            </a:pPr>
            <a:r>
              <a:rPr lang="en-US" sz="2200" b="1" dirty="0">
                <a:solidFill>
                  <a:srgbClr val="272525"/>
                </a:solidFill>
                <a:latin typeface="Petrona Bold" pitchFamily="34" charset="0"/>
                <a:ea typeface="Petrona Bold" pitchFamily="34" charset="-122"/>
                <a:cs typeface="Petrona Bold" pitchFamily="34" charset="-120"/>
              </a:rPr>
              <a:t>Thu thập khảo sát</a:t>
            </a:r>
            <a:endParaRPr lang="en-US" sz="2200" dirty="0"/>
          </a:p>
        </p:txBody>
      </p:sp>
      <p:sp>
        <p:nvSpPr>
          <p:cNvPr id="18" name="Text 11"/>
          <p:cNvSpPr/>
          <p:nvPr/>
        </p:nvSpPr>
        <p:spPr>
          <a:xfrm>
            <a:off x="632579" y="7576661"/>
            <a:ext cx="13365242" cy="180261"/>
          </a:xfrm>
          <a:prstGeom prst="rect">
            <a:avLst/>
          </a:prstGeom>
          <a:noFill/>
          <a:ln/>
        </p:spPr>
        <p:txBody>
          <a:bodyPr wrap="none" lIns="0" tIns="0" rIns="0" bIns="0" rtlCol="0" anchor="t"/>
          <a:lstStyle/>
          <a:p>
            <a:pPr algn="l" indent="0" marL="0">
              <a:lnSpc>
                <a:spcPts val="1400"/>
              </a:lnSpc>
              <a:buNone/>
            </a:pPr>
            <a:r>
              <a:rPr lang="en-US" sz="1050" dirty="0">
                <a:solidFill>
                  <a:srgbClr val="272525"/>
                </a:solidFill>
                <a:latin typeface="Inter" pitchFamily="34" charset="0"/>
                <a:ea typeface="Inter" pitchFamily="34" charset="-122"/>
                <a:cs typeface="Inter" pitchFamily="34" charset="-120"/>
              </a:rPr>
              <a:t>Mỗi bước trong quy trình đều được hệ thống tự động chuyển giao, thông báo và lưu dấu thời gian phê duyệt — đảm bảo không có khâu nào bị "tắc nghẽn im lặng" mà Ban Giám đốc không hay biết.</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93790" y="1500664"/>
            <a:ext cx="10266164" cy="614005"/>
          </a:xfrm>
          <a:prstGeom prst="rect">
            <a:avLst/>
          </a:prstGeom>
          <a:noFill/>
          <a:ln/>
        </p:spPr>
        <p:txBody>
          <a:bodyPr wrap="none" lIns="0" tIns="0" rIns="0" bIns="0" rtlCol="0" anchor="t"/>
          <a:lstStyle/>
          <a:p>
            <a:pPr algn="l" indent="0" marL="0">
              <a:lnSpc>
                <a:spcPts val="4800"/>
              </a:lnSpc>
              <a:buNone/>
            </a:pPr>
            <a:r>
              <a:rPr lang="en-US" sz="3850" b="1" dirty="0">
                <a:solidFill>
                  <a:srgbClr val="F95F88"/>
                </a:solidFill>
                <a:latin typeface="Petrona Bold" pitchFamily="34" charset="0"/>
                <a:ea typeface="Petrona Bold" pitchFamily="34" charset="-122"/>
                <a:cs typeface="Petrona Bold" pitchFamily="34" charset="-120"/>
              </a:rPr>
              <a:t>Module Sản Xuất &amp; Luồng Vật Tư Thông Minh</a:t>
            </a:r>
            <a:endParaRPr lang="en-US" sz="3850" dirty="0"/>
          </a:p>
        </p:txBody>
      </p:sp>
      <p:sp>
        <p:nvSpPr>
          <p:cNvPr id="3" name="Text 1"/>
          <p:cNvSpPr/>
          <p:nvPr/>
        </p:nvSpPr>
        <p:spPr>
          <a:xfrm>
            <a:off x="793790" y="2178963"/>
            <a:ext cx="7978021" cy="306943"/>
          </a:xfrm>
          <a:prstGeom prst="rect">
            <a:avLst/>
          </a:prstGeom>
          <a:noFill/>
          <a:ln/>
        </p:spPr>
        <p:txBody>
          <a:bodyPr wrap="none" lIns="0" tIns="0" rIns="0" bIns="0" rtlCol="0" anchor="t"/>
          <a:lstStyle/>
          <a:p>
            <a:pPr algn="l" indent="0" marL="0">
              <a:lnSpc>
                <a:spcPts val="2400"/>
              </a:lnSpc>
              <a:buNone/>
            </a:pPr>
            <a:r>
              <a:rPr lang="en-US" sz="1900" b="1" dirty="0">
                <a:solidFill>
                  <a:srgbClr val="F95F88"/>
                </a:solidFill>
                <a:latin typeface="Petrona Bold" pitchFamily="34" charset="0"/>
                <a:ea typeface="Petrona Bold" pitchFamily="34" charset="-122"/>
                <a:cs typeface="Petrona Bold" pitchFamily="34" charset="-120"/>
              </a:rPr>
              <a:t>Từ xin vật tư bằng miệng/giấy → E-Form điện tử với luồng duyệt tự động</a:t>
            </a:r>
            <a:endParaRPr lang="en-US" sz="1900" dirty="0"/>
          </a:p>
        </p:txBody>
      </p:sp>
      <p:sp>
        <p:nvSpPr>
          <p:cNvPr id="4" name="Text 2"/>
          <p:cNvSpPr/>
          <p:nvPr/>
        </p:nvSpPr>
        <p:spPr>
          <a:xfrm>
            <a:off x="793790" y="2887742"/>
            <a:ext cx="3258860" cy="306943"/>
          </a:xfrm>
          <a:prstGeom prst="rect">
            <a:avLst/>
          </a:prstGeom>
          <a:noFill/>
          <a:ln/>
        </p:spPr>
        <p:txBody>
          <a:bodyPr wrap="none" lIns="0" tIns="0" rIns="0" bIns="0" rtlCol="0" anchor="t"/>
          <a:lstStyle/>
          <a:p>
            <a:pPr algn="l" indent="0" marL="0">
              <a:lnSpc>
                <a:spcPts val="2400"/>
              </a:lnSpc>
              <a:buNone/>
            </a:pPr>
            <a:r>
              <a:rPr lang="en-US" sz="1900" b="1" dirty="0">
                <a:solidFill>
                  <a:srgbClr val="F95F88"/>
                </a:solidFill>
                <a:latin typeface="Petrona Bold" pitchFamily="34" charset="0"/>
                <a:ea typeface="Petrona Bold" pitchFamily="34" charset="-122"/>
                <a:cs typeface="Petrona Bold" pitchFamily="34" charset="-120"/>
              </a:rPr>
              <a:t>Điều hành Xưởng với Kanban</a:t>
            </a:r>
            <a:endParaRPr lang="en-US" sz="1900" dirty="0"/>
          </a:p>
        </p:txBody>
      </p:sp>
      <p:sp>
        <p:nvSpPr>
          <p:cNvPr id="5" name="Text 3"/>
          <p:cNvSpPr/>
          <p:nvPr/>
        </p:nvSpPr>
        <p:spPr>
          <a:xfrm>
            <a:off x="793790" y="3355419"/>
            <a:ext cx="6303526" cy="1085850"/>
          </a:xfrm>
          <a:prstGeom prst="rect">
            <a:avLst/>
          </a:prstGeom>
          <a:noFill/>
          <a:ln/>
        </p:spPr>
        <p:txBody>
          <a:bodyPr wrap="square" lIns="0" tIns="0" rIns="0" bIns="0" rtlCol="0" anchor="t"/>
          <a:lstStyle/>
          <a:p>
            <a:pPr algn="l" indent="0" marL="0">
              <a:lnSpc>
                <a:spcPts val="2100"/>
              </a:lnSpc>
              <a:buNone/>
            </a:pPr>
            <a:r>
              <a:rPr lang="en-US" sz="1400" dirty="0">
                <a:solidFill>
                  <a:srgbClr val="272525"/>
                </a:solidFill>
                <a:latin typeface="Inter" pitchFamily="34" charset="0"/>
                <a:ea typeface="Inter" pitchFamily="34" charset="-122"/>
                <a:cs typeface="Inter" pitchFamily="34" charset="-120"/>
              </a:rPr>
              <a:t>Phòng Kế hoạch phân bổ công việc cho </a:t>
            </a:r>
            <a:pPr algn="l" indent="0" marL="0">
              <a:lnSpc>
                <a:spcPts val="2100"/>
              </a:lnSpc>
              <a:buNone/>
            </a:pPr>
            <a:r>
              <a:rPr lang="en-US" sz="1400" b="1" dirty="0">
                <a:solidFill>
                  <a:srgbClr val="272525"/>
                </a:solidFill>
                <a:latin typeface="Inter" pitchFamily="34" charset="0"/>
                <a:ea typeface="Inter" pitchFamily="34" charset="-122"/>
                <a:cs typeface="Inter" pitchFamily="34" charset="-120"/>
              </a:rPr>
              <a:t>9 tổ chuyên môn</a:t>
            </a:r>
            <a:pPr algn="l" indent="0" marL="0">
              <a:lnSpc>
                <a:spcPts val="2100"/>
              </a:lnSpc>
              <a:buNone/>
            </a:pPr>
            <a:r>
              <a:rPr lang="en-US" sz="1400" dirty="0">
                <a:solidFill>
                  <a:srgbClr val="272525"/>
                </a:solidFill>
                <a:latin typeface="Inter" pitchFamily="34" charset="0"/>
                <a:ea typeface="Inter" pitchFamily="34" charset="-122"/>
                <a:cs typeface="Inter" pitchFamily="34" charset="-120"/>
              </a:rPr>
              <a:t> thông qua bảng Kanban sản xuất trực quan. Mỗi tổ trưởng thấy rõ danh sách công việc được giao, deadline và mức độ ưu tiên ngay trên App điện thoại — không cần họp giao ban mỗi sáng để hỏi "hôm nay tôi làm gì".</a:t>
            </a:r>
            <a:endParaRPr lang="en-US" sz="1400" dirty="0"/>
          </a:p>
        </p:txBody>
      </p:sp>
      <p:sp>
        <p:nvSpPr>
          <p:cNvPr id="6" name="Text 4"/>
          <p:cNvSpPr/>
          <p:nvPr/>
        </p:nvSpPr>
        <p:spPr>
          <a:xfrm>
            <a:off x="793790" y="4602004"/>
            <a:ext cx="3291364" cy="306943"/>
          </a:xfrm>
          <a:prstGeom prst="rect">
            <a:avLst/>
          </a:prstGeom>
          <a:noFill/>
          <a:ln/>
        </p:spPr>
        <p:txBody>
          <a:bodyPr wrap="none" lIns="0" tIns="0" rIns="0" bIns="0" rtlCol="0" anchor="t"/>
          <a:lstStyle/>
          <a:p>
            <a:pPr algn="l" indent="0" marL="0">
              <a:lnSpc>
                <a:spcPts val="2400"/>
              </a:lnSpc>
              <a:buNone/>
            </a:pPr>
            <a:r>
              <a:rPr lang="en-US" sz="1900" b="1" dirty="0">
                <a:solidFill>
                  <a:srgbClr val="F95F88"/>
                </a:solidFill>
                <a:latin typeface="Petrona Bold" pitchFamily="34" charset="0"/>
                <a:ea typeface="Petrona Bold" pitchFamily="34" charset="-122"/>
                <a:cs typeface="Petrona Bold" pitchFamily="34" charset="-120"/>
              </a:rPr>
              <a:t>Bằng chứng số (Digital Proof)</a:t>
            </a:r>
            <a:endParaRPr lang="en-US" sz="1900" dirty="0"/>
          </a:p>
        </p:txBody>
      </p:sp>
      <p:sp>
        <p:nvSpPr>
          <p:cNvPr id="7" name="Text 5"/>
          <p:cNvSpPr/>
          <p:nvPr/>
        </p:nvSpPr>
        <p:spPr>
          <a:xfrm>
            <a:off x="793790" y="5069681"/>
            <a:ext cx="6303526" cy="814388"/>
          </a:xfrm>
          <a:prstGeom prst="rect">
            <a:avLst/>
          </a:prstGeom>
          <a:noFill/>
          <a:ln/>
        </p:spPr>
        <p:txBody>
          <a:bodyPr wrap="square" lIns="0" tIns="0" rIns="0" bIns="0" rtlCol="0" anchor="t"/>
          <a:lstStyle/>
          <a:p>
            <a:pPr algn="l" indent="0" marL="0">
              <a:lnSpc>
                <a:spcPts val="2100"/>
              </a:lnSpc>
              <a:buNone/>
            </a:pPr>
            <a:r>
              <a:rPr lang="en-US" sz="1400" dirty="0">
                <a:solidFill>
                  <a:srgbClr val="272525"/>
                </a:solidFill>
                <a:latin typeface="Inter" pitchFamily="34" charset="0"/>
                <a:ea typeface="Inter" pitchFamily="34" charset="-122"/>
                <a:cs typeface="Inter" pitchFamily="34" charset="-120"/>
              </a:rPr>
              <a:t>Tổ trưởng bắt buộc upload hình ảnh thi công/chế tạo trực tiếp vào trang Chat nội bộ của dự án để làm bằng chứng nghiệm thu — không thể báo "xong" mà không có ảnh đính kèm.</a:t>
            </a:r>
            <a:endParaRPr lang="en-US" sz="1400" dirty="0"/>
          </a:p>
        </p:txBody>
      </p:sp>
      <p:sp>
        <p:nvSpPr>
          <p:cNvPr id="8" name="Shape 6"/>
          <p:cNvSpPr/>
          <p:nvPr/>
        </p:nvSpPr>
        <p:spPr>
          <a:xfrm>
            <a:off x="7412117" y="2727008"/>
            <a:ext cx="6560701" cy="4001810"/>
          </a:xfrm>
          <a:prstGeom prst="roundRect">
            <a:avLst>
              <a:gd name="adj" fmla="val 3214"/>
            </a:avLst>
          </a:prstGeom>
          <a:solidFill>
            <a:srgbClr val="D75BE2"/>
          </a:solidFill>
          <a:ln/>
        </p:spPr>
      </p:sp>
      <p:sp>
        <p:nvSpPr>
          <p:cNvPr id="9" name="Text 7"/>
          <p:cNvSpPr/>
          <p:nvPr/>
        </p:nvSpPr>
        <p:spPr>
          <a:xfrm>
            <a:off x="7590711" y="2887742"/>
            <a:ext cx="3207306" cy="306943"/>
          </a:xfrm>
          <a:prstGeom prst="rect">
            <a:avLst/>
          </a:prstGeom>
          <a:noFill/>
          <a:ln/>
        </p:spPr>
        <p:txBody>
          <a:bodyPr wrap="none" lIns="0" tIns="0" rIns="0" bIns="0" rtlCol="0" anchor="t"/>
          <a:lstStyle/>
          <a:p>
            <a:pPr algn="l" indent="0" marL="0">
              <a:lnSpc>
                <a:spcPts val="2400"/>
              </a:lnSpc>
              <a:buNone/>
            </a:pPr>
            <a:r>
              <a:rPr lang="en-US" sz="1900" b="1" dirty="0">
                <a:solidFill>
                  <a:srgbClr val="000000"/>
                </a:solidFill>
                <a:latin typeface="Petrona Bold" pitchFamily="34" charset="0"/>
                <a:ea typeface="Petrona Bold" pitchFamily="34" charset="-122"/>
                <a:cs typeface="Petrona Bold" pitchFamily="34" charset="-120"/>
              </a:rPr>
              <a:t>E-Form Xin Vật tư (MR Flow)</a:t>
            </a:r>
            <a:endParaRPr lang="en-US" sz="1900" dirty="0"/>
          </a:p>
        </p:txBody>
      </p:sp>
      <p:sp>
        <p:nvSpPr>
          <p:cNvPr id="10" name="Text 8"/>
          <p:cNvSpPr/>
          <p:nvPr/>
        </p:nvSpPr>
        <p:spPr>
          <a:xfrm>
            <a:off x="7590711" y="3355419"/>
            <a:ext cx="6203513" cy="271463"/>
          </a:xfrm>
          <a:prstGeom prst="rect">
            <a:avLst/>
          </a:prstGeom>
          <a:noFill/>
          <a:ln/>
        </p:spPr>
        <p:txBody>
          <a:bodyPr wrap="none" lIns="0" tIns="0" rIns="0" bIns="0" rtlCol="0" anchor="t"/>
          <a:lstStyle/>
          <a:p>
            <a:pPr algn="l" indent="0" marL="0">
              <a:lnSpc>
                <a:spcPts val="2100"/>
              </a:lnSpc>
              <a:buNone/>
            </a:pPr>
            <a:r>
              <a:rPr lang="en-US" sz="1400" dirty="0">
                <a:solidFill>
                  <a:srgbClr val="000000"/>
                </a:solidFill>
                <a:latin typeface="Inter" pitchFamily="34" charset="0"/>
                <a:ea typeface="Inter" pitchFamily="34" charset="-122"/>
                <a:cs typeface="Inter" pitchFamily="34" charset="-120"/>
              </a:rPr>
              <a:t>Quy trình xin vật tư được số hóa hoàn toàn, thay thế giấy tờ và chữ ký tay:</a:t>
            </a:r>
            <a:endParaRPr lang="en-US" sz="1400" dirty="0"/>
          </a:p>
        </p:txBody>
      </p:sp>
      <p:sp>
        <p:nvSpPr>
          <p:cNvPr id="11" name="Text 9"/>
          <p:cNvSpPr/>
          <p:nvPr/>
        </p:nvSpPr>
        <p:spPr>
          <a:xfrm>
            <a:off x="7590711" y="3771543"/>
            <a:ext cx="6203513" cy="2125028"/>
          </a:xfrm>
          <a:prstGeom prst="rect">
            <a:avLst/>
          </a:prstGeom>
          <a:noFill/>
          <a:ln/>
        </p:spPr>
        <p:txBody>
          <a:bodyPr wrap="square" lIns="0" tIns="0" rIns="0" bIns="0" rtlCol="0" anchor="t"/>
          <a:lstStyle/>
          <a:p>
            <a:pPr algn="l" marL="342900" indent="-342900">
              <a:lnSpc>
                <a:spcPts val="2100"/>
              </a:lnSpc>
              <a:buSzPct val="100000"/>
              <a:buFont typeface="+mj-lt"/>
              <a:buAutoNum type="arabicPeriod" startAt="1"/>
            </a:pPr>
            <a:r>
              <a:rPr lang="en-US" sz="1400" b="1" dirty="0">
                <a:solidFill>
                  <a:srgbClr val="000000"/>
                </a:solidFill>
                <a:latin typeface="Inter" pitchFamily="34" charset="0"/>
                <a:ea typeface="Inter" pitchFamily="34" charset="-122"/>
                <a:cs typeface="Inter" pitchFamily="34" charset="-120"/>
              </a:rPr>
              <a:t>Tổ trưởng</a:t>
            </a:r>
            <a:pPr algn="l" indent="0" marL="0">
              <a:lnSpc>
                <a:spcPts val="2100"/>
              </a:lnSpc>
              <a:buNone/>
            </a:pPr>
            <a:r>
              <a:rPr lang="en-US" sz="1400" dirty="0">
                <a:solidFill>
                  <a:srgbClr val="000000"/>
                </a:solidFill>
                <a:latin typeface="Inter" pitchFamily="34" charset="0"/>
                <a:ea typeface="Inter" pitchFamily="34" charset="-122"/>
                <a:cs typeface="Inter" pitchFamily="34" charset="-120"/>
              </a:rPr>
              <a:t> tạo yêu cầu một chạm trên App (loại vật tư, số lượng, lý do).</a:t>
            </a:r>
            <a:endParaRPr lang="en-US" sz="1400" dirty="0"/>
          </a:p>
          <a:p>
            <a:pPr algn="l" marL="342900" indent="-342900">
              <a:lnSpc>
                <a:spcPts val="2100"/>
              </a:lnSpc>
              <a:buSzPct val="100000"/>
              <a:buFont typeface="+mj-lt"/>
              <a:buAutoNum type="arabicPeriod" startAt="2"/>
            </a:pPr>
            <a:r>
              <a:rPr lang="en-US" sz="1400" b="1" dirty="0">
                <a:solidFill>
                  <a:srgbClr val="000000"/>
                </a:solidFill>
                <a:latin typeface="Inter" pitchFamily="34" charset="0"/>
                <a:ea typeface="Inter" pitchFamily="34" charset="-122"/>
                <a:cs typeface="Inter" pitchFamily="34" charset="-120"/>
              </a:rPr>
              <a:t>Phòng Kỹ thuật</a:t>
            </a:r>
            <a:pPr algn="l" indent="0" marL="0">
              <a:lnSpc>
                <a:spcPts val="2100"/>
              </a:lnSpc>
              <a:buNone/>
            </a:pPr>
            <a:r>
              <a:rPr lang="en-US" sz="1400" dirty="0">
                <a:solidFill>
                  <a:srgbClr val="000000"/>
                </a:solidFill>
                <a:latin typeface="Inter" pitchFamily="34" charset="0"/>
                <a:ea typeface="Inter" pitchFamily="34" charset="-122"/>
                <a:cs typeface="Inter" pitchFamily="34" charset="-120"/>
              </a:rPr>
              <a:t> nhận Notification, duyệt quy cách kỹ thuật.</a:t>
            </a:r>
            <a:endParaRPr lang="en-US" sz="1400" dirty="0"/>
          </a:p>
          <a:p>
            <a:pPr algn="l" marL="342900" indent="-342900">
              <a:lnSpc>
                <a:spcPts val="2100"/>
              </a:lnSpc>
              <a:buSzPct val="100000"/>
              <a:buFont typeface="+mj-lt"/>
              <a:buAutoNum type="arabicPeriod" startAt="3"/>
            </a:pPr>
            <a:r>
              <a:rPr lang="en-US" sz="1400" b="1" dirty="0">
                <a:solidFill>
                  <a:srgbClr val="000000"/>
                </a:solidFill>
                <a:latin typeface="Inter" pitchFamily="34" charset="0"/>
                <a:ea typeface="Inter" pitchFamily="34" charset="-122"/>
                <a:cs typeface="Inter" pitchFamily="34" charset="-120"/>
              </a:rPr>
              <a:t>Ban Giám đốc</a:t>
            </a:r>
            <a:pPr algn="l" indent="0" marL="0">
              <a:lnSpc>
                <a:spcPts val="2100"/>
              </a:lnSpc>
              <a:buNone/>
            </a:pPr>
            <a:r>
              <a:rPr lang="en-US" sz="1400" dirty="0">
                <a:solidFill>
                  <a:srgbClr val="000000"/>
                </a:solidFill>
                <a:latin typeface="Inter" pitchFamily="34" charset="0"/>
                <a:ea typeface="Inter" pitchFamily="34" charset="-122"/>
                <a:cs typeface="Inter" pitchFamily="34" charset="-120"/>
              </a:rPr>
              <a:t> duyệt chi phí mua sắm trực tiếp trên điện thoại.</a:t>
            </a:r>
            <a:endParaRPr lang="en-US" sz="1400" dirty="0"/>
          </a:p>
          <a:p>
            <a:pPr algn="l" marL="342900" indent="-342900">
              <a:lnSpc>
                <a:spcPts val="2100"/>
              </a:lnSpc>
              <a:buSzPct val="100000"/>
              <a:buFont typeface="+mj-lt"/>
              <a:buAutoNum type="arabicPeriod" startAt="4"/>
            </a:pPr>
            <a:r>
              <a:rPr lang="en-US" sz="1400" b="1" dirty="0">
                <a:solidFill>
                  <a:srgbClr val="000000"/>
                </a:solidFill>
                <a:latin typeface="Inter" pitchFamily="34" charset="0"/>
                <a:ea typeface="Inter" pitchFamily="34" charset="-122"/>
                <a:cs typeface="Inter" pitchFamily="34" charset="-120"/>
              </a:rPr>
              <a:t>Phòng Vật tư</a:t>
            </a:r>
            <a:pPr algn="l" indent="0" marL="0">
              <a:lnSpc>
                <a:spcPts val="2100"/>
              </a:lnSpc>
              <a:buNone/>
            </a:pPr>
            <a:r>
              <a:rPr lang="en-US" sz="1400" dirty="0">
                <a:solidFill>
                  <a:srgbClr val="000000"/>
                </a:solidFill>
                <a:latin typeface="Inter" pitchFamily="34" charset="0"/>
                <a:ea typeface="Inter" pitchFamily="34" charset="-122"/>
                <a:cs typeface="Inter" pitchFamily="34" charset="-120"/>
              </a:rPr>
              <a:t> đi khảo giá, nhập liệu nhà cung cấp và cập nhật trạng thái.</a:t>
            </a:r>
            <a:endParaRPr lang="en-US" sz="1400" dirty="0"/>
          </a:p>
          <a:p>
            <a:pPr algn="l" marL="342900" indent="-342900">
              <a:lnSpc>
                <a:spcPts val="2100"/>
              </a:lnSpc>
              <a:buSzPct val="100000"/>
              <a:buFont typeface="+mj-lt"/>
              <a:buAutoNum type="arabicPeriod" startAt="5"/>
            </a:pPr>
            <a:r>
              <a:rPr lang="en-US" sz="1400" b="1" dirty="0">
                <a:solidFill>
                  <a:srgbClr val="000000"/>
                </a:solidFill>
                <a:latin typeface="Inter" pitchFamily="34" charset="0"/>
                <a:ea typeface="Inter" pitchFamily="34" charset="-122"/>
                <a:cs typeface="Inter" pitchFamily="34" charset="-120"/>
              </a:rPr>
              <a:t>Hệ thống Kho</a:t>
            </a:r>
            <a:pPr algn="l" indent="0" marL="0">
              <a:lnSpc>
                <a:spcPts val="2100"/>
              </a:lnSpc>
              <a:buNone/>
            </a:pPr>
            <a:r>
              <a:rPr lang="en-US" sz="1400" dirty="0">
                <a:solidFill>
                  <a:srgbClr val="000000"/>
                </a:solidFill>
                <a:latin typeface="Inter" pitchFamily="34" charset="0"/>
                <a:ea typeface="Inter" pitchFamily="34" charset="-122"/>
                <a:cs typeface="Inter" pitchFamily="34" charset="-120"/>
              </a:rPr>
              <a:t> (Kho 1, 2, 3) tự động cập nhật trạng thái nhập hàng.</a:t>
            </a:r>
            <a:endParaRPr lang="en-US" sz="1400" dirty="0"/>
          </a:p>
        </p:txBody>
      </p:sp>
      <p:sp>
        <p:nvSpPr>
          <p:cNvPr id="12" name="Text 10"/>
          <p:cNvSpPr/>
          <p:nvPr/>
        </p:nvSpPr>
        <p:spPr>
          <a:xfrm>
            <a:off x="7590711" y="6041231"/>
            <a:ext cx="6203513" cy="542925"/>
          </a:xfrm>
          <a:prstGeom prst="rect">
            <a:avLst/>
          </a:prstGeom>
          <a:noFill/>
          <a:ln/>
        </p:spPr>
        <p:txBody>
          <a:bodyPr wrap="square" lIns="0" tIns="0" rIns="0" bIns="0" rtlCol="0" anchor="t"/>
          <a:lstStyle/>
          <a:p>
            <a:pPr algn="l" indent="0" marL="0">
              <a:lnSpc>
                <a:spcPts val="2100"/>
              </a:lnSpc>
              <a:buNone/>
            </a:pPr>
            <a:r>
              <a:rPr lang="en-US" sz="1400" dirty="0">
                <a:solidFill>
                  <a:srgbClr val="000000"/>
                </a:solidFill>
                <a:latin typeface="Inter" pitchFamily="34" charset="0"/>
                <a:ea typeface="Inter" pitchFamily="34" charset="-122"/>
                <a:cs typeface="Inter" pitchFamily="34" charset="-120"/>
              </a:rPr>
              <a:t>Lưu vết chính xác: </a:t>
            </a:r>
            <a:pPr algn="l" indent="0" marL="0">
              <a:lnSpc>
                <a:spcPts val="2100"/>
              </a:lnSpc>
              <a:buNone/>
            </a:pPr>
            <a:r>
              <a:rPr lang="en-US" sz="1400" b="1" dirty="0">
                <a:solidFill>
                  <a:srgbClr val="000000"/>
                </a:solidFill>
                <a:latin typeface="Inter" pitchFamily="34" charset="0"/>
                <a:ea typeface="Inter" pitchFamily="34" charset="-122"/>
                <a:cs typeface="Inter" pitchFamily="34" charset="-120"/>
              </a:rPr>
              <a:t>ai duyệt, lúc mấy giờ, trên thiết bị nào</a:t>
            </a:r>
            <a:pPr algn="l" indent="0" marL="0">
              <a:lnSpc>
                <a:spcPts val="2100"/>
              </a:lnSpc>
              <a:buNone/>
            </a:pPr>
            <a:r>
              <a:rPr lang="en-US" sz="1400" dirty="0">
                <a:solidFill>
                  <a:srgbClr val="000000"/>
                </a:solidFill>
                <a:latin typeface="Inter" pitchFamily="34" charset="0"/>
                <a:ea typeface="Inter" pitchFamily="34" charset="-122"/>
                <a:cs typeface="Inter" pitchFamily="34" charset="-120"/>
              </a:rPr>
              <a:t> — không thể chối bỏ trách nhiệm.</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93790" y="1255752"/>
            <a:ext cx="11354752" cy="682228"/>
          </a:xfrm>
          <a:prstGeom prst="rect">
            <a:avLst/>
          </a:prstGeom>
          <a:noFill/>
          <a:ln/>
        </p:spPr>
        <p:txBody>
          <a:bodyPr wrap="none" lIns="0" tIns="0" rIns="0" bIns="0" rtlCol="0" anchor="t"/>
          <a:lstStyle/>
          <a:p>
            <a:pPr algn="l" indent="0" marL="0">
              <a:lnSpc>
                <a:spcPts val="5350"/>
              </a:lnSpc>
              <a:buNone/>
            </a:pPr>
            <a:r>
              <a:rPr lang="en-US" sz="4250" b="1" dirty="0">
                <a:solidFill>
                  <a:srgbClr val="F95F88"/>
                </a:solidFill>
                <a:latin typeface="Petrona Bold" pitchFamily="34" charset="0"/>
                <a:ea typeface="Petrona Bold" pitchFamily="34" charset="-122"/>
                <a:cs typeface="Petrona Bold" pitchFamily="34" charset="-120"/>
              </a:rPr>
              <a:t>Module Lắp Đặt Công Trình &amp; Giám Sát Từ Xa</a:t>
            </a:r>
            <a:endParaRPr lang="en-US" sz="4250" dirty="0"/>
          </a:p>
        </p:txBody>
      </p:sp>
      <p:sp>
        <p:nvSpPr>
          <p:cNvPr id="3" name="Text 1"/>
          <p:cNvSpPr/>
          <p:nvPr/>
        </p:nvSpPr>
        <p:spPr>
          <a:xfrm>
            <a:off x="793790" y="2017276"/>
            <a:ext cx="8947309" cy="341114"/>
          </a:xfrm>
          <a:prstGeom prst="rect">
            <a:avLst/>
          </a:prstGeom>
          <a:noFill/>
          <a:ln/>
        </p:spPr>
        <p:txBody>
          <a:bodyPr wrap="none" lIns="0" tIns="0" rIns="0" bIns="0" rtlCol="0" anchor="t"/>
          <a:lstStyle/>
          <a:p>
            <a:pPr algn="l" indent="0" marL="0">
              <a:lnSpc>
                <a:spcPts val="2650"/>
              </a:lnSpc>
              <a:buNone/>
            </a:pPr>
            <a:r>
              <a:rPr lang="en-US" sz="2100" b="1" dirty="0">
                <a:solidFill>
                  <a:srgbClr val="F95F88"/>
                </a:solidFill>
                <a:latin typeface="Petrona Bold" pitchFamily="34" charset="0"/>
                <a:ea typeface="Petrona Bold" pitchFamily="34" charset="-122"/>
                <a:cs typeface="Petrona Bold" pitchFamily="34" charset="-120"/>
              </a:rPr>
              <a:t>Từ "mù" thông tin công trường → Kiểm soát toàn diện theo thời gian thực</a:t>
            </a:r>
            <a:endParaRPr lang="en-US" sz="2100" dirty="0"/>
          </a:p>
        </p:txBody>
      </p:sp>
      <p:pic>
        <p:nvPicPr>
          <p:cNvPr id="4" name="Image 0" descr="preencoded.png">    </p:cNvPr>
          <p:cNvPicPr>
            <a:picLocks noChangeAspect="1"/>
          </p:cNvPicPr>
          <p:nvPr/>
        </p:nvPicPr>
        <p:blipFill>
          <a:blip r:embed="rId1"/>
          <a:stretch>
            <a:fillRect/>
          </a:stretch>
        </p:blipFill>
        <p:spPr>
          <a:xfrm>
            <a:off x="793790" y="2656046"/>
            <a:ext cx="919996" cy="919996"/>
          </a:xfrm>
          <a:prstGeom prst="rect">
            <a:avLst/>
          </a:prstGeom>
        </p:spPr>
      </p:pic>
      <p:sp>
        <p:nvSpPr>
          <p:cNvPr id="5" name="Text 2"/>
          <p:cNvSpPr/>
          <p:nvPr/>
        </p:nvSpPr>
        <p:spPr>
          <a:xfrm>
            <a:off x="1961793" y="2656046"/>
            <a:ext cx="3014186" cy="682228"/>
          </a:xfrm>
          <a:prstGeom prst="rect">
            <a:avLst/>
          </a:prstGeom>
          <a:noFill/>
          <a:ln/>
        </p:spPr>
        <p:txBody>
          <a:bodyPr wrap="square" lIns="0" tIns="0" rIns="0" bIns="0" rtlCol="0" anchor="t"/>
          <a:lstStyle/>
          <a:p>
            <a:pPr algn="l" indent="0" marL="0">
              <a:lnSpc>
                <a:spcPts val="2650"/>
              </a:lnSpc>
              <a:buNone/>
            </a:pPr>
            <a:r>
              <a:rPr lang="en-US" sz="2100" b="1" dirty="0">
                <a:solidFill>
                  <a:srgbClr val="272525"/>
                </a:solidFill>
                <a:latin typeface="Petrona Bold" pitchFamily="34" charset="0"/>
                <a:ea typeface="Petrona Bold" pitchFamily="34" charset="-122"/>
                <a:cs typeface="Petrona Bold" pitchFamily="34" charset="-120"/>
              </a:rPr>
              <a:t>GPS Check-in / Check-out</a:t>
            </a:r>
            <a:endParaRPr lang="en-US" sz="2100" dirty="0"/>
          </a:p>
        </p:txBody>
      </p:sp>
      <p:sp>
        <p:nvSpPr>
          <p:cNvPr id="6" name="Text 3"/>
          <p:cNvSpPr/>
          <p:nvPr/>
        </p:nvSpPr>
        <p:spPr>
          <a:xfrm>
            <a:off x="1961793" y="3457337"/>
            <a:ext cx="3014186" cy="2857857"/>
          </a:xfrm>
          <a:prstGeom prst="rect">
            <a:avLst/>
          </a:prstGeom>
          <a:noFill/>
          <a:ln/>
        </p:spPr>
        <p:txBody>
          <a:bodyPr wrap="square" lIns="0" tIns="0" rIns="0" bIns="0" rtlCol="0" anchor="t"/>
          <a:lstStyle/>
          <a:p>
            <a:pPr algn="l" indent="0" marL="0">
              <a:lnSpc>
                <a:spcPts val="2500"/>
              </a:lnSpc>
              <a:buNone/>
            </a:pPr>
            <a:r>
              <a:rPr lang="en-US" sz="1550" dirty="0">
                <a:solidFill>
                  <a:srgbClr val="272525"/>
                </a:solidFill>
                <a:latin typeface="Inter" pitchFamily="34" charset="0"/>
                <a:ea typeface="Inter" pitchFamily="34" charset="-122"/>
                <a:cs typeface="Inter" pitchFamily="34" charset="-120"/>
              </a:rPr>
              <a:t>Thợ bắt buộc Check-in tại tọa độ GPS của công trường khi bắt đầu và kết thúc ca làm việc. Hệ thống ghi nhận chính xác </a:t>
            </a:r>
            <a:pPr algn="l" indent="0" marL="0">
              <a:lnSpc>
                <a:spcPts val="2500"/>
              </a:lnSpc>
              <a:buNone/>
            </a:pPr>
            <a:r>
              <a:rPr lang="en-US" sz="1550" b="1" dirty="0">
                <a:solidFill>
                  <a:srgbClr val="272525"/>
                </a:solidFill>
                <a:latin typeface="Inter" pitchFamily="34" charset="0"/>
                <a:ea typeface="Inter" pitchFamily="34" charset="-122"/>
                <a:cs typeface="Inter" pitchFamily="34" charset="-120"/>
              </a:rPr>
              <a:t>thời gian thực tế có mặt</a:t>
            </a:r>
            <a:pPr algn="l" indent="0" marL="0">
              <a:lnSpc>
                <a:spcPts val="2500"/>
              </a:lnSpc>
              <a:buNone/>
            </a:pPr>
            <a:r>
              <a:rPr lang="en-US" sz="1550" dirty="0">
                <a:solidFill>
                  <a:srgbClr val="272525"/>
                </a:solidFill>
                <a:latin typeface="Inter" pitchFamily="34" charset="0"/>
                <a:ea typeface="Inter" pitchFamily="34" charset="-122"/>
                <a:cs typeface="Inter" pitchFamily="34" charset="-120"/>
              </a:rPr>
              <a:t> tại công trường — loại bỏ tình trạng đi trễ về sớm không ai hay. Dữ liệu được lưu trữ làm căn cứ tính lương và đánh giá kỷ luật.</a:t>
            </a:r>
            <a:endParaRPr lang="en-US" sz="1550" dirty="0"/>
          </a:p>
        </p:txBody>
      </p:sp>
      <p:pic>
        <p:nvPicPr>
          <p:cNvPr id="7" name="Image 1" descr="preencoded.png">    </p:cNvPr>
          <p:cNvPicPr>
            <a:picLocks noChangeAspect="1"/>
          </p:cNvPicPr>
          <p:nvPr/>
        </p:nvPicPr>
        <p:blipFill>
          <a:blip r:embed="rId2"/>
          <a:stretch>
            <a:fillRect/>
          </a:stretch>
        </p:blipFill>
        <p:spPr>
          <a:xfrm>
            <a:off x="5223986" y="2656046"/>
            <a:ext cx="919996" cy="919996"/>
          </a:xfrm>
          <a:prstGeom prst="rect">
            <a:avLst/>
          </a:prstGeom>
        </p:spPr>
      </p:pic>
      <p:sp>
        <p:nvSpPr>
          <p:cNvPr id="8" name="Text 4"/>
          <p:cNvSpPr/>
          <p:nvPr/>
        </p:nvSpPr>
        <p:spPr>
          <a:xfrm>
            <a:off x="6391989" y="2656046"/>
            <a:ext cx="3014305" cy="1023342"/>
          </a:xfrm>
          <a:prstGeom prst="rect">
            <a:avLst/>
          </a:prstGeom>
          <a:noFill/>
          <a:ln/>
        </p:spPr>
        <p:txBody>
          <a:bodyPr wrap="square" lIns="0" tIns="0" rIns="0" bIns="0" rtlCol="0" anchor="t"/>
          <a:lstStyle/>
          <a:p>
            <a:pPr algn="l" indent="0" marL="0">
              <a:lnSpc>
                <a:spcPts val="2650"/>
              </a:lnSpc>
              <a:buNone/>
            </a:pPr>
            <a:r>
              <a:rPr lang="en-US" sz="2100" b="1" dirty="0">
                <a:solidFill>
                  <a:srgbClr val="272525"/>
                </a:solidFill>
                <a:latin typeface="Petrona Bold" pitchFamily="34" charset="0"/>
                <a:ea typeface="Petrona Bold" pitchFamily="34" charset="-122"/>
                <a:cs typeface="Petrona Bold" pitchFamily="34" charset="-120"/>
              </a:rPr>
              <a:t>Daily Proof Report — Bằng chứng ảnh hàng ngày</a:t>
            </a:r>
            <a:endParaRPr lang="en-US" sz="2100" dirty="0"/>
          </a:p>
        </p:txBody>
      </p:sp>
      <p:sp>
        <p:nvSpPr>
          <p:cNvPr id="9" name="Text 5"/>
          <p:cNvSpPr/>
          <p:nvPr/>
        </p:nvSpPr>
        <p:spPr>
          <a:xfrm>
            <a:off x="6391989" y="3798451"/>
            <a:ext cx="3014305" cy="3175397"/>
          </a:xfrm>
          <a:prstGeom prst="rect">
            <a:avLst/>
          </a:prstGeom>
          <a:noFill/>
          <a:ln/>
        </p:spPr>
        <p:txBody>
          <a:bodyPr wrap="square" lIns="0" tIns="0" rIns="0" bIns="0" rtlCol="0" anchor="t"/>
          <a:lstStyle/>
          <a:p>
            <a:pPr algn="l" indent="0" marL="0">
              <a:lnSpc>
                <a:spcPts val="2500"/>
              </a:lnSpc>
              <a:buNone/>
            </a:pPr>
            <a:r>
              <a:rPr lang="en-US" sz="1550" dirty="0">
                <a:solidFill>
                  <a:srgbClr val="272525"/>
                </a:solidFill>
                <a:latin typeface="Inter" pitchFamily="34" charset="0"/>
                <a:ea typeface="Inter" pitchFamily="34" charset="-122"/>
                <a:cs typeface="Inter" pitchFamily="34" charset="-120"/>
              </a:rPr>
              <a:t>Cuối mỗi ngày làm việc, thợ bắt buộc chụp ảnh tiến độ thực tế và nộp qua App. Ban Giám đốc có thể xem toàn bộ ảnh nghiệm thu của tất cả công trường tại bất kỳ thời điểm nào — ngay trên điện thoại, dù đang ở văn phòng hay đang đi công tác. Ảnh được gắn timestamp và tọa độ GPS để chống làm giả.</a:t>
            </a:r>
            <a:endParaRPr lang="en-US" sz="1550" dirty="0"/>
          </a:p>
        </p:txBody>
      </p:sp>
      <p:pic>
        <p:nvPicPr>
          <p:cNvPr id="10" name="Image 2" descr="preencoded.png">    </p:cNvPr>
          <p:cNvPicPr>
            <a:picLocks noChangeAspect="1"/>
          </p:cNvPicPr>
          <p:nvPr/>
        </p:nvPicPr>
        <p:blipFill>
          <a:blip r:embed="rId3"/>
          <a:stretch>
            <a:fillRect/>
          </a:stretch>
        </p:blipFill>
        <p:spPr>
          <a:xfrm>
            <a:off x="9654302" y="2656046"/>
            <a:ext cx="919996" cy="919996"/>
          </a:xfrm>
          <a:prstGeom prst="rect">
            <a:avLst/>
          </a:prstGeom>
        </p:spPr>
      </p:pic>
      <p:sp>
        <p:nvSpPr>
          <p:cNvPr id="11" name="Text 6"/>
          <p:cNvSpPr/>
          <p:nvPr/>
        </p:nvSpPr>
        <p:spPr>
          <a:xfrm>
            <a:off x="10822305" y="2656046"/>
            <a:ext cx="3014305" cy="682228"/>
          </a:xfrm>
          <a:prstGeom prst="rect">
            <a:avLst/>
          </a:prstGeom>
          <a:noFill/>
          <a:ln/>
        </p:spPr>
        <p:txBody>
          <a:bodyPr wrap="square" lIns="0" tIns="0" rIns="0" bIns="0" rtlCol="0" anchor="t"/>
          <a:lstStyle/>
          <a:p>
            <a:pPr algn="l" indent="0" marL="0">
              <a:lnSpc>
                <a:spcPts val="2650"/>
              </a:lnSpc>
              <a:buNone/>
            </a:pPr>
            <a:r>
              <a:rPr lang="en-US" sz="2100" b="1" dirty="0">
                <a:solidFill>
                  <a:srgbClr val="272525"/>
                </a:solidFill>
                <a:latin typeface="Petrona Bold" pitchFamily="34" charset="0"/>
                <a:ea typeface="Petrona Bold" pitchFamily="34" charset="-122"/>
                <a:cs typeface="Petrona Bold" pitchFamily="34" charset="-120"/>
              </a:rPr>
              <a:t>Dependency Lock — Khóa phụ thuộc thứ tự</a:t>
            </a:r>
            <a:endParaRPr lang="en-US" sz="2100" dirty="0"/>
          </a:p>
        </p:txBody>
      </p:sp>
      <p:sp>
        <p:nvSpPr>
          <p:cNvPr id="12" name="Text 7"/>
          <p:cNvSpPr/>
          <p:nvPr/>
        </p:nvSpPr>
        <p:spPr>
          <a:xfrm>
            <a:off x="10822305" y="3457337"/>
            <a:ext cx="3014305" cy="3492937"/>
          </a:xfrm>
          <a:prstGeom prst="rect">
            <a:avLst/>
          </a:prstGeom>
          <a:noFill/>
          <a:ln/>
        </p:spPr>
        <p:txBody>
          <a:bodyPr wrap="square" lIns="0" tIns="0" rIns="0" bIns="0" rtlCol="0" anchor="t"/>
          <a:lstStyle/>
          <a:p>
            <a:pPr algn="l" indent="0" marL="0">
              <a:lnSpc>
                <a:spcPts val="2500"/>
              </a:lnSpc>
              <a:buNone/>
            </a:pPr>
            <a:r>
              <a:rPr lang="en-US" sz="1550" dirty="0">
                <a:solidFill>
                  <a:srgbClr val="272525"/>
                </a:solidFill>
                <a:latin typeface="Inter" pitchFamily="34" charset="0"/>
                <a:ea typeface="Inter" pitchFamily="34" charset="-122"/>
                <a:cs typeface="Inter" pitchFamily="34" charset="-120"/>
              </a:rPr>
              <a:t>Đây là tính năng đột phá giải quyết bài toán </a:t>
            </a:r>
            <a:pPr algn="l" indent="0" marL="0">
              <a:lnSpc>
                <a:spcPts val="2500"/>
              </a:lnSpc>
              <a:buNone/>
            </a:pPr>
            <a:r>
              <a:rPr lang="en-US" sz="1550" b="1" dirty="0">
                <a:solidFill>
                  <a:srgbClr val="272525"/>
                </a:solidFill>
                <a:latin typeface="Inter" pitchFamily="34" charset="0"/>
                <a:ea typeface="Inter" pitchFamily="34" charset="-122"/>
                <a:cs typeface="Inter" pitchFamily="34" charset="-120"/>
              </a:rPr>
              <a:t>"Thợ B vác đồ xuống rồi mới biết Thợ A chưa xong"</a:t>
            </a:r>
            <a:pPr algn="l" indent="0" marL="0">
              <a:lnSpc>
                <a:spcPts val="2500"/>
              </a:lnSpc>
              <a:buNone/>
            </a:pPr>
            <a:r>
              <a:rPr lang="en-US" sz="1550" dirty="0">
                <a:solidFill>
                  <a:srgbClr val="272525"/>
                </a:solidFill>
                <a:latin typeface="Inter" pitchFamily="34" charset="0"/>
                <a:ea typeface="Inter" pitchFamily="34" charset="-122"/>
                <a:cs typeface="Inter" pitchFamily="34" charset="-120"/>
              </a:rPr>
              <a:t>. App của đội tiếp theo sẽ tự động khóa nút "Bắt đầu" nếu đội tiền đề chưa nộp đủ bằng chứng hoàn thành. Không thể bắt đầu khâu sau khi khâu trước chưa được nghiệm thu — loại bỏ lãng phí đi lại và thời gian chờ đợi vô ích tại công trường.</a:t>
            </a:r>
            <a:endParaRPr lang="en-US" sz="15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93790" y="1464469"/>
            <a:ext cx="4886087" cy="545663"/>
          </a:xfrm>
          <a:prstGeom prst="rect">
            <a:avLst/>
          </a:prstGeom>
          <a:noFill/>
          <a:ln/>
        </p:spPr>
        <p:txBody>
          <a:bodyPr wrap="none" lIns="0" tIns="0" rIns="0" bIns="0" rtlCol="0" anchor="t"/>
          <a:lstStyle/>
          <a:p>
            <a:pPr algn="l" indent="0" marL="0">
              <a:lnSpc>
                <a:spcPts val="4250"/>
              </a:lnSpc>
              <a:buNone/>
            </a:pPr>
            <a:r>
              <a:rPr lang="en-US" sz="3400" b="1" dirty="0">
                <a:solidFill>
                  <a:srgbClr val="F95F88"/>
                </a:solidFill>
                <a:latin typeface="Petrona Bold" pitchFamily="34" charset="0"/>
                <a:ea typeface="Petrona Bold" pitchFamily="34" charset="-122"/>
                <a:cs typeface="Petrona Bold" pitchFamily="34" charset="-120"/>
              </a:rPr>
              <a:t>Đột Phá Công Nghệ 1 &amp; 2</a:t>
            </a:r>
            <a:endParaRPr lang="en-US" sz="3400" dirty="0"/>
          </a:p>
        </p:txBody>
      </p:sp>
      <p:sp>
        <p:nvSpPr>
          <p:cNvPr id="3" name="Text 1"/>
          <p:cNvSpPr/>
          <p:nvPr/>
        </p:nvSpPr>
        <p:spPr>
          <a:xfrm>
            <a:off x="793790" y="2060853"/>
            <a:ext cx="7886224" cy="272891"/>
          </a:xfrm>
          <a:prstGeom prst="rect">
            <a:avLst/>
          </a:prstGeom>
          <a:noFill/>
          <a:ln/>
        </p:spPr>
        <p:txBody>
          <a:bodyPr wrap="none" lIns="0" tIns="0" rIns="0" bIns="0" rtlCol="0" anchor="t"/>
          <a:lstStyle/>
          <a:p>
            <a:pPr algn="l" indent="0" marL="0">
              <a:lnSpc>
                <a:spcPts val="2100"/>
              </a:lnSpc>
              <a:buNone/>
            </a:pPr>
            <a:r>
              <a:rPr lang="en-US" sz="1700" b="1" dirty="0">
                <a:solidFill>
                  <a:srgbClr val="F95F88"/>
                </a:solidFill>
                <a:latin typeface="Petrona Bold" pitchFamily="34" charset="0"/>
                <a:ea typeface="Petrona Bold" pitchFamily="34" charset="-122"/>
                <a:cs typeface="Petrona Bold" pitchFamily="34" charset="-120"/>
              </a:rPr>
              <a:t>Quản trị "Tiến độ Thực" với Trọng số &amp; Tự động hóa Timeline Gantt với Cascade</a:t>
            </a:r>
            <a:endParaRPr lang="en-US" sz="1700" dirty="0"/>
          </a:p>
        </p:txBody>
      </p:sp>
      <p:sp>
        <p:nvSpPr>
          <p:cNvPr id="4" name="Shape 2"/>
          <p:cNvSpPr/>
          <p:nvPr/>
        </p:nvSpPr>
        <p:spPr>
          <a:xfrm>
            <a:off x="679490" y="2524244"/>
            <a:ext cx="6556415" cy="4240887"/>
          </a:xfrm>
          <a:prstGeom prst="roundRect">
            <a:avLst>
              <a:gd name="adj" fmla="val 2696"/>
            </a:avLst>
          </a:prstGeom>
          <a:solidFill>
            <a:srgbClr val="D75BE2"/>
          </a:solidFill>
          <a:ln/>
        </p:spPr>
      </p:sp>
      <p:sp>
        <p:nvSpPr>
          <p:cNvPr id="5" name="Text 3"/>
          <p:cNvSpPr/>
          <p:nvPr/>
        </p:nvSpPr>
        <p:spPr>
          <a:xfrm>
            <a:off x="838200" y="2651165"/>
            <a:ext cx="4622244" cy="280511"/>
          </a:xfrm>
          <a:prstGeom prst="rect">
            <a:avLst/>
          </a:prstGeom>
          <a:noFill/>
          <a:ln/>
        </p:spPr>
        <p:txBody>
          <a:bodyPr wrap="none" lIns="0" tIns="0" rIns="0" bIns="0" rtlCol="0" anchor="t"/>
          <a:lstStyle/>
          <a:p>
            <a:pPr algn="l" indent="0" marL="0">
              <a:lnSpc>
                <a:spcPts val="2100"/>
              </a:lnSpc>
              <a:buNone/>
            </a:pPr>
            <a:r>
              <a:rPr lang="en-US" sz="1700" b="1" dirty="0">
                <a:solidFill>
                  <a:srgbClr val="000000"/>
                </a:solidFill>
                <a:latin typeface="Petrona Bold" pitchFamily="34" charset="0"/>
                <a:ea typeface="Petrona Bold" pitchFamily="34" charset="-122"/>
                <a:cs typeface="Petrona Bold" pitchFamily="34" charset="-120"/>
              </a:rPr>
              <a:t>⚖️</a:t>
            </a:r>
            <a:pPr algn="l" indent="0" marL="0">
              <a:lnSpc>
                <a:spcPts val="2100"/>
              </a:lnSpc>
              <a:buNone/>
            </a:pPr>
            <a:r>
              <a:rPr lang="en-US" sz="1700" b="1" dirty="0">
                <a:solidFill>
                  <a:srgbClr val="000000"/>
                </a:solidFill>
                <a:latin typeface="Petrona Bold" pitchFamily="34" charset="0"/>
                <a:ea typeface="Petrona Bold" pitchFamily="34" charset="-122"/>
                <a:cs typeface="Petrona Bold" pitchFamily="34" charset="-120"/>
              </a:rPr>
              <a:t> Weighted Progress — Tiến độ theo Trọng số</a:t>
            </a:r>
            <a:endParaRPr lang="en-US" sz="1700" dirty="0"/>
          </a:p>
        </p:txBody>
      </p:sp>
      <p:sp>
        <p:nvSpPr>
          <p:cNvPr id="6" name="Text 4"/>
          <p:cNvSpPr/>
          <p:nvPr/>
        </p:nvSpPr>
        <p:spPr>
          <a:xfrm>
            <a:off x="838200" y="3058597"/>
            <a:ext cx="6238994" cy="457200"/>
          </a:xfrm>
          <a:prstGeom prst="rect">
            <a:avLst/>
          </a:prstGeom>
          <a:noFill/>
          <a:ln/>
        </p:spPr>
        <p:txBody>
          <a:bodyPr wrap="square" lIns="0" tIns="0" rIns="0" bIns="0" rtlCol="0" anchor="t"/>
          <a:lstStyle/>
          <a:p>
            <a:pPr algn="l" indent="0" marL="0">
              <a:lnSpc>
                <a:spcPts val="1800"/>
              </a:lnSpc>
              <a:buNone/>
            </a:pPr>
            <a:r>
              <a:rPr lang="en-US" sz="1250" b="1" dirty="0">
                <a:solidFill>
                  <a:srgbClr val="000000"/>
                </a:solidFill>
                <a:latin typeface="Inter" pitchFamily="34" charset="0"/>
                <a:ea typeface="Inter" pitchFamily="34" charset="-122"/>
                <a:cs typeface="Inter" pitchFamily="34" charset="-120"/>
              </a:rPr>
              <a:t>Nỗi đau:</a:t>
            </a:r>
            <a:pPr algn="l" indent="0" marL="0">
              <a:lnSpc>
                <a:spcPts val="1800"/>
              </a:lnSpc>
              <a:buNone/>
            </a:pPr>
            <a:r>
              <a:rPr lang="en-US" sz="1250" dirty="0">
                <a:solidFill>
                  <a:srgbClr val="000000"/>
                </a:solidFill>
                <a:latin typeface="Inter" pitchFamily="34" charset="0"/>
                <a:ea typeface="Inter" pitchFamily="34" charset="-122"/>
                <a:cs typeface="Inter" pitchFamily="34" charset="-120"/>
              </a:rPr>
              <a:t> Báo cáo 80% nhưng toàn là việc lặt vặt — phần khung xương chính vẫn chưa đụng đến.</a:t>
            </a:r>
            <a:endParaRPr lang="en-US" sz="1250" dirty="0"/>
          </a:p>
        </p:txBody>
      </p:sp>
      <p:sp>
        <p:nvSpPr>
          <p:cNvPr id="7" name="Text 5"/>
          <p:cNvSpPr/>
          <p:nvPr/>
        </p:nvSpPr>
        <p:spPr>
          <a:xfrm>
            <a:off x="838200" y="3630097"/>
            <a:ext cx="6238994" cy="685800"/>
          </a:xfrm>
          <a:prstGeom prst="rect">
            <a:avLst/>
          </a:prstGeom>
          <a:noFill/>
          <a:ln/>
        </p:spPr>
        <p:txBody>
          <a:bodyPr wrap="square" lIns="0" tIns="0" rIns="0" bIns="0" rtlCol="0" anchor="t"/>
          <a:lstStyle/>
          <a:p>
            <a:pPr algn="l" indent="0" marL="0">
              <a:lnSpc>
                <a:spcPts val="1800"/>
              </a:lnSpc>
              <a:buNone/>
            </a:pPr>
            <a:r>
              <a:rPr lang="en-US" sz="1250" dirty="0">
                <a:solidFill>
                  <a:srgbClr val="000000"/>
                </a:solidFill>
                <a:latin typeface="Inter" pitchFamily="34" charset="0"/>
                <a:ea typeface="Inter" pitchFamily="34" charset="-122"/>
                <a:cs typeface="Inter" pitchFamily="34" charset="-120"/>
              </a:rPr>
              <a:t>Hệ thống phân rã dự án thành </a:t>
            </a:r>
            <a:pPr algn="l" indent="0" marL="0">
              <a:lnSpc>
                <a:spcPts val="1800"/>
              </a:lnSpc>
              <a:buNone/>
            </a:pPr>
            <a:r>
              <a:rPr lang="en-US" sz="1250" b="1" dirty="0">
                <a:solidFill>
                  <a:srgbClr val="000000"/>
                </a:solidFill>
                <a:latin typeface="Inter" pitchFamily="34" charset="0"/>
                <a:ea typeface="Inter" pitchFamily="34" charset="-122"/>
                <a:cs typeface="Inter" pitchFamily="34" charset="-120"/>
              </a:rPr>
              <a:t>3 cấp độ</a:t>
            </a:r>
            <a:pPr algn="l" indent="0" marL="0">
              <a:lnSpc>
                <a:spcPts val="1800"/>
              </a:lnSpc>
              <a:buNone/>
            </a:pPr>
            <a:r>
              <a:rPr lang="en-US" sz="1250" dirty="0">
                <a:solidFill>
                  <a:srgbClr val="000000"/>
                </a:solidFill>
                <a:latin typeface="Inter" pitchFamily="34" charset="0"/>
                <a:ea typeface="Inter" pitchFamily="34" charset="-122"/>
                <a:cs typeface="Inter" pitchFamily="34" charset="-120"/>
              </a:rPr>
              <a:t>: Task Tổng → Task Con → Task Cháu. Mỗi nhánh được gán trọng số phần trăm phản ánh giá trị vật lý thực tế. Tiến độ được tính theo công thức cộng dồn từ dưới lên (bottom-up):</a:t>
            </a:r>
            <a:endParaRPr lang="en-US" sz="1250" dirty="0"/>
          </a:p>
        </p:txBody>
      </p:sp>
      <p:sp>
        <p:nvSpPr>
          <p:cNvPr id="8" name="Text 6"/>
          <p:cNvSpPr/>
          <p:nvPr/>
        </p:nvSpPr>
        <p:spPr>
          <a:xfrm>
            <a:off x="838200" y="4476631"/>
            <a:ext cx="6238994" cy="503039"/>
          </a:xfrm>
          <a:prstGeom prst="rect">
            <a:avLst/>
          </a:prstGeom>
          <a:noFill/>
          <a:ln/>
        </p:spPr>
        <p:txBody>
          <a:bodyPr wrap="square" lIns="0" tIns="0" rIns="0" bIns="0" rtlCol="0" anchor="t"/>
          <a:lstStyle/>
          <a:p>
            <a:pPr algn="l" indent="0" marL="0">
              <a:lnSpc>
                <a:spcPts val="2000"/>
              </a:lnSpc>
              <a:buNone/>
            </a:pPr>
            <a:endParaRPr lang="en-US" sz="1400" dirty="0"/>
          </a:p>
        </p:txBody>
      </p:sp>
      <p:pic>
        <p:nvPicPr>
          <p:cNvPr id="9" name="Image 0" descr="preencoded.png">    </p:cNvPr>
          <p:cNvPicPr>
            <a:picLocks noChangeAspect="1"/>
          </p:cNvPicPr>
          <p:nvPr/>
        </p:nvPicPr>
        <p:blipFill>
          <a:blip r:embed="rId1"/>
          <a:stretch>
            <a:fillRect/>
          </a:stretch>
        </p:blipFill>
        <p:spPr>
          <a:xfrm>
            <a:off x="838200" y="4476631"/>
            <a:ext cx="6238994" cy="503039"/>
          </a:xfrm>
          <a:prstGeom prst="rect">
            <a:avLst/>
          </a:prstGeom>
        </p:spPr>
      </p:pic>
      <p:sp>
        <p:nvSpPr>
          <p:cNvPr id="10" name="Text 7"/>
          <p:cNvSpPr/>
          <p:nvPr/>
        </p:nvSpPr>
        <p:spPr>
          <a:xfrm>
            <a:off x="838200" y="5140404"/>
            <a:ext cx="6238994" cy="914400"/>
          </a:xfrm>
          <a:prstGeom prst="rect">
            <a:avLst/>
          </a:prstGeom>
          <a:noFill/>
          <a:ln/>
        </p:spPr>
        <p:txBody>
          <a:bodyPr wrap="square" lIns="0" tIns="0" rIns="0" bIns="0" rtlCol="0" anchor="t"/>
          <a:lstStyle/>
          <a:p>
            <a:pPr algn="l" indent="0" marL="0">
              <a:lnSpc>
                <a:spcPts val="1800"/>
              </a:lnSpc>
              <a:buNone/>
            </a:pPr>
            <a:r>
              <a:rPr lang="en-US" sz="1250" dirty="0">
                <a:solidFill>
                  <a:srgbClr val="000000"/>
                </a:solidFill>
                <a:latin typeface="Inter" pitchFamily="34" charset="0"/>
                <a:ea typeface="Inter" pitchFamily="34" charset="-122"/>
                <a:cs typeface="Inter" pitchFamily="34" charset="-120"/>
              </a:rPr>
              <a:t>Khi thợ hoàn thành 1 task cháu, tiến độ </a:t>
            </a:r>
            <a:pPr algn="l" indent="0" marL="0">
              <a:lnSpc>
                <a:spcPts val="1800"/>
              </a:lnSpc>
              <a:buNone/>
            </a:pPr>
            <a:r>
              <a:rPr lang="en-US" sz="1250" b="1" dirty="0">
                <a:solidFill>
                  <a:srgbClr val="000000"/>
                </a:solidFill>
                <a:latin typeface="Inter" pitchFamily="34" charset="0"/>
                <a:ea typeface="Inter" pitchFamily="34" charset="-122"/>
                <a:cs typeface="Inter" pitchFamily="34" charset="-120"/>
              </a:rPr>
              <a:t>tự động dồn lên</a:t>
            </a:r>
            <a:pPr algn="l" indent="0" marL="0">
              <a:lnSpc>
                <a:spcPts val="1800"/>
              </a:lnSpc>
              <a:buNone/>
            </a:pPr>
            <a:r>
              <a:rPr lang="en-US" sz="1250" dirty="0">
                <a:solidFill>
                  <a:srgbClr val="000000"/>
                </a:solidFill>
                <a:latin typeface="Inter" pitchFamily="34" charset="0"/>
                <a:ea typeface="Inter" pitchFamily="34" charset="-122"/>
                <a:cs typeface="Inter" pitchFamily="34" charset="-120"/>
              </a:rPr>
              <a:t> task con và task cha ngay lập tức. </a:t>
            </a:r>
            <a:pPr algn="l" indent="0" marL="0">
              <a:lnSpc>
                <a:spcPts val="1800"/>
              </a:lnSpc>
              <a:buNone/>
            </a:pPr>
            <a:r>
              <a:rPr lang="en-US" sz="1250" b="1" dirty="0">
                <a:solidFill>
                  <a:srgbClr val="000000"/>
                </a:solidFill>
                <a:latin typeface="Inter" pitchFamily="34" charset="0"/>
                <a:ea typeface="Inter" pitchFamily="34" charset="-122"/>
                <a:cs typeface="Inter" pitchFamily="34" charset="-120"/>
              </a:rPr>
              <a:t>Kết quả:</a:t>
            </a:r>
            <a:pPr algn="l" indent="0" marL="0">
              <a:lnSpc>
                <a:spcPts val="1800"/>
              </a:lnSpc>
              <a:buNone/>
            </a:pPr>
            <a:r>
              <a:rPr lang="en-US" sz="1250" dirty="0">
                <a:solidFill>
                  <a:srgbClr val="000000"/>
                </a:solidFill>
                <a:latin typeface="Inter" pitchFamily="34" charset="0"/>
                <a:ea typeface="Inter" pitchFamily="34" charset="-122"/>
                <a:cs typeface="Inter" pitchFamily="34" charset="-120"/>
              </a:rPr>
              <a:t> Giám đốc nhìn thấy "60%" có nghĩa là 60% giá trị vật lý đã nghiệm thu thực tế — ví dụ: xong khung vỏ 40% + xong dàn lạnh 20%. Không có chỗ cho báo cáo ảo hay con số cảm tính.</a:t>
            </a:r>
            <a:endParaRPr lang="en-US" sz="1250" dirty="0"/>
          </a:p>
        </p:txBody>
      </p:sp>
      <p:sp>
        <p:nvSpPr>
          <p:cNvPr id="11" name="Text 8"/>
          <p:cNvSpPr/>
          <p:nvPr/>
        </p:nvSpPr>
        <p:spPr>
          <a:xfrm>
            <a:off x="7516416" y="2651165"/>
            <a:ext cx="4239935" cy="280511"/>
          </a:xfrm>
          <a:prstGeom prst="rect">
            <a:avLst/>
          </a:prstGeom>
          <a:noFill/>
          <a:ln/>
        </p:spPr>
        <p:txBody>
          <a:bodyPr wrap="none" lIns="0" tIns="0" rIns="0" bIns="0" rtlCol="0" anchor="t"/>
          <a:lstStyle/>
          <a:p>
            <a:pPr algn="l" indent="0" marL="0">
              <a:lnSpc>
                <a:spcPts val="2100"/>
              </a:lnSpc>
              <a:buNone/>
            </a:pPr>
            <a:r>
              <a:rPr lang="en-US" sz="1700" b="1" dirty="0">
                <a:solidFill>
                  <a:srgbClr val="000000"/>
                </a:solidFill>
                <a:latin typeface="Petrona Bold" pitchFamily="34" charset="0"/>
                <a:ea typeface="Petrona Bold" pitchFamily="34" charset="-122"/>
                <a:cs typeface="Petrona Bold" pitchFamily="34" charset="-120"/>
              </a:rPr>
              <a:t>📊</a:t>
            </a:r>
            <a:pPr algn="l" indent="0" marL="0">
              <a:lnSpc>
                <a:spcPts val="2100"/>
              </a:lnSpc>
              <a:buNone/>
            </a:pPr>
            <a:r>
              <a:rPr lang="en-US" sz="1700" b="1" dirty="0">
                <a:solidFill>
                  <a:srgbClr val="F95F88"/>
                </a:solidFill>
                <a:latin typeface="Petrona Bold" pitchFamily="34" charset="0"/>
                <a:ea typeface="Petrona Bold" pitchFamily="34" charset="-122"/>
                <a:cs typeface="Petrona Bold" pitchFamily="34" charset="-120"/>
              </a:rPr>
              <a:t> Gantt Chart &amp; Cascade Logic — Thác đổ</a:t>
            </a:r>
            <a:endParaRPr lang="en-US" sz="1700" dirty="0"/>
          </a:p>
        </p:txBody>
      </p:sp>
      <p:sp>
        <p:nvSpPr>
          <p:cNvPr id="12" name="Text 9"/>
          <p:cNvSpPr/>
          <p:nvPr/>
        </p:nvSpPr>
        <p:spPr>
          <a:xfrm>
            <a:off x="7516416" y="3058597"/>
            <a:ext cx="6327815" cy="457200"/>
          </a:xfrm>
          <a:prstGeom prst="rect">
            <a:avLst/>
          </a:prstGeom>
          <a:noFill/>
          <a:ln/>
        </p:spPr>
        <p:txBody>
          <a:bodyPr wrap="square" lIns="0" tIns="0" rIns="0" bIns="0" rtlCol="0" anchor="t"/>
          <a:lstStyle/>
          <a:p>
            <a:pPr algn="l" indent="0" marL="0">
              <a:lnSpc>
                <a:spcPts val="1800"/>
              </a:lnSpc>
              <a:buNone/>
            </a:pPr>
            <a:r>
              <a:rPr lang="en-US" sz="1250" b="1" dirty="0">
                <a:solidFill>
                  <a:srgbClr val="272525"/>
                </a:solidFill>
                <a:latin typeface="Inter" pitchFamily="34" charset="0"/>
                <a:ea typeface="Inter" pitchFamily="34" charset="-122"/>
                <a:cs typeface="Inter" pitchFamily="34" charset="-120"/>
              </a:rPr>
              <a:t>Nỗi đau:</a:t>
            </a:r>
            <a:pPr algn="l" indent="0" marL="0">
              <a:lnSpc>
                <a:spcPts val="1800"/>
              </a:lnSpc>
              <a:buNone/>
            </a:pPr>
            <a:r>
              <a:rPr lang="en-US" sz="1250" dirty="0">
                <a:solidFill>
                  <a:srgbClr val="272525"/>
                </a:solidFill>
                <a:latin typeface="Inter" pitchFamily="34" charset="0"/>
                <a:ea typeface="Inter" pitchFamily="34" charset="-122"/>
                <a:cs typeface="Inter" pitchFamily="34" charset="-120"/>
              </a:rPr>
              <a:t> Khi một khâu trễ hạn, Phòng Kế hoạch phải gọi điện cho hàng chục người phía sau để thông báo dời lịch.</a:t>
            </a:r>
            <a:endParaRPr lang="en-US" sz="1250" dirty="0"/>
          </a:p>
        </p:txBody>
      </p:sp>
      <p:sp>
        <p:nvSpPr>
          <p:cNvPr id="13" name="Text 10"/>
          <p:cNvSpPr/>
          <p:nvPr/>
        </p:nvSpPr>
        <p:spPr>
          <a:xfrm>
            <a:off x="7516416" y="3630097"/>
            <a:ext cx="6327815" cy="685800"/>
          </a:xfrm>
          <a:prstGeom prst="rect">
            <a:avLst/>
          </a:prstGeom>
          <a:noFill/>
          <a:ln/>
        </p:spPr>
        <p:txBody>
          <a:bodyPr wrap="square" lIns="0" tIns="0" rIns="0" bIns="0" rtlCol="0" anchor="t"/>
          <a:lstStyle/>
          <a:p>
            <a:pPr algn="l" indent="0" marL="0">
              <a:lnSpc>
                <a:spcPts val="1800"/>
              </a:lnSpc>
              <a:buNone/>
            </a:pPr>
            <a:r>
              <a:rPr lang="en-US" sz="1250" dirty="0">
                <a:solidFill>
                  <a:srgbClr val="272525"/>
                </a:solidFill>
                <a:latin typeface="Inter" pitchFamily="34" charset="0"/>
                <a:ea typeface="Inter" pitchFamily="34" charset="-122"/>
                <a:cs typeface="Inter" pitchFamily="34" charset="-120"/>
              </a:rPr>
              <a:t>Hệ thống trực quan hóa toàn bộ dự án trên một </a:t>
            </a:r>
            <a:pPr algn="l" indent="0" marL="0">
              <a:lnSpc>
                <a:spcPts val="1800"/>
              </a:lnSpc>
              <a:buNone/>
            </a:pPr>
            <a:r>
              <a:rPr lang="en-US" sz="1250" b="1" dirty="0">
                <a:solidFill>
                  <a:srgbClr val="272525"/>
                </a:solidFill>
                <a:latin typeface="Inter" pitchFamily="34" charset="0"/>
                <a:ea typeface="Inter" pitchFamily="34" charset="-122"/>
                <a:cs typeface="Inter" pitchFamily="34" charset="-120"/>
              </a:rPr>
              <a:t>trục thời gian Gantt</a:t>
            </a:r>
            <a:pPr algn="l" indent="0" marL="0">
              <a:lnSpc>
                <a:spcPts val="1800"/>
              </a:lnSpc>
              <a:buNone/>
            </a:pPr>
            <a:r>
              <a:rPr lang="en-US" sz="1250" dirty="0">
                <a:solidFill>
                  <a:srgbClr val="272525"/>
                </a:solidFill>
                <a:latin typeface="Inter" pitchFamily="34" charset="0"/>
                <a:ea typeface="Inter" pitchFamily="34" charset="-122"/>
                <a:cs typeface="Inter" pitchFamily="34" charset="-120"/>
              </a:rPr>
              <a:t>, thể hiện rõ các task chồng lấn và mối quan hệ phụ thuộc Finish-to-Start (FS). Khi một công việc "Đường găng" (ví dụ: Lắp nền móng) bị trễ 3 ngày:</a:t>
            </a:r>
            <a:endParaRPr lang="en-US" sz="1250" dirty="0"/>
          </a:p>
        </p:txBody>
      </p:sp>
      <p:sp>
        <p:nvSpPr>
          <p:cNvPr id="14" name="Text 11"/>
          <p:cNvSpPr/>
          <p:nvPr/>
        </p:nvSpPr>
        <p:spPr>
          <a:xfrm>
            <a:off x="7516416" y="4430197"/>
            <a:ext cx="6327815" cy="1231821"/>
          </a:xfrm>
          <a:prstGeom prst="rect">
            <a:avLst/>
          </a:prstGeom>
          <a:noFill/>
          <a:ln/>
        </p:spPr>
        <p:txBody>
          <a:bodyPr wrap="square" lIns="0" tIns="0" rIns="0" bIns="0" rtlCol="0" anchor="t"/>
          <a:lstStyle/>
          <a:p>
            <a:pPr algn="l" marL="342900" indent="-342900">
              <a:lnSpc>
                <a:spcPts val="1800"/>
              </a:lnSpc>
              <a:buSzPct val="100000"/>
              <a:buChar char="•"/>
            </a:pPr>
            <a:r>
              <a:rPr lang="en-US" sz="1250" dirty="0">
                <a:solidFill>
                  <a:srgbClr val="272525"/>
                </a:solidFill>
                <a:latin typeface="Inter" pitchFamily="34" charset="0"/>
                <a:ea typeface="Inter" pitchFamily="34" charset="-122"/>
                <a:cs typeface="Inter" pitchFamily="34" charset="-120"/>
              </a:rPr>
              <a:t>Hệ thống </a:t>
            </a:r>
            <a:pPr algn="l" indent="0" marL="0">
              <a:lnSpc>
                <a:spcPts val="1800"/>
              </a:lnSpc>
              <a:buNone/>
            </a:pPr>
            <a:r>
              <a:rPr lang="en-US" sz="1250" b="1" dirty="0">
                <a:solidFill>
                  <a:srgbClr val="272525"/>
                </a:solidFill>
                <a:latin typeface="Inter" pitchFamily="34" charset="0"/>
                <a:ea typeface="Inter" pitchFamily="34" charset="-122"/>
                <a:cs typeface="Inter" pitchFamily="34" charset="-120"/>
              </a:rPr>
              <a:t>TỰ ĐỘNG đẩy lùi</a:t>
            </a:r>
            <a:pPr algn="l" indent="0" marL="0">
              <a:lnSpc>
                <a:spcPts val="1800"/>
              </a:lnSpc>
              <a:buNone/>
            </a:pPr>
            <a:r>
              <a:rPr lang="en-US" sz="1250" dirty="0">
                <a:solidFill>
                  <a:srgbClr val="272525"/>
                </a:solidFill>
                <a:latin typeface="Inter" pitchFamily="34" charset="0"/>
                <a:ea typeface="Inter" pitchFamily="34" charset="-122"/>
                <a:cs typeface="Inter" pitchFamily="34" charset="-120"/>
              </a:rPr>
              <a:t> toàn bộ lịch trình của các khâu phụ thuộc phía sau.</a:t>
            </a:r>
            <a:endParaRPr lang="en-US" sz="1250" dirty="0"/>
          </a:p>
          <a:p>
            <a:pPr algn="l" marL="342900" indent="-342900">
              <a:lnSpc>
                <a:spcPts val="1800"/>
              </a:lnSpc>
              <a:buSzPct val="100000"/>
              <a:buChar char="•"/>
            </a:pPr>
            <a:r>
              <a:rPr lang="en-US" sz="1250" dirty="0">
                <a:solidFill>
                  <a:srgbClr val="272525"/>
                </a:solidFill>
                <a:latin typeface="Inter" pitchFamily="34" charset="0"/>
                <a:ea typeface="Inter" pitchFamily="34" charset="-122"/>
                <a:cs typeface="Inter" pitchFamily="34" charset="-120"/>
              </a:rPr>
              <a:t>Gửi </a:t>
            </a:r>
            <a:pPr algn="l" indent="0" marL="0">
              <a:lnSpc>
                <a:spcPts val="1800"/>
              </a:lnSpc>
              <a:buNone/>
            </a:pPr>
            <a:r>
              <a:rPr lang="en-US" sz="1250" b="1" dirty="0">
                <a:solidFill>
                  <a:srgbClr val="272525"/>
                </a:solidFill>
                <a:latin typeface="Inter" pitchFamily="34" charset="0"/>
                <a:ea typeface="Inter" pitchFamily="34" charset="-122"/>
                <a:cs typeface="Inter" pitchFamily="34" charset="-120"/>
              </a:rPr>
              <a:t>Push Notification tức thì</a:t>
            </a:r>
            <a:pPr algn="l" indent="0" marL="0">
              <a:lnSpc>
                <a:spcPts val="1800"/>
              </a:lnSpc>
              <a:buNone/>
            </a:pPr>
            <a:r>
              <a:rPr lang="en-US" sz="1250" dirty="0">
                <a:solidFill>
                  <a:srgbClr val="272525"/>
                </a:solidFill>
                <a:latin typeface="Inter" pitchFamily="34" charset="0"/>
                <a:ea typeface="Inter" pitchFamily="34" charset="-122"/>
                <a:cs typeface="Inter" pitchFamily="34" charset="-120"/>
              </a:rPr>
              <a:t> đến tất cả nhân sự liên quan — không ai phải xuống công trường rồi chờ đợi vô ích.</a:t>
            </a:r>
            <a:endParaRPr lang="en-US" sz="1250" dirty="0"/>
          </a:p>
          <a:p>
            <a:pPr algn="l" marL="342900" indent="-342900">
              <a:lnSpc>
                <a:spcPts val="1800"/>
              </a:lnSpc>
              <a:buSzPct val="100000"/>
              <a:buChar char="•"/>
            </a:pPr>
            <a:r>
              <a:rPr lang="en-US" sz="1250" dirty="0">
                <a:solidFill>
                  <a:srgbClr val="272525"/>
                </a:solidFill>
                <a:latin typeface="Inter" pitchFamily="34" charset="0"/>
                <a:ea typeface="Inter" pitchFamily="34" charset="-122"/>
                <a:cs typeface="Inter" pitchFamily="34" charset="-120"/>
              </a:rPr>
              <a:t>Sử dụng </a:t>
            </a:r>
            <a:pPr algn="l" indent="0" marL="0">
              <a:lnSpc>
                <a:spcPts val="1800"/>
              </a:lnSpc>
              <a:buNone/>
            </a:pPr>
            <a:r>
              <a:rPr lang="en-US" sz="1250" b="1" dirty="0">
                <a:solidFill>
                  <a:srgbClr val="272525"/>
                </a:solidFill>
                <a:latin typeface="Inter" pitchFamily="34" charset="0"/>
                <a:ea typeface="Inter" pitchFamily="34" charset="-122"/>
                <a:cs typeface="Inter" pitchFamily="34" charset="-120"/>
              </a:rPr>
              <a:t>WebSocket</a:t>
            </a:r>
            <a:pPr algn="l" indent="0" marL="0">
              <a:lnSpc>
                <a:spcPts val="1800"/>
              </a:lnSpc>
              <a:buNone/>
            </a:pPr>
            <a:r>
              <a:rPr lang="en-US" sz="1250" dirty="0">
                <a:solidFill>
                  <a:srgbClr val="272525"/>
                </a:solidFill>
                <a:latin typeface="Inter" pitchFamily="34" charset="0"/>
                <a:ea typeface="Inter" pitchFamily="34" charset="-122"/>
                <a:cs typeface="Inter" pitchFamily="34" charset="-120"/>
              </a:rPr>
              <a:t> để cập nhật deadline mới real-time mà không cần tải lại trang.</a:t>
            </a:r>
            <a:endParaRPr lang="en-US" sz="1250" dirty="0"/>
          </a:p>
        </p:txBody>
      </p:sp>
      <p:sp>
        <p:nvSpPr>
          <p:cNvPr id="15" name="Shape 12"/>
          <p:cNvSpPr/>
          <p:nvPr/>
        </p:nvSpPr>
        <p:spPr>
          <a:xfrm>
            <a:off x="7516416" y="5804892"/>
            <a:ext cx="6327815" cy="817364"/>
          </a:xfrm>
          <a:prstGeom prst="roundRect">
            <a:avLst>
              <a:gd name="adj" fmla="val 8159"/>
            </a:avLst>
          </a:prstGeom>
          <a:solidFill>
            <a:srgbClr val="B6FCB8"/>
          </a:solidFill>
          <a:ln/>
        </p:spPr>
      </p:sp>
      <p:pic>
        <p:nvPicPr>
          <p:cNvPr id="16" name="Image 1" descr="preencoded.png">    </p:cNvPr>
          <p:cNvPicPr>
            <a:picLocks noChangeAspect="1"/>
          </p:cNvPicPr>
          <p:nvPr/>
        </p:nvPicPr>
        <p:blipFill>
          <a:blip r:embed="rId2"/>
          <a:stretch>
            <a:fillRect/>
          </a:stretch>
        </p:blipFill>
        <p:spPr>
          <a:xfrm>
            <a:off x="7675126" y="6031944"/>
            <a:ext cx="198358" cy="158710"/>
          </a:xfrm>
          <a:prstGeom prst="rect">
            <a:avLst/>
          </a:prstGeom>
        </p:spPr>
      </p:pic>
      <p:sp>
        <p:nvSpPr>
          <p:cNvPr id="17" name="Text 13"/>
          <p:cNvSpPr/>
          <p:nvPr/>
        </p:nvSpPr>
        <p:spPr>
          <a:xfrm>
            <a:off x="8032194" y="5971461"/>
            <a:ext cx="5653326" cy="457200"/>
          </a:xfrm>
          <a:prstGeom prst="rect">
            <a:avLst/>
          </a:prstGeom>
          <a:noFill/>
          <a:ln/>
        </p:spPr>
        <p:txBody>
          <a:bodyPr wrap="square" lIns="0" tIns="0" rIns="0" bIns="0" rtlCol="0" anchor="t"/>
          <a:lstStyle/>
          <a:p>
            <a:pPr algn="l" indent="0" marL="0">
              <a:lnSpc>
                <a:spcPts val="1800"/>
              </a:lnSpc>
              <a:buNone/>
            </a:pPr>
            <a:r>
              <a:rPr lang="en-US" sz="1250" dirty="0">
                <a:solidFill>
                  <a:srgbClr val="000000"/>
                </a:solidFill>
                <a:latin typeface="Inter" pitchFamily="34" charset="0"/>
                <a:ea typeface="Inter" pitchFamily="34" charset="-122"/>
                <a:cs typeface="Inter" pitchFamily="34" charset="-120"/>
              </a:rPr>
              <a:t>Ví dụ: Tổ trưởng duyệt gia hạn Tổ Hàn thêm 2 ngày → Lịch Nhóm Điện và Nhóm Lắp Panel tự động lùi 2 ngày → Tất cả nhận thông báo ngay lập tức.</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93790" y="633889"/>
            <a:ext cx="10412135" cy="648057"/>
          </a:xfrm>
          <a:prstGeom prst="rect">
            <a:avLst/>
          </a:prstGeom>
          <a:noFill/>
          <a:ln/>
        </p:spPr>
        <p:txBody>
          <a:bodyPr wrap="none" lIns="0" tIns="0" rIns="0" bIns="0" rtlCol="0" anchor="t"/>
          <a:lstStyle/>
          <a:p>
            <a:pPr algn="l" indent="0" marL="0">
              <a:lnSpc>
                <a:spcPts val="5100"/>
              </a:lnSpc>
              <a:buNone/>
            </a:pPr>
            <a:r>
              <a:rPr lang="en-US" sz="4050" b="1" dirty="0">
                <a:solidFill>
                  <a:srgbClr val="F95F88"/>
                </a:solidFill>
                <a:latin typeface="Petrona Bold" pitchFamily="34" charset="0"/>
                <a:ea typeface="Petrona Bold" pitchFamily="34" charset="-122"/>
                <a:cs typeface="Petrona Bold" pitchFamily="34" charset="-120"/>
              </a:rPr>
              <a:t>Đột Phá Công Nghệ 3 — Radar Rủi Ro 4 Tầng</a:t>
            </a:r>
            <a:endParaRPr lang="en-US" sz="4050" dirty="0"/>
          </a:p>
        </p:txBody>
      </p:sp>
      <p:sp>
        <p:nvSpPr>
          <p:cNvPr id="3" name="Text 1"/>
          <p:cNvSpPr/>
          <p:nvPr/>
        </p:nvSpPr>
        <p:spPr>
          <a:xfrm>
            <a:off x="793790" y="1353503"/>
            <a:ext cx="6639997" cy="323969"/>
          </a:xfrm>
          <a:prstGeom prst="rect">
            <a:avLst/>
          </a:prstGeom>
          <a:noFill/>
          <a:ln/>
        </p:spPr>
        <p:txBody>
          <a:bodyPr wrap="none" lIns="0" tIns="0" rIns="0" bIns="0" rtlCol="0" anchor="t"/>
          <a:lstStyle/>
          <a:p>
            <a:pPr algn="l" indent="0" marL="0">
              <a:lnSpc>
                <a:spcPts val="2550"/>
              </a:lnSpc>
              <a:buNone/>
            </a:pPr>
            <a:r>
              <a:rPr lang="en-US" sz="2000" b="1" dirty="0">
                <a:solidFill>
                  <a:srgbClr val="F95F88"/>
                </a:solidFill>
                <a:latin typeface="Petrona Bold" pitchFamily="34" charset="0"/>
                <a:ea typeface="Petrona Bold" pitchFamily="34" charset="-122"/>
                <a:cs typeface="Petrona Bold" pitchFamily="34" charset="-120"/>
              </a:rPr>
              <a:t>Hệ thống Cảnh báo Sớm tự động (Early Warning System)</a:t>
            </a:r>
            <a:endParaRPr lang="en-US" sz="2000" dirty="0"/>
          </a:p>
        </p:txBody>
      </p:sp>
      <p:sp>
        <p:nvSpPr>
          <p:cNvPr id="4" name="Text 2"/>
          <p:cNvSpPr/>
          <p:nvPr/>
        </p:nvSpPr>
        <p:spPr>
          <a:xfrm>
            <a:off x="793790" y="1946077"/>
            <a:ext cx="13042821" cy="588407"/>
          </a:xfrm>
          <a:prstGeom prst="rect">
            <a:avLst/>
          </a:prstGeom>
          <a:noFill/>
          <a:ln/>
        </p:spPr>
        <p:txBody>
          <a:bodyPr wrap="square" lIns="0" tIns="0" rIns="0" bIns="0" rtlCol="0" anchor="t"/>
          <a:lstStyle/>
          <a:p>
            <a:pPr algn="l" indent="0" marL="0">
              <a:lnSpc>
                <a:spcPts val="2300"/>
              </a:lnSpc>
              <a:buNone/>
            </a:pPr>
            <a:r>
              <a:rPr lang="en-US" sz="1450" dirty="0">
                <a:solidFill>
                  <a:srgbClr val="272525"/>
                </a:solidFill>
                <a:latin typeface="Inter" pitchFamily="34" charset="0"/>
                <a:ea typeface="Inter" pitchFamily="34" charset="-122"/>
                <a:cs typeface="Inter" pitchFamily="34" charset="-120"/>
              </a:rPr>
              <a:t>Đây là "bộ não" phòng thủ chủ động của toàn hệ thống. </a:t>
            </a:r>
            <a:pPr algn="l" indent="0" marL="0">
              <a:lnSpc>
                <a:spcPts val="2300"/>
              </a:lnSpc>
              <a:buNone/>
            </a:pPr>
            <a:r>
              <a:rPr lang="en-US" sz="1450" b="1" dirty="0">
                <a:solidFill>
                  <a:srgbClr val="272525"/>
                </a:solidFill>
                <a:latin typeface="Inter" pitchFamily="34" charset="0"/>
                <a:ea typeface="Inter" pitchFamily="34" charset="-122"/>
                <a:cs typeface="Inter" pitchFamily="34" charset="-120"/>
              </a:rPr>
              <a:t>BOT quản lý tự động quét toàn bộ dự án mỗi 5 phút</a:t>
            </a:r>
            <a:pPr algn="l" indent="0" marL="0">
              <a:lnSpc>
                <a:spcPts val="2300"/>
              </a:lnSpc>
              <a:buNone/>
            </a:pPr>
            <a:r>
              <a:rPr lang="en-US" sz="1450" dirty="0">
                <a:solidFill>
                  <a:srgbClr val="272525"/>
                </a:solidFill>
                <a:latin typeface="Inter" pitchFamily="34" charset="0"/>
                <a:ea typeface="Inter" pitchFamily="34" charset="-122"/>
                <a:cs typeface="Inter" pitchFamily="34" charset="-120"/>
              </a:rPr>
              <a:t>, phân tích dữ liệu tiến độ và phát sinh cảnh báo theo 4 tầng mức độ nghiêm trọng — không cần đợi đến deadline mới biết dự án đã "vỡ" kế hoạch.</a:t>
            </a:r>
            <a:endParaRPr lang="en-US" sz="1450" dirty="0"/>
          </a:p>
        </p:txBody>
      </p:sp>
      <p:sp>
        <p:nvSpPr>
          <p:cNvPr id="5" name="Shape 3"/>
          <p:cNvSpPr/>
          <p:nvPr/>
        </p:nvSpPr>
        <p:spPr>
          <a:xfrm>
            <a:off x="793790" y="2735937"/>
            <a:ext cx="6431875" cy="2340293"/>
          </a:xfrm>
          <a:prstGeom prst="roundRect">
            <a:avLst>
              <a:gd name="adj" fmla="val 4689"/>
            </a:avLst>
          </a:prstGeom>
          <a:solidFill>
            <a:srgbClr val="FDFAF7"/>
          </a:solidFill>
          <a:ln w="22860">
            <a:solidFill>
              <a:srgbClr val="E53E3E"/>
            </a:solidFill>
            <a:prstDash val="solid"/>
          </a:ln>
        </p:spPr>
      </p:sp>
      <p:sp>
        <p:nvSpPr>
          <p:cNvPr id="6" name="Shape 4"/>
          <p:cNvSpPr/>
          <p:nvPr/>
        </p:nvSpPr>
        <p:spPr>
          <a:xfrm>
            <a:off x="770930" y="2735937"/>
            <a:ext cx="91440" cy="2340293"/>
          </a:xfrm>
          <a:prstGeom prst="roundRect">
            <a:avLst>
              <a:gd name="adj" fmla="val 86605"/>
            </a:avLst>
          </a:prstGeom>
          <a:solidFill>
            <a:srgbClr val="E53E3E"/>
          </a:solidFill>
          <a:ln/>
        </p:spPr>
      </p:sp>
      <p:sp>
        <p:nvSpPr>
          <p:cNvPr id="7" name="Text 5"/>
          <p:cNvSpPr/>
          <p:nvPr/>
        </p:nvSpPr>
        <p:spPr>
          <a:xfrm>
            <a:off x="1073706" y="2947273"/>
            <a:ext cx="3526750" cy="339209"/>
          </a:xfrm>
          <a:prstGeom prst="rect">
            <a:avLst/>
          </a:prstGeom>
          <a:noFill/>
          <a:ln/>
        </p:spPr>
        <p:txBody>
          <a:bodyPr wrap="none" lIns="0" tIns="0" rIns="0" bIns="0" rtlCol="0" anchor="t"/>
          <a:lstStyle/>
          <a:p>
            <a:pPr algn="l" indent="0" marL="0">
              <a:lnSpc>
                <a:spcPts val="2550"/>
              </a:lnSpc>
              <a:buNone/>
            </a:pPr>
            <a:r>
              <a:rPr lang="en-US" sz="2000" b="1" dirty="0">
                <a:solidFill>
                  <a:srgbClr val="000000"/>
                </a:solidFill>
                <a:latin typeface="Petrona Bold" pitchFamily="34" charset="0"/>
                <a:ea typeface="Petrona Bold" pitchFamily="34" charset="-122"/>
                <a:cs typeface="Petrona Bold" pitchFamily="34" charset="-120"/>
              </a:rPr>
              <a:t>🔴</a:t>
            </a:r>
            <a:pPr algn="l" indent="0" marL="0">
              <a:lnSpc>
                <a:spcPts val="2550"/>
              </a:lnSpc>
              <a:buNone/>
            </a:pPr>
            <a:r>
              <a:rPr lang="en-US" sz="2000" b="1" dirty="0">
                <a:solidFill>
                  <a:srgbClr val="272525"/>
                </a:solidFill>
                <a:latin typeface="Petrona Bold" pitchFamily="34" charset="0"/>
                <a:ea typeface="Petrona Bold" pitchFamily="34" charset="-122"/>
                <a:cs typeface="Petrona Bold" pitchFamily="34" charset="-120"/>
              </a:rPr>
              <a:t> Tầng 1 — Critical Path (Đỏ)</a:t>
            </a:r>
            <a:endParaRPr lang="en-US" sz="2000" dirty="0"/>
          </a:p>
        </p:txBody>
      </p:sp>
      <p:sp>
        <p:nvSpPr>
          <p:cNvPr id="8" name="Text 6"/>
          <p:cNvSpPr/>
          <p:nvPr/>
        </p:nvSpPr>
        <p:spPr>
          <a:xfrm>
            <a:off x="1073706" y="3393877"/>
            <a:ext cx="5940623" cy="1176814"/>
          </a:xfrm>
          <a:prstGeom prst="rect">
            <a:avLst/>
          </a:prstGeom>
          <a:noFill/>
          <a:ln/>
        </p:spPr>
        <p:txBody>
          <a:bodyPr wrap="square" lIns="0" tIns="0" rIns="0" bIns="0" rtlCol="0" anchor="t"/>
          <a:lstStyle/>
          <a:p>
            <a:pPr algn="l" indent="0" marL="0">
              <a:lnSpc>
                <a:spcPts val="2300"/>
              </a:lnSpc>
              <a:buNone/>
            </a:pPr>
            <a:r>
              <a:rPr lang="en-US" sz="1450" b="1" dirty="0">
                <a:solidFill>
                  <a:srgbClr val="272525"/>
                </a:solidFill>
                <a:latin typeface="Inter" pitchFamily="34" charset="0"/>
                <a:ea typeface="Inter" pitchFamily="34" charset="-122"/>
                <a:cs typeface="Inter" pitchFamily="34" charset="-120"/>
              </a:rPr>
              <a:t>Kích hoạt:</a:t>
            </a:r>
            <a:pPr algn="l" indent="0" marL="0">
              <a:lnSpc>
                <a:spcPts val="2300"/>
              </a:lnSpc>
              <a:buNone/>
            </a:pPr>
            <a:r>
              <a:rPr lang="en-US" sz="1450" dirty="0">
                <a:solidFill>
                  <a:srgbClr val="272525"/>
                </a:solidFill>
                <a:latin typeface="Inter" pitchFamily="34" charset="0"/>
                <a:ea typeface="Inter" pitchFamily="34" charset="-122"/>
                <a:cs typeface="Inter" pitchFamily="34" charset="-120"/>
              </a:rPr>
              <a:t> Có task nằm trên Đường Găng (Critical Path) bị trễ hạn. </a:t>
            </a:r>
            <a:pPr algn="l" indent="0" marL="0">
              <a:lnSpc>
                <a:spcPts val="2300"/>
              </a:lnSpc>
              <a:buNone/>
            </a:pPr>
            <a:r>
              <a:rPr lang="en-US" sz="1450" b="1" dirty="0">
                <a:solidFill>
                  <a:srgbClr val="272525"/>
                </a:solidFill>
                <a:latin typeface="Inter" pitchFamily="34" charset="0"/>
                <a:ea typeface="Inter" pitchFamily="34" charset="-122"/>
                <a:cs typeface="Inter" pitchFamily="34" charset="-120"/>
              </a:rPr>
              <a:t>Ý nghĩa:</a:t>
            </a:r>
            <a:pPr algn="l" indent="0" marL="0">
              <a:lnSpc>
                <a:spcPts val="2300"/>
              </a:lnSpc>
              <a:buNone/>
            </a:pPr>
            <a:r>
              <a:rPr lang="en-US" sz="1450" dirty="0">
                <a:solidFill>
                  <a:srgbClr val="272525"/>
                </a:solidFill>
                <a:latin typeface="Inter" pitchFamily="34" charset="0"/>
                <a:ea typeface="Inter" pitchFamily="34" charset="-122"/>
                <a:cs typeface="Inter" pitchFamily="34" charset="-120"/>
              </a:rPr>
              <a:t> Deadline toàn bộ dự án bị đẩy lùi tương ứng — không còn khả năng bù đắp bằng phương án song song. </a:t>
            </a:r>
            <a:pPr algn="l" indent="0" marL="0">
              <a:lnSpc>
                <a:spcPts val="2300"/>
              </a:lnSpc>
              <a:buNone/>
            </a:pPr>
            <a:r>
              <a:rPr lang="en-US" sz="1450" b="1" dirty="0">
                <a:solidFill>
                  <a:srgbClr val="272525"/>
                </a:solidFill>
                <a:latin typeface="Inter" pitchFamily="34" charset="0"/>
                <a:ea typeface="Inter" pitchFamily="34" charset="-122"/>
                <a:cs typeface="Inter" pitchFamily="34" charset="-120"/>
              </a:rPr>
              <a:t>Hành động:</a:t>
            </a:r>
            <a:pPr algn="l" indent="0" marL="0">
              <a:lnSpc>
                <a:spcPts val="2300"/>
              </a:lnSpc>
              <a:buNone/>
            </a:pPr>
            <a:r>
              <a:rPr lang="en-US" sz="1450" dirty="0">
                <a:solidFill>
                  <a:srgbClr val="272525"/>
                </a:solidFill>
                <a:latin typeface="Inter" pitchFamily="34" charset="0"/>
                <a:ea typeface="Inter" pitchFamily="34" charset="-122"/>
                <a:cs typeface="Inter" pitchFamily="34" charset="-120"/>
              </a:rPr>
              <a:t> Báo ngay lên Ban Giám đốc để can thiệp nguồn lực khẩn cấp.</a:t>
            </a:r>
            <a:endParaRPr lang="en-US" sz="1450" dirty="0"/>
          </a:p>
        </p:txBody>
      </p:sp>
      <p:sp>
        <p:nvSpPr>
          <p:cNvPr id="9" name="Shape 7"/>
          <p:cNvSpPr/>
          <p:nvPr/>
        </p:nvSpPr>
        <p:spPr>
          <a:xfrm>
            <a:off x="7404735" y="2735937"/>
            <a:ext cx="6431875" cy="2340293"/>
          </a:xfrm>
          <a:prstGeom prst="roundRect">
            <a:avLst>
              <a:gd name="adj" fmla="val 4689"/>
            </a:avLst>
          </a:prstGeom>
          <a:solidFill>
            <a:srgbClr val="FDFAF7"/>
          </a:solidFill>
          <a:ln w="22860">
            <a:solidFill>
              <a:srgbClr val="C6BDDA"/>
            </a:solidFill>
            <a:prstDash val="solid"/>
          </a:ln>
        </p:spPr>
      </p:sp>
      <p:sp>
        <p:nvSpPr>
          <p:cNvPr id="10" name="Shape 8"/>
          <p:cNvSpPr/>
          <p:nvPr/>
        </p:nvSpPr>
        <p:spPr>
          <a:xfrm>
            <a:off x="7381875" y="2735937"/>
            <a:ext cx="91440" cy="2340293"/>
          </a:xfrm>
          <a:prstGeom prst="roundRect">
            <a:avLst>
              <a:gd name="adj" fmla="val 86605"/>
            </a:avLst>
          </a:prstGeom>
          <a:solidFill>
            <a:srgbClr val="6237C8"/>
          </a:solidFill>
          <a:ln/>
        </p:spPr>
      </p:sp>
      <p:sp>
        <p:nvSpPr>
          <p:cNvPr id="11" name="Text 9"/>
          <p:cNvSpPr/>
          <p:nvPr/>
        </p:nvSpPr>
        <p:spPr>
          <a:xfrm>
            <a:off x="7684651" y="2947273"/>
            <a:ext cx="4225647" cy="339209"/>
          </a:xfrm>
          <a:prstGeom prst="rect">
            <a:avLst/>
          </a:prstGeom>
          <a:noFill/>
          <a:ln/>
        </p:spPr>
        <p:txBody>
          <a:bodyPr wrap="none" lIns="0" tIns="0" rIns="0" bIns="0" rtlCol="0" anchor="t"/>
          <a:lstStyle/>
          <a:p>
            <a:pPr algn="l" indent="0" marL="0">
              <a:lnSpc>
                <a:spcPts val="2550"/>
              </a:lnSpc>
              <a:buNone/>
            </a:pPr>
            <a:r>
              <a:rPr lang="en-US" sz="2000" b="1" dirty="0">
                <a:solidFill>
                  <a:srgbClr val="000000"/>
                </a:solidFill>
                <a:latin typeface="Petrona Bold" pitchFamily="34" charset="0"/>
                <a:ea typeface="Petrona Bold" pitchFamily="34" charset="-122"/>
                <a:cs typeface="Petrona Bold" pitchFamily="34" charset="-120"/>
              </a:rPr>
              <a:t>🟠</a:t>
            </a:r>
            <a:pPr algn="l" indent="0" marL="0">
              <a:lnSpc>
                <a:spcPts val="2550"/>
              </a:lnSpc>
              <a:buNone/>
            </a:pPr>
            <a:r>
              <a:rPr lang="en-US" sz="2000" b="1" dirty="0">
                <a:solidFill>
                  <a:srgbClr val="272525"/>
                </a:solidFill>
                <a:latin typeface="Petrona Bold" pitchFamily="34" charset="0"/>
                <a:ea typeface="Petrona Bold" pitchFamily="34" charset="-122"/>
                <a:cs typeface="Petrona Bold" pitchFamily="34" charset="-120"/>
              </a:rPr>
              <a:t> Tầng 2 — Slack Exhausted (Cam)</a:t>
            </a:r>
            <a:endParaRPr lang="en-US" sz="2000" dirty="0"/>
          </a:p>
        </p:txBody>
      </p:sp>
      <p:sp>
        <p:nvSpPr>
          <p:cNvPr id="12" name="Text 10"/>
          <p:cNvSpPr/>
          <p:nvPr/>
        </p:nvSpPr>
        <p:spPr>
          <a:xfrm>
            <a:off x="7684651" y="3393877"/>
            <a:ext cx="5940623" cy="1471017"/>
          </a:xfrm>
          <a:prstGeom prst="rect">
            <a:avLst/>
          </a:prstGeom>
          <a:noFill/>
          <a:ln/>
        </p:spPr>
        <p:txBody>
          <a:bodyPr wrap="square" lIns="0" tIns="0" rIns="0" bIns="0" rtlCol="0" anchor="t"/>
          <a:lstStyle/>
          <a:p>
            <a:pPr algn="l" indent="0" marL="0">
              <a:lnSpc>
                <a:spcPts val="2300"/>
              </a:lnSpc>
              <a:buNone/>
            </a:pPr>
            <a:r>
              <a:rPr lang="en-US" sz="1450" b="1" dirty="0">
                <a:solidFill>
                  <a:srgbClr val="272525"/>
                </a:solidFill>
                <a:latin typeface="Inter" pitchFamily="34" charset="0"/>
                <a:ea typeface="Inter" pitchFamily="34" charset="-122"/>
                <a:cs typeface="Inter" pitchFamily="34" charset="-120"/>
              </a:rPr>
              <a:t>Kích hoạt:</a:t>
            </a:r>
            <a:pPr algn="l" indent="0" marL="0">
              <a:lnSpc>
                <a:spcPts val="2300"/>
              </a:lnSpc>
              <a:buNone/>
            </a:pPr>
            <a:r>
              <a:rPr lang="en-US" sz="1450" dirty="0">
                <a:solidFill>
                  <a:srgbClr val="272525"/>
                </a:solidFill>
                <a:latin typeface="Inter" pitchFamily="34" charset="0"/>
                <a:ea typeface="Inter" pitchFamily="34" charset="-122"/>
                <a:cs typeface="Inter" pitchFamily="34" charset="-120"/>
              </a:rPr>
              <a:t> Task không nằm trên đường găng nhưng đã tiêu hao hết toàn bộ quỹ thời gian đệm (Slack = 0). </a:t>
            </a:r>
            <a:pPr algn="l" indent="0" marL="0">
              <a:lnSpc>
                <a:spcPts val="2300"/>
              </a:lnSpc>
              <a:buNone/>
            </a:pPr>
            <a:r>
              <a:rPr lang="en-US" sz="1450" b="1" dirty="0">
                <a:solidFill>
                  <a:srgbClr val="272525"/>
                </a:solidFill>
                <a:latin typeface="Inter" pitchFamily="34" charset="0"/>
                <a:ea typeface="Inter" pitchFamily="34" charset="-122"/>
                <a:cs typeface="Inter" pitchFamily="34" charset="-120"/>
              </a:rPr>
              <a:t>Ý nghĩa:</a:t>
            </a:r>
            <a:pPr algn="l" indent="0" marL="0">
              <a:lnSpc>
                <a:spcPts val="2300"/>
              </a:lnSpc>
              <a:buNone/>
            </a:pPr>
            <a:r>
              <a:rPr lang="en-US" sz="1450" dirty="0">
                <a:solidFill>
                  <a:srgbClr val="272525"/>
                </a:solidFill>
                <a:latin typeface="Inter" pitchFamily="34" charset="0"/>
                <a:ea typeface="Inter" pitchFamily="34" charset="-122"/>
                <a:cs typeface="Inter" pitchFamily="34" charset="-120"/>
              </a:rPr>
              <a:t> Task này đang trên bờ vực trở thành Đường Găng — bất kỳ sự chậm trễ thêm nào cũng ảnh hưởng đến deadline tổng. </a:t>
            </a:r>
            <a:pPr algn="l" indent="0" marL="0">
              <a:lnSpc>
                <a:spcPts val="2300"/>
              </a:lnSpc>
              <a:buNone/>
            </a:pPr>
            <a:r>
              <a:rPr lang="en-US" sz="1450" b="1" dirty="0">
                <a:solidFill>
                  <a:srgbClr val="272525"/>
                </a:solidFill>
                <a:latin typeface="Inter" pitchFamily="34" charset="0"/>
                <a:ea typeface="Inter" pitchFamily="34" charset="-122"/>
                <a:cs typeface="Inter" pitchFamily="34" charset="-120"/>
              </a:rPr>
              <a:t>Hành động:</a:t>
            </a:r>
            <a:pPr algn="l" indent="0" marL="0">
              <a:lnSpc>
                <a:spcPts val="2300"/>
              </a:lnSpc>
              <a:buNone/>
            </a:pPr>
            <a:r>
              <a:rPr lang="en-US" sz="1450" dirty="0">
                <a:solidFill>
                  <a:srgbClr val="272525"/>
                </a:solidFill>
                <a:latin typeface="Inter" pitchFamily="34" charset="0"/>
                <a:ea typeface="Inter" pitchFamily="34" charset="-122"/>
                <a:cs typeface="Inter" pitchFamily="34" charset="-120"/>
              </a:rPr>
              <a:t> Ưu tiên giải quyết trong 24 giờ.</a:t>
            </a:r>
            <a:endParaRPr lang="en-US" sz="1450" dirty="0"/>
          </a:p>
        </p:txBody>
      </p:sp>
      <p:sp>
        <p:nvSpPr>
          <p:cNvPr id="13" name="Shape 11"/>
          <p:cNvSpPr/>
          <p:nvPr/>
        </p:nvSpPr>
        <p:spPr>
          <a:xfrm>
            <a:off x="793790" y="5255300"/>
            <a:ext cx="6431875" cy="2340293"/>
          </a:xfrm>
          <a:prstGeom prst="roundRect">
            <a:avLst>
              <a:gd name="adj" fmla="val 4689"/>
            </a:avLst>
          </a:prstGeom>
          <a:solidFill>
            <a:srgbClr val="FDFAF7"/>
          </a:solidFill>
          <a:ln w="22860">
            <a:solidFill>
              <a:srgbClr val="C6BDDA"/>
            </a:solidFill>
            <a:prstDash val="solid"/>
          </a:ln>
        </p:spPr>
      </p:sp>
      <p:sp>
        <p:nvSpPr>
          <p:cNvPr id="14" name="Shape 12"/>
          <p:cNvSpPr/>
          <p:nvPr/>
        </p:nvSpPr>
        <p:spPr>
          <a:xfrm>
            <a:off x="770930" y="5255300"/>
            <a:ext cx="91440" cy="2340293"/>
          </a:xfrm>
          <a:prstGeom prst="roundRect">
            <a:avLst>
              <a:gd name="adj" fmla="val 86605"/>
            </a:avLst>
          </a:prstGeom>
          <a:solidFill>
            <a:srgbClr val="6237C8"/>
          </a:solidFill>
          <a:ln/>
        </p:spPr>
      </p:sp>
      <p:sp>
        <p:nvSpPr>
          <p:cNvPr id="15" name="Text 13"/>
          <p:cNvSpPr/>
          <p:nvPr/>
        </p:nvSpPr>
        <p:spPr>
          <a:xfrm>
            <a:off x="1073706" y="5466636"/>
            <a:ext cx="3559731" cy="339209"/>
          </a:xfrm>
          <a:prstGeom prst="rect">
            <a:avLst/>
          </a:prstGeom>
          <a:noFill/>
          <a:ln/>
        </p:spPr>
        <p:txBody>
          <a:bodyPr wrap="none" lIns="0" tIns="0" rIns="0" bIns="0" rtlCol="0" anchor="t"/>
          <a:lstStyle/>
          <a:p>
            <a:pPr algn="l" indent="0" marL="0">
              <a:lnSpc>
                <a:spcPts val="2550"/>
              </a:lnSpc>
              <a:buNone/>
            </a:pPr>
            <a:r>
              <a:rPr lang="en-US" sz="2000" b="1" dirty="0">
                <a:solidFill>
                  <a:srgbClr val="000000"/>
                </a:solidFill>
                <a:latin typeface="Petrona Bold" pitchFamily="34" charset="0"/>
                <a:ea typeface="Petrona Bold" pitchFamily="34" charset="-122"/>
                <a:cs typeface="Petrona Bold" pitchFamily="34" charset="-120"/>
              </a:rPr>
              <a:t>🟠</a:t>
            </a:r>
            <a:pPr algn="l" indent="0" marL="0">
              <a:lnSpc>
                <a:spcPts val="2550"/>
              </a:lnSpc>
              <a:buNone/>
            </a:pPr>
            <a:r>
              <a:rPr lang="en-US" sz="2000" b="1" dirty="0">
                <a:solidFill>
                  <a:srgbClr val="272525"/>
                </a:solidFill>
                <a:latin typeface="Petrona Bold" pitchFamily="34" charset="0"/>
                <a:ea typeface="Petrona Bold" pitchFamily="34" charset="-122"/>
                <a:cs typeface="Petrona Bold" pitchFamily="34" charset="-120"/>
              </a:rPr>
              <a:t> Tầng 3 — Bottleneck (Cam)</a:t>
            </a:r>
            <a:endParaRPr lang="en-US" sz="2000" dirty="0"/>
          </a:p>
        </p:txBody>
      </p:sp>
      <p:sp>
        <p:nvSpPr>
          <p:cNvPr id="16" name="Text 14"/>
          <p:cNvSpPr/>
          <p:nvPr/>
        </p:nvSpPr>
        <p:spPr>
          <a:xfrm>
            <a:off x="1073706" y="5913239"/>
            <a:ext cx="5940623" cy="1471017"/>
          </a:xfrm>
          <a:prstGeom prst="rect">
            <a:avLst/>
          </a:prstGeom>
          <a:noFill/>
          <a:ln/>
        </p:spPr>
        <p:txBody>
          <a:bodyPr wrap="square" lIns="0" tIns="0" rIns="0" bIns="0" rtlCol="0" anchor="t"/>
          <a:lstStyle/>
          <a:p>
            <a:pPr algn="l" indent="0" marL="0">
              <a:lnSpc>
                <a:spcPts val="2300"/>
              </a:lnSpc>
              <a:buNone/>
            </a:pPr>
            <a:r>
              <a:rPr lang="en-US" sz="1450" b="1" dirty="0">
                <a:solidFill>
                  <a:srgbClr val="272525"/>
                </a:solidFill>
                <a:latin typeface="Inter" pitchFamily="34" charset="0"/>
                <a:ea typeface="Inter" pitchFamily="34" charset="-122"/>
                <a:cs typeface="Inter" pitchFamily="34" charset="-120"/>
              </a:rPr>
              <a:t>Kích hoạt:</a:t>
            </a:r>
            <a:pPr algn="l" indent="0" marL="0">
              <a:lnSpc>
                <a:spcPts val="2300"/>
              </a:lnSpc>
              <a:buNone/>
            </a:pPr>
            <a:r>
              <a:rPr lang="en-US" sz="1450" dirty="0">
                <a:solidFill>
                  <a:srgbClr val="272525"/>
                </a:solidFill>
                <a:latin typeface="Inter" pitchFamily="34" charset="0"/>
                <a:ea typeface="Inter" pitchFamily="34" charset="-122"/>
                <a:cs typeface="Inter" pitchFamily="34" charset="-120"/>
              </a:rPr>
              <a:t> Task A chưa hoàn thành nhưng đang chặn Task B (quan hệ Finish-to-Start) không thể bắt đầu. </a:t>
            </a:r>
            <a:pPr algn="l" indent="0" marL="0">
              <a:lnSpc>
                <a:spcPts val="2300"/>
              </a:lnSpc>
              <a:buNone/>
            </a:pPr>
            <a:r>
              <a:rPr lang="en-US" sz="1450" b="1" dirty="0">
                <a:solidFill>
                  <a:srgbClr val="272525"/>
                </a:solidFill>
                <a:latin typeface="Inter" pitchFamily="34" charset="0"/>
                <a:ea typeface="Inter" pitchFamily="34" charset="-122"/>
                <a:cs typeface="Inter" pitchFamily="34" charset="-120"/>
              </a:rPr>
              <a:t>Ý nghĩa:</a:t>
            </a:r>
            <a:pPr algn="l" indent="0" marL="0">
              <a:lnSpc>
                <a:spcPts val="2300"/>
              </a:lnSpc>
              <a:buNone/>
            </a:pPr>
            <a:r>
              <a:rPr lang="en-US" sz="1450" dirty="0">
                <a:solidFill>
                  <a:srgbClr val="272525"/>
                </a:solidFill>
                <a:latin typeface="Inter" pitchFamily="34" charset="0"/>
                <a:ea typeface="Inter" pitchFamily="34" charset="-122"/>
                <a:cs typeface="Inter" pitchFamily="34" charset="-120"/>
              </a:rPr>
              <a:t> Điểm nghẽn cục bộ đang gây lãng phí nguồn lực của nhóm phía sau — thợ chờ việc, máy móc nằm không. </a:t>
            </a:r>
            <a:pPr algn="l" indent="0" marL="0">
              <a:lnSpc>
                <a:spcPts val="2300"/>
              </a:lnSpc>
              <a:buNone/>
            </a:pPr>
            <a:r>
              <a:rPr lang="en-US" sz="1450" b="1" dirty="0">
                <a:solidFill>
                  <a:srgbClr val="272525"/>
                </a:solidFill>
                <a:latin typeface="Inter" pitchFamily="34" charset="0"/>
                <a:ea typeface="Inter" pitchFamily="34" charset="-122"/>
                <a:cs typeface="Inter" pitchFamily="34" charset="-120"/>
              </a:rPr>
              <a:t>Hành động:</a:t>
            </a:r>
            <a:pPr algn="l" indent="0" marL="0">
              <a:lnSpc>
                <a:spcPts val="2300"/>
              </a:lnSpc>
              <a:buNone/>
            </a:pPr>
            <a:r>
              <a:rPr lang="en-US" sz="1450" dirty="0">
                <a:solidFill>
                  <a:srgbClr val="272525"/>
                </a:solidFill>
                <a:latin typeface="Inter" pitchFamily="34" charset="0"/>
                <a:ea typeface="Inter" pitchFamily="34" charset="-122"/>
                <a:cs typeface="Inter" pitchFamily="34" charset="-120"/>
              </a:rPr>
              <a:t> Tổ trưởng cần phân bổ lại nhân lực ngay để giải phóng nút cổ chai.</a:t>
            </a:r>
            <a:endParaRPr lang="en-US" sz="1450" dirty="0"/>
          </a:p>
        </p:txBody>
      </p:sp>
      <p:sp>
        <p:nvSpPr>
          <p:cNvPr id="17" name="Shape 15"/>
          <p:cNvSpPr/>
          <p:nvPr/>
        </p:nvSpPr>
        <p:spPr>
          <a:xfrm>
            <a:off x="7404735" y="5255300"/>
            <a:ext cx="6431875" cy="2340293"/>
          </a:xfrm>
          <a:prstGeom prst="roundRect">
            <a:avLst>
              <a:gd name="adj" fmla="val 4689"/>
            </a:avLst>
          </a:prstGeom>
          <a:solidFill>
            <a:srgbClr val="FDFAF7"/>
          </a:solidFill>
          <a:ln w="22860">
            <a:solidFill>
              <a:srgbClr val="C6BDDA"/>
            </a:solidFill>
            <a:prstDash val="solid"/>
          </a:ln>
        </p:spPr>
      </p:sp>
      <p:sp>
        <p:nvSpPr>
          <p:cNvPr id="18" name="Shape 16"/>
          <p:cNvSpPr/>
          <p:nvPr/>
        </p:nvSpPr>
        <p:spPr>
          <a:xfrm>
            <a:off x="7381875" y="5255300"/>
            <a:ext cx="91440" cy="2340293"/>
          </a:xfrm>
          <a:prstGeom prst="roundRect">
            <a:avLst>
              <a:gd name="adj" fmla="val 86605"/>
            </a:avLst>
          </a:prstGeom>
          <a:solidFill>
            <a:srgbClr val="6237C8"/>
          </a:solidFill>
          <a:ln/>
        </p:spPr>
      </p:sp>
      <p:sp>
        <p:nvSpPr>
          <p:cNvPr id="19" name="Text 17"/>
          <p:cNvSpPr/>
          <p:nvPr/>
        </p:nvSpPr>
        <p:spPr>
          <a:xfrm>
            <a:off x="7684651" y="5466636"/>
            <a:ext cx="4366379" cy="339209"/>
          </a:xfrm>
          <a:prstGeom prst="rect">
            <a:avLst/>
          </a:prstGeom>
          <a:noFill/>
          <a:ln/>
        </p:spPr>
        <p:txBody>
          <a:bodyPr wrap="none" lIns="0" tIns="0" rIns="0" bIns="0" rtlCol="0" anchor="t"/>
          <a:lstStyle/>
          <a:p>
            <a:pPr algn="l" indent="0" marL="0">
              <a:lnSpc>
                <a:spcPts val="2550"/>
              </a:lnSpc>
              <a:buNone/>
            </a:pPr>
            <a:r>
              <a:rPr lang="en-US" sz="2000" b="1" dirty="0">
                <a:solidFill>
                  <a:srgbClr val="000000"/>
                </a:solidFill>
                <a:latin typeface="Petrona Bold" pitchFamily="34" charset="0"/>
                <a:ea typeface="Petrona Bold" pitchFamily="34" charset="-122"/>
                <a:cs typeface="Petrona Bold" pitchFamily="34" charset="-120"/>
              </a:rPr>
              <a:t>🟡</a:t>
            </a:r>
            <a:pPr algn="l" indent="0" marL="0">
              <a:lnSpc>
                <a:spcPts val="2550"/>
              </a:lnSpc>
              <a:buNone/>
            </a:pPr>
            <a:r>
              <a:rPr lang="en-US" sz="2000" b="1" dirty="0">
                <a:solidFill>
                  <a:srgbClr val="272525"/>
                </a:solidFill>
                <a:latin typeface="Petrona Bold" pitchFamily="34" charset="0"/>
                <a:ea typeface="Petrona Bold" pitchFamily="34" charset="-122"/>
                <a:cs typeface="Petrona Bold" pitchFamily="34" charset="-120"/>
              </a:rPr>
              <a:t> Tầng 4 — Velocity Warning (Vàng)</a:t>
            </a:r>
            <a:endParaRPr lang="en-US" sz="2000" dirty="0"/>
          </a:p>
        </p:txBody>
      </p:sp>
      <p:sp>
        <p:nvSpPr>
          <p:cNvPr id="20" name="Text 18"/>
          <p:cNvSpPr/>
          <p:nvPr/>
        </p:nvSpPr>
        <p:spPr>
          <a:xfrm>
            <a:off x="7684651" y="5913239"/>
            <a:ext cx="5940623" cy="1471017"/>
          </a:xfrm>
          <a:prstGeom prst="rect">
            <a:avLst/>
          </a:prstGeom>
          <a:noFill/>
          <a:ln/>
        </p:spPr>
        <p:txBody>
          <a:bodyPr wrap="square" lIns="0" tIns="0" rIns="0" bIns="0" rtlCol="0" anchor="t"/>
          <a:lstStyle/>
          <a:p>
            <a:pPr algn="l" indent="0" marL="0">
              <a:lnSpc>
                <a:spcPts val="2300"/>
              </a:lnSpc>
              <a:buNone/>
            </a:pPr>
            <a:r>
              <a:rPr lang="en-US" sz="1450" b="1" dirty="0">
                <a:solidFill>
                  <a:srgbClr val="272525"/>
                </a:solidFill>
                <a:latin typeface="Inter" pitchFamily="34" charset="0"/>
                <a:ea typeface="Inter" pitchFamily="34" charset="-122"/>
                <a:cs typeface="Inter" pitchFamily="34" charset="-120"/>
              </a:rPr>
              <a:t>Kích hoạt:</a:t>
            </a:r>
            <a:pPr algn="l" indent="0" marL="0">
              <a:lnSpc>
                <a:spcPts val="2300"/>
              </a:lnSpc>
              <a:buNone/>
            </a:pPr>
            <a:r>
              <a:rPr lang="en-US" sz="1450" dirty="0">
                <a:solidFill>
                  <a:srgbClr val="272525"/>
                </a:solidFill>
                <a:latin typeface="Inter" pitchFamily="34" charset="0"/>
                <a:ea typeface="Inter" pitchFamily="34" charset="-122"/>
                <a:cs typeface="Inter" pitchFamily="34" charset="-120"/>
              </a:rPr>
              <a:t> Tốc độ tiến độ thực (Progress Velocity) thấp hơn tốc độ thời gian trôi qua (Time Elapsed). </a:t>
            </a:r>
            <a:pPr algn="l" indent="0" marL="0">
              <a:lnSpc>
                <a:spcPts val="2300"/>
              </a:lnSpc>
              <a:buNone/>
            </a:pPr>
            <a:r>
              <a:rPr lang="en-US" sz="1450" b="1" dirty="0">
                <a:solidFill>
                  <a:srgbClr val="272525"/>
                </a:solidFill>
                <a:latin typeface="Inter" pitchFamily="34" charset="0"/>
                <a:ea typeface="Inter" pitchFamily="34" charset="-122"/>
                <a:cs typeface="Inter" pitchFamily="34" charset="-120"/>
              </a:rPr>
              <a:t>Ví dụ điển hình:</a:t>
            </a:r>
            <a:pPr algn="l" indent="0" marL="0">
              <a:lnSpc>
                <a:spcPts val="2300"/>
              </a:lnSpc>
              <a:buNone/>
            </a:pPr>
            <a:r>
              <a:rPr lang="en-US" sz="1450" dirty="0">
                <a:solidFill>
                  <a:srgbClr val="272525"/>
                </a:solidFill>
                <a:latin typeface="Inter" pitchFamily="34" charset="0"/>
                <a:ea typeface="Inter" pitchFamily="34" charset="-122"/>
                <a:cs typeface="Inter" pitchFamily="34" charset="-120"/>
              </a:rPr>
              <a:t> Đã qua 80% thời gian cho phép nhưng khối lượng thực mới hoàn thành được 30%. </a:t>
            </a:r>
            <a:pPr algn="l" indent="0" marL="0">
              <a:lnSpc>
                <a:spcPts val="2300"/>
              </a:lnSpc>
              <a:buNone/>
            </a:pPr>
            <a:r>
              <a:rPr lang="en-US" sz="1450" b="1" dirty="0">
                <a:solidFill>
                  <a:srgbClr val="272525"/>
                </a:solidFill>
                <a:latin typeface="Inter" pitchFamily="34" charset="0"/>
                <a:ea typeface="Inter" pitchFamily="34" charset="-122"/>
                <a:cs typeface="Inter" pitchFamily="34" charset="-120"/>
              </a:rPr>
              <a:t>Ý nghĩa:</a:t>
            </a:r>
            <a:pPr algn="l" indent="0" marL="0">
              <a:lnSpc>
                <a:spcPts val="2300"/>
              </a:lnSpc>
              <a:buNone/>
            </a:pPr>
            <a:r>
              <a:rPr lang="en-US" sz="1450" dirty="0">
                <a:solidFill>
                  <a:srgbClr val="272525"/>
                </a:solidFill>
                <a:latin typeface="Inter" pitchFamily="34" charset="0"/>
                <a:ea typeface="Inter" pitchFamily="34" charset="-122"/>
                <a:cs typeface="Inter" pitchFamily="34" charset="-120"/>
              </a:rPr>
              <a:t> Dự báo định lượng chắc chắn trễ nếu không tăng tốc — đủ thời gian để điều chỉnh.</a:t>
            </a:r>
            <a:endParaRPr lang="en-US" sz="14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93790" y="778312"/>
            <a:ext cx="9861233" cy="682228"/>
          </a:xfrm>
          <a:prstGeom prst="rect">
            <a:avLst/>
          </a:prstGeom>
          <a:noFill/>
          <a:ln/>
        </p:spPr>
        <p:txBody>
          <a:bodyPr wrap="none" lIns="0" tIns="0" rIns="0" bIns="0" rtlCol="0" anchor="t"/>
          <a:lstStyle/>
          <a:p>
            <a:pPr algn="l" indent="0" marL="0">
              <a:lnSpc>
                <a:spcPts val="5350"/>
              </a:lnSpc>
              <a:buNone/>
            </a:pPr>
            <a:r>
              <a:rPr lang="en-US" sz="4250" b="1" dirty="0">
                <a:solidFill>
                  <a:srgbClr val="F95F88"/>
                </a:solidFill>
                <a:latin typeface="Petrona Bold" pitchFamily="34" charset="0"/>
                <a:ea typeface="Petrona Bold" pitchFamily="34" charset="-122"/>
                <a:cs typeface="Petrona Bold" pitchFamily="34" charset="-120"/>
              </a:rPr>
              <a:t>Trình Diễn POC — Ba Góc Nhìn Thực Tế</a:t>
            </a:r>
            <a:endParaRPr lang="en-US" sz="4250" dirty="0"/>
          </a:p>
        </p:txBody>
      </p:sp>
      <p:sp>
        <p:nvSpPr>
          <p:cNvPr id="3" name="Text 1"/>
          <p:cNvSpPr/>
          <p:nvPr/>
        </p:nvSpPr>
        <p:spPr>
          <a:xfrm>
            <a:off x="793790" y="1539835"/>
            <a:ext cx="8088273" cy="341114"/>
          </a:xfrm>
          <a:prstGeom prst="rect">
            <a:avLst/>
          </a:prstGeom>
          <a:noFill/>
          <a:ln/>
        </p:spPr>
        <p:txBody>
          <a:bodyPr wrap="none" lIns="0" tIns="0" rIns="0" bIns="0" rtlCol="0" anchor="t"/>
          <a:lstStyle/>
          <a:p>
            <a:pPr algn="l" indent="0" marL="0">
              <a:lnSpc>
                <a:spcPts val="2650"/>
              </a:lnSpc>
              <a:buNone/>
            </a:pPr>
            <a:r>
              <a:rPr lang="en-US" sz="2100" b="1" dirty="0">
                <a:solidFill>
                  <a:srgbClr val="F95F88"/>
                </a:solidFill>
                <a:latin typeface="Petrona Bold" pitchFamily="34" charset="0"/>
                <a:ea typeface="Petrona Bold" pitchFamily="34" charset="-122"/>
                <a:cs typeface="Petrona Bold" pitchFamily="34" charset="-120"/>
              </a:rPr>
              <a:t>Proof of Concept — Hệ thống đã sẵn sàng để trải nghiệm trực tiếp</a:t>
            </a:r>
            <a:endParaRPr lang="en-US" sz="2100" dirty="0"/>
          </a:p>
        </p:txBody>
      </p:sp>
      <p:pic>
        <p:nvPicPr>
          <p:cNvPr id="4" name="Image 0" descr="preencoded.png">    </p:cNvPr>
          <p:cNvPicPr>
            <a:picLocks noChangeAspect="1"/>
          </p:cNvPicPr>
          <p:nvPr/>
        </p:nvPicPr>
        <p:blipFill>
          <a:blip r:embed="rId1"/>
          <a:stretch>
            <a:fillRect/>
          </a:stretch>
        </p:blipFill>
        <p:spPr>
          <a:xfrm>
            <a:off x="793790" y="2178606"/>
            <a:ext cx="4347567" cy="793790"/>
          </a:xfrm>
          <a:prstGeom prst="rect">
            <a:avLst/>
          </a:prstGeom>
        </p:spPr>
      </p:pic>
      <p:sp>
        <p:nvSpPr>
          <p:cNvPr id="5" name="Text 2"/>
          <p:cNvSpPr/>
          <p:nvPr/>
        </p:nvSpPr>
        <p:spPr>
          <a:xfrm>
            <a:off x="992148" y="3170753"/>
            <a:ext cx="2728913" cy="356354"/>
          </a:xfrm>
          <a:prstGeom prst="rect">
            <a:avLst/>
          </a:prstGeom>
          <a:noFill/>
          <a:ln/>
        </p:spPr>
        <p:txBody>
          <a:bodyPr wrap="none" lIns="0" tIns="0" rIns="0" bIns="0" rtlCol="0" anchor="t"/>
          <a:lstStyle/>
          <a:p>
            <a:pPr algn="l" indent="0" marL="0">
              <a:lnSpc>
                <a:spcPts val="2650"/>
              </a:lnSpc>
              <a:buNone/>
            </a:pPr>
            <a:r>
              <a:rPr lang="en-US" sz="2100" b="1" dirty="0">
                <a:solidFill>
                  <a:srgbClr val="000000"/>
                </a:solidFill>
                <a:latin typeface="Petrona Bold" pitchFamily="34" charset="0"/>
                <a:ea typeface="Petrona Bold" pitchFamily="34" charset="-122"/>
                <a:cs typeface="Petrona Bold" pitchFamily="34" charset="-120"/>
              </a:rPr>
              <a:t>🔧</a:t>
            </a:r>
            <a:pPr algn="l" indent="0" marL="0">
              <a:lnSpc>
                <a:spcPts val="2650"/>
              </a:lnSpc>
              <a:buNone/>
            </a:pPr>
            <a:r>
              <a:rPr lang="en-US" sz="2100" b="1" dirty="0">
                <a:solidFill>
                  <a:srgbClr val="272525"/>
                </a:solidFill>
                <a:latin typeface="Petrona Bold" pitchFamily="34" charset="0"/>
                <a:ea typeface="Petrona Bold" pitchFamily="34" charset="-122"/>
                <a:cs typeface="Petrona Bold" pitchFamily="34" charset="-120"/>
              </a:rPr>
              <a:t> Góc nhìn Thợ</a:t>
            </a:r>
            <a:endParaRPr lang="en-US" sz="2100" dirty="0"/>
          </a:p>
        </p:txBody>
      </p:sp>
      <p:sp>
        <p:nvSpPr>
          <p:cNvPr id="6" name="Text 3"/>
          <p:cNvSpPr/>
          <p:nvPr/>
        </p:nvSpPr>
        <p:spPr>
          <a:xfrm>
            <a:off x="992148" y="3646170"/>
            <a:ext cx="3950851" cy="2222778"/>
          </a:xfrm>
          <a:prstGeom prst="rect">
            <a:avLst/>
          </a:prstGeom>
          <a:noFill/>
          <a:ln/>
        </p:spPr>
        <p:txBody>
          <a:bodyPr wrap="square" lIns="0" tIns="0" rIns="0" bIns="0" rtlCol="0" anchor="t"/>
          <a:lstStyle/>
          <a:p>
            <a:pPr algn="l" indent="0" marL="0">
              <a:lnSpc>
                <a:spcPts val="2500"/>
              </a:lnSpc>
              <a:buNone/>
            </a:pPr>
            <a:r>
              <a:rPr lang="en-US" sz="1550" dirty="0">
                <a:solidFill>
                  <a:srgbClr val="272525"/>
                </a:solidFill>
                <a:latin typeface="Inter" pitchFamily="34" charset="0"/>
                <a:ea typeface="Inter" pitchFamily="34" charset="-122"/>
                <a:cs typeface="Inter" pitchFamily="34" charset="-120"/>
              </a:rPr>
              <a:t>Thợ Check-in GPS tại tọa độ công trường → Nhận danh sách công việc được giao → Thực hiện và chụp ảnh tiến độ → Nộp bằng chứng hình ảnh nghiệm thu. Xin gia hạn task khi cần → Thông báo đến Tổ trưởng tự động. Toàn bộ thao tác chỉ cần smartphone.</a:t>
            </a:r>
            <a:endParaRPr lang="en-US" sz="1550" dirty="0"/>
          </a:p>
        </p:txBody>
      </p:sp>
      <p:pic>
        <p:nvPicPr>
          <p:cNvPr id="7" name="Image 1" descr="preencoded.png">    </p:cNvPr>
          <p:cNvPicPr>
            <a:picLocks noChangeAspect="1"/>
          </p:cNvPicPr>
          <p:nvPr/>
        </p:nvPicPr>
        <p:blipFill>
          <a:blip r:embed="rId2"/>
          <a:stretch>
            <a:fillRect/>
          </a:stretch>
        </p:blipFill>
        <p:spPr>
          <a:xfrm>
            <a:off x="5141357" y="2178606"/>
            <a:ext cx="4347567" cy="793790"/>
          </a:xfrm>
          <a:prstGeom prst="rect">
            <a:avLst/>
          </a:prstGeom>
        </p:spPr>
      </p:pic>
      <p:sp>
        <p:nvSpPr>
          <p:cNvPr id="8" name="Text 4"/>
          <p:cNvSpPr/>
          <p:nvPr/>
        </p:nvSpPr>
        <p:spPr>
          <a:xfrm>
            <a:off x="5339715" y="3170753"/>
            <a:ext cx="2800945" cy="356354"/>
          </a:xfrm>
          <a:prstGeom prst="rect">
            <a:avLst/>
          </a:prstGeom>
          <a:noFill/>
          <a:ln/>
        </p:spPr>
        <p:txBody>
          <a:bodyPr wrap="none" lIns="0" tIns="0" rIns="0" bIns="0" rtlCol="0" anchor="t"/>
          <a:lstStyle/>
          <a:p>
            <a:pPr algn="l" indent="0" marL="0">
              <a:lnSpc>
                <a:spcPts val="2650"/>
              </a:lnSpc>
              <a:buNone/>
            </a:pPr>
            <a:r>
              <a:rPr lang="en-US" sz="2100" b="1" dirty="0">
                <a:solidFill>
                  <a:srgbClr val="000000"/>
                </a:solidFill>
                <a:latin typeface="Petrona Bold" pitchFamily="34" charset="0"/>
                <a:ea typeface="Petrona Bold" pitchFamily="34" charset="-122"/>
                <a:cs typeface="Petrona Bold" pitchFamily="34" charset="-120"/>
              </a:rPr>
              <a:t>👷</a:t>
            </a:r>
            <a:pPr algn="l" indent="0" marL="0">
              <a:lnSpc>
                <a:spcPts val="2650"/>
              </a:lnSpc>
              <a:buNone/>
            </a:pPr>
            <a:r>
              <a:rPr lang="en-US" sz="2100" b="1" dirty="0">
                <a:solidFill>
                  <a:srgbClr val="272525"/>
                </a:solidFill>
                <a:latin typeface="Petrona Bold" pitchFamily="34" charset="0"/>
                <a:ea typeface="Petrona Bold" pitchFamily="34" charset="-122"/>
                <a:cs typeface="Petrona Bold" pitchFamily="34" charset="-120"/>
              </a:rPr>
              <a:t> Góc nhìn Tổ trưởng</a:t>
            </a:r>
            <a:endParaRPr lang="en-US" sz="2100" dirty="0"/>
          </a:p>
        </p:txBody>
      </p:sp>
      <p:sp>
        <p:nvSpPr>
          <p:cNvPr id="9" name="Text 5"/>
          <p:cNvSpPr/>
          <p:nvPr/>
        </p:nvSpPr>
        <p:spPr>
          <a:xfrm>
            <a:off x="5339715" y="3646170"/>
            <a:ext cx="3950851" cy="2222778"/>
          </a:xfrm>
          <a:prstGeom prst="rect">
            <a:avLst/>
          </a:prstGeom>
          <a:noFill/>
          <a:ln/>
        </p:spPr>
        <p:txBody>
          <a:bodyPr wrap="square" lIns="0" tIns="0" rIns="0" bIns="0" rtlCol="0" anchor="t"/>
          <a:lstStyle/>
          <a:p>
            <a:pPr algn="l" indent="0" marL="0">
              <a:lnSpc>
                <a:spcPts val="2500"/>
              </a:lnSpc>
              <a:buNone/>
            </a:pPr>
            <a:r>
              <a:rPr lang="en-US" sz="1550" dirty="0">
                <a:solidFill>
                  <a:srgbClr val="272525"/>
                </a:solidFill>
                <a:latin typeface="Inter" pitchFamily="34" charset="0"/>
                <a:ea typeface="Inter" pitchFamily="34" charset="-122"/>
                <a:cs typeface="Inter" pitchFamily="34" charset="-120"/>
              </a:rPr>
              <a:t>Nhận Notification khi thợ nộp bằng chứng → Duyệt hoặc từ chối với ghi chú → Thấy tiến độ tổng của tổ </a:t>
            </a:r>
            <a:pPr algn="l" indent="0" marL="0">
              <a:lnSpc>
                <a:spcPts val="2500"/>
              </a:lnSpc>
              <a:buNone/>
            </a:pPr>
            <a:r>
              <a:rPr lang="en-US" sz="1550" b="1" dirty="0">
                <a:solidFill>
                  <a:srgbClr val="272525"/>
                </a:solidFill>
                <a:latin typeface="Inter" pitchFamily="34" charset="0"/>
                <a:ea typeface="Inter" pitchFamily="34" charset="-122"/>
                <a:cs typeface="Inter" pitchFamily="34" charset="-120"/>
              </a:rPr>
              <a:t>tự động nhảy % theo trọng số</a:t>
            </a:r>
            <a:pPr algn="l" indent="0" marL="0">
              <a:lnSpc>
                <a:spcPts val="2500"/>
              </a:lnSpc>
              <a:buNone/>
            </a:pPr>
            <a:r>
              <a:rPr lang="en-US" sz="1550" dirty="0">
                <a:solidFill>
                  <a:srgbClr val="272525"/>
                </a:solidFill>
                <a:latin typeface="Inter" pitchFamily="34" charset="0"/>
                <a:ea typeface="Inter" pitchFamily="34" charset="-122"/>
                <a:cs typeface="Inter" pitchFamily="34" charset="-120"/>
              </a:rPr>
              <a:t> ngay sau khi duyệt. Phê duyệt gia hạn task trễ → Thấy sơ đồ Gantt toàn dự án </a:t>
            </a:r>
            <a:pPr algn="l" indent="0" marL="0">
              <a:lnSpc>
                <a:spcPts val="2500"/>
              </a:lnSpc>
              <a:buNone/>
            </a:pPr>
            <a:r>
              <a:rPr lang="en-US" sz="1550" b="1" dirty="0">
                <a:solidFill>
                  <a:srgbClr val="272525"/>
                </a:solidFill>
                <a:latin typeface="Inter" pitchFamily="34" charset="0"/>
                <a:ea typeface="Inter" pitchFamily="34" charset="-122"/>
                <a:cs typeface="Inter" pitchFamily="34" charset="-120"/>
              </a:rPr>
              <a:t>tự động trượt (Cascade)</a:t>
            </a:r>
            <a:pPr algn="l" indent="0" marL="0">
              <a:lnSpc>
                <a:spcPts val="2500"/>
              </a:lnSpc>
              <a:buNone/>
            </a:pPr>
            <a:r>
              <a:rPr lang="en-US" sz="1550" dirty="0">
                <a:solidFill>
                  <a:srgbClr val="272525"/>
                </a:solidFill>
                <a:latin typeface="Inter" pitchFamily="34" charset="0"/>
                <a:ea typeface="Inter" pitchFamily="34" charset="-122"/>
                <a:cs typeface="Inter" pitchFamily="34" charset="-120"/>
              </a:rPr>
              <a:t>. Tạo E-Form xin vật tư một chạm.</a:t>
            </a:r>
            <a:endParaRPr lang="en-US" sz="1550" dirty="0"/>
          </a:p>
        </p:txBody>
      </p:sp>
      <p:pic>
        <p:nvPicPr>
          <p:cNvPr id="10" name="Image 2" descr="preencoded.png">    </p:cNvPr>
          <p:cNvPicPr>
            <a:picLocks noChangeAspect="1"/>
          </p:cNvPicPr>
          <p:nvPr/>
        </p:nvPicPr>
        <p:blipFill>
          <a:blip r:embed="rId3"/>
          <a:stretch>
            <a:fillRect/>
          </a:stretch>
        </p:blipFill>
        <p:spPr>
          <a:xfrm>
            <a:off x="9488924" y="2178606"/>
            <a:ext cx="4347567" cy="793790"/>
          </a:xfrm>
          <a:prstGeom prst="rect">
            <a:avLst/>
          </a:prstGeom>
        </p:spPr>
      </p:pic>
      <p:sp>
        <p:nvSpPr>
          <p:cNvPr id="11" name="Text 6"/>
          <p:cNvSpPr/>
          <p:nvPr/>
        </p:nvSpPr>
        <p:spPr>
          <a:xfrm>
            <a:off x="9687282" y="3170753"/>
            <a:ext cx="2774275" cy="356354"/>
          </a:xfrm>
          <a:prstGeom prst="rect">
            <a:avLst/>
          </a:prstGeom>
          <a:noFill/>
          <a:ln/>
        </p:spPr>
        <p:txBody>
          <a:bodyPr wrap="none" lIns="0" tIns="0" rIns="0" bIns="0" rtlCol="0" anchor="t"/>
          <a:lstStyle/>
          <a:p>
            <a:pPr algn="l" indent="0" marL="0">
              <a:lnSpc>
                <a:spcPts val="2650"/>
              </a:lnSpc>
              <a:buNone/>
            </a:pPr>
            <a:r>
              <a:rPr lang="en-US" sz="2100" b="1" dirty="0">
                <a:solidFill>
                  <a:srgbClr val="000000"/>
                </a:solidFill>
                <a:latin typeface="Petrona Bold" pitchFamily="34" charset="0"/>
                <a:ea typeface="Petrona Bold" pitchFamily="34" charset="-122"/>
                <a:cs typeface="Petrona Bold" pitchFamily="34" charset="-120"/>
              </a:rPr>
              <a:t>👔</a:t>
            </a:r>
            <a:pPr algn="l" indent="0" marL="0">
              <a:lnSpc>
                <a:spcPts val="2650"/>
              </a:lnSpc>
              <a:buNone/>
            </a:pPr>
            <a:r>
              <a:rPr lang="en-US" sz="2100" b="1" dirty="0">
                <a:solidFill>
                  <a:srgbClr val="272525"/>
                </a:solidFill>
                <a:latin typeface="Petrona Bold" pitchFamily="34" charset="0"/>
                <a:ea typeface="Petrona Bold" pitchFamily="34" charset="-122"/>
                <a:cs typeface="Petrona Bold" pitchFamily="34" charset="-120"/>
              </a:rPr>
              <a:t> Góc nhìn Giám đốc</a:t>
            </a:r>
            <a:endParaRPr lang="en-US" sz="2100" dirty="0"/>
          </a:p>
        </p:txBody>
      </p:sp>
      <p:sp>
        <p:nvSpPr>
          <p:cNvPr id="12" name="Text 7"/>
          <p:cNvSpPr/>
          <p:nvPr/>
        </p:nvSpPr>
        <p:spPr>
          <a:xfrm>
            <a:off x="9687282" y="3646170"/>
            <a:ext cx="3950851" cy="2222778"/>
          </a:xfrm>
          <a:prstGeom prst="rect">
            <a:avLst/>
          </a:prstGeom>
          <a:noFill/>
          <a:ln/>
        </p:spPr>
        <p:txBody>
          <a:bodyPr wrap="square" lIns="0" tIns="0" rIns="0" bIns="0" rtlCol="0" anchor="t"/>
          <a:lstStyle/>
          <a:p>
            <a:pPr algn="l" indent="0" marL="0">
              <a:lnSpc>
                <a:spcPts val="2500"/>
              </a:lnSpc>
              <a:buNone/>
            </a:pPr>
            <a:r>
              <a:rPr lang="en-US" sz="1550" dirty="0">
                <a:solidFill>
                  <a:srgbClr val="272525"/>
                </a:solidFill>
                <a:latin typeface="Inter" pitchFamily="34" charset="0"/>
                <a:ea typeface="Inter" pitchFamily="34" charset="-122"/>
                <a:cs typeface="Inter" pitchFamily="34" charset="-120"/>
              </a:rPr>
              <a:t>Mở Dashboard tổng quan → Nhận diện ngay các thẻ "Cảnh báo rủi ro" EWS theo màu sắc → Xem chi tiết sơ đồ Gantt toàn dự án → Duyệt gia hạn task trễ ngay trên điện thoại → Thấy timeline toàn bộ dự án tự cập nhật. Kiểm soát tất cả mà không cần họp.</a:t>
            </a:r>
            <a:endParaRPr lang="en-US" sz="1550" dirty="0"/>
          </a:p>
        </p:txBody>
      </p:sp>
      <p:sp>
        <p:nvSpPr>
          <p:cNvPr id="13" name="Shape 8"/>
          <p:cNvSpPr/>
          <p:nvPr/>
        </p:nvSpPr>
        <p:spPr>
          <a:xfrm>
            <a:off x="793790" y="6290548"/>
            <a:ext cx="13042821" cy="1160740"/>
          </a:xfrm>
          <a:prstGeom prst="roundRect">
            <a:avLst>
              <a:gd name="adj" fmla="val 7182"/>
            </a:avLst>
          </a:prstGeom>
          <a:solidFill>
            <a:srgbClr val="B6D6FC"/>
          </a:solidFill>
          <a:ln/>
        </p:spPr>
      </p:sp>
      <p:pic>
        <p:nvPicPr>
          <p:cNvPr id="14" name="Image 3" descr="preencoded.png">    </p:cNvPr>
          <p:cNvPicPr>
            <a:picLocks noChangeAspect="1"/>
          </p:cNvPicPr>
          <p:nvPr/>
        </p:nvPicPr>
        <p:blipFill>
          <a:blip r:embed="rId4"/>
          <a:stretch>
            <a:fillRect/>
          </a:stretch>
        </p:blipFill>
        <p:spPr>
          <a:xfrm>
            <a:off x="992148" y="6593443"/>
            <a:ext cx="248007" cy="198358"/>
          </a:xfrm>
          <a:prstGeom prst="rect">
            <a:avLst/>
          </a:prstGeom>
        </p:spPr>
      </p:pic>
      <p:sp>
        <p:nvSpPr>
          <p:cNvPr id="15" name="Text 9"/>
          <p:cNvSpPr/>
          <p:nvPr/>
        </p:nvSpPr>
        <p:spPr>
          <a:xfrm>
            <a:off x="1438513" y="6538436"/>
            <a:ext cx="12199739" cy="635079"/>
          </a:xfrm>
          <a:prstGeom prst="rect">
            <a:avLst/>
          </a:prstGeom>
          <a:noFill/>
          <a:ln/>
        </p:spPr>
        <p:txBody>
          <a:bodyPr wrap="square" lIns="0" tIns="0" rIns="0" bIns="0" rtlCol="0" anchor="t"/>
          <a:lstStyle/>
          <a:p>
            <a:pPr algn="l" indent="0" marL="0">
              <a:lnSpc>
                <a:spcPts val="2500"/>
              </a:lnSpc>
              <a:buNone/>
            </a:pPr>
            <a:r>
              <a:rPr lang="en-US" sz="1550" dirty="0">
                <a:solidFill>
                  <a:srgbClr val="000000"/>
                </a:solidFill>
                <a:latin typeface="Inter" pitchFamily="34" charset="0"/>
                <a:ea typeface="Inter" pitchFamily="34" charset="-122"/>
                <a:cs typeface="Inter" pitchFamily="34" charset="-120"/>
              </a:rPr>
              <a:t>Anh Bùi Tuấn Anh sẽ dừng slide tại đây và mở phần mềm live demo để trình diễn trực tiếp ba kịch bản trên với dữ liệu thực tế của SAREE.</a:t>
            </a:r>
            <a:endParaRPr lang="en-US" sz="15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793790" y="859750"/>
            <a:ext cx="7339489" cy="511612"/>
          </a:xfrm>
          <a:prstGeom prst="rect">
            <a:avLst/>
          </a:prstGeom>
          <a:noFill/>
          <a:ln/>
        </p:spPr>
        <p:txBody>
          <a:bodyPr wrap="none" lIns="0" tIns="0" rIns="0" bIns="0" rtlCol="0" anchor="t"/>
          <a:lstStyle/>
          <a:p>
            <a:pPr algn="l" indent="0" marL="0">
              <a:lnSpc>
                <a:spcPts val="4000"/>
              </a:lnSpc>
              <a:buNone/>
            </a:pPr>
            <a:r>
              <a:rPr lang="en-US" sz="3200" b="1" dirty="0">
                <a:solidFill>
                  <a:srgbClr val="F95F88"/>
                </a:solidFill>
                <a:latin typeface="Petrona Bold" pitchFamily="34" charset="0"/>
                <a:ea typeface="Petrona Bold" pitchFamily="34" charset="-122"/>
                <a:cs typeface="Petrona Bold" pitchFamily="34" charset="-120"/>
              </a:rPr>
              <a:t>Lộ Trình Hoàn Thiện &amp; Bước Tiếp Theo</a:t>
            </a:r>
            <a:endParaRPr lang="en-US" sz="3200" dirty="0"/>
          </a:p>
        </p:txBody>
      </p:sp>
      <p:sp>
        <p:nvSpPr>
          <p:cNvPr id="3" name="Text 1"/>
          <p:cNvSpPr/>
          <p:nvPr/>
        </p:nvSpPr>
        <p:spPr>
          <a:xfrm>
            <a:off x="793790" y="1416010"/>
            <a:ext cx="6666071" cy="255746"/>
          </a:xfrm>
          <a:prstGeom prst="rect">
            <a:avLst/>
          </a:prstGeom>
          <a:noFill/>
          <a:ln/>
        </p:spPr>
        <p:txBody>
          <a:bodyPr wrap="none" lIns="0" tIns="0" rIns="0" bIns="0" rtlCol="0" anchor="t"/>
          <a:lstStyle/>
          <a:p>
            <a:pPr algn="l" indent="0" marL="0">
              <a:lnSpc>
                <a:spcPts val="2000"/>
              </a:lnSpc>
              <a:buNone/>
            </a:pPr>
            <a:r>
              <a:rPr lang="en-US" sz="1600" b="1" dirty="0">
                <a:solidFill>
                  <a:srgbClr val="F95F88"/>
                </a:solidFill>
                <a:latin typeface="Petrona Bold" pitchFamily="34" charset="0"/>
                <a:ea typeface="Petrona Bold" pitchFamily="34" charset="-122"/>
                <a:cs typeface="Petrona Bold" pitchFamily="34" charset="-120"/>
              </a:rPr>
              <a:t>Roadmap triển khai theo 3 giai đoạn — Từ nền tảng đến trí tuệ nhân tạo</a:t>
            </a:r>
            <a:endParaRPr lang="en-US" sz="1600" dirty="0"/>
          </a:p>
        </p:txBody>
      </p:sp>
      <p:sp>
        <p:nvSpPr>
          <p:cNvPr id="4" name="Shape 2"/>
          <p:cNvSpPr/>
          <p:nvPr/>
        </p:nvSpPr>
        <p:spPr>
          <a:xfrm>
            <a:off x="7307580" y="1839158"/>
            <a:ext cx="15240" cy="2792968"/>
          </a:xfrm>
          <a:prstGeom prst="roundRect">
            <a:avLst>
              <a:gd name="adj" fmla="val 410233"/>
            </a:avLst>
          </a:prstGeom>
          <a:solidFill>
            <a:srgbClr val="C6BDDA"/>
          </a:solidFill>
          <a:ln/>
        </p:spPr>
      </p:sp>
      <p:sp>
        <p:nvSpPr>
          <p:cNvPr id="5" name="Shape 3"/>
          <p:cNvSpPr/>
          <p:nvPr/>
        </p:nvSpPr>
        <p:spPr>
          <a:xfrm>
            <a:off x="6716494" y="1998940"/>
            <a:ext cx="446484" cy="15240"/>
          </a:xfrm>
          <a:prstGeom prst="roundRect">
            <a:avLst>
              <a:gd name="adj" fmla="val 410233"/>
            </a:avLst>
          </a:prstGeom>
          <a:solidFill>
            <a:srgbClr val="C6BDDA"/>
          </a:solidFill>
          <a:ln/>
        </p:spPr>
      </p:sp>
      <p:sp>
        <p:nvSpPr>
          <p:cNvPr id="6" name="Shape 4"/>
          <p:cNvSpPr/>
          <p:nvPr/>
        </p:nvSpPr>
        <p:spPr>
          <a:xfrm>
            <a:off x="7147739" y="1839158"/>
            <a:ext cx="334923" cy="334923"/>
          </a:xfrm>
          <a:prstGeom prst="roundRect">
            <a:avLst>
              <a:gd name="adj" fmla="val 18667"/>
            </a:avLst>
          </a:prstGeom>
          <a:solidFill>
            <a:srgbClr val="E0D7F4"/>
          </a:solidFill>
          <a:ln w="7620">
            <a:solidFill>
              <a:srgbClr val="C6BDDA"/>
            </a:solidFill>
            <a:prstDash val="solid"/>
          </a:ln>
        </p:spPr>
      </p:sp>
      <p:sp>
        <p:nvSpPr>
          <p:cNvPr id="7" name="Text 5"/>
          <p:cNvSpPr/>
          <p:nvPr/>
        </p:nvSpPr>
        <p:spPr>
          <a:xfrm>
            <a:off x="7192387" y="1853089"/>
            <a:ext cx="245507" cy="306943"/>
          </a:xfrm>
          <a:prstGeom prst="rect">
            <a:avLst/>
          </a:prstGeom>
          <a:noFill/>
          <a:ln/>
        </p:spPr>
        <p:txBody>
          <a:bodyPr wrap="none" lIns="0" tIns="0" rIns="0" bIns="0" rtlCol="0" anchor="t"/>
          <a:lstStyle/>
          <a:p>
            <a:pPr algn="ctr" indent="0" marL="0">
              <a:lnSpc>
                <a:spcPts val="1900"/>
              </a:lnSpc>
              <a:buNone/>
            </a:pPr>
            <a:r>
              <a:rPr lang="en-US" sz="1900" b="1" dirty="0">
                <a:solidFill>
                  <a:srgbClr val="272525"/>
                </a:solidFill>
                <a:latin typeface="Petrona Bold" pitchFamily="34" charset="0"/>
                <a:ea typeface="Petrona Bold" pitchFamily="34" charset="-122"/>
                <a:cs typeface="Petrona Bold" pitchFamily="34" charset="-120"/>
              </a:rPr>
              <a:t>1</a:t>
            </a:r>
            <a:endParaRPr lang="en-US" sz="1900" dirty="0"/>
          </a:p>
        </p:txBody>
      </p:sp>
      <p:sp>
        <p:nvSpPr>
          <p:cNvPr id="8" name="Text 6"/>
          <p:cNvSpPr/>
          <p:nvPr/>
        </p:nvSpPr>
        <p:spPr>
          <a:xfrm>
            <a:off x="4524256" y="1890236"/>
            <a:ext cx="2046684" cy="255746"/>
          </a:xfrm>
          <a:prstGeom prst="rect">
            <a:avLst/>
          </a:prstGeom>
          <a:noFill/>
          <a:ln/>
        </p:spPr>
        <p:txBody>
          <a:bodyPr wrap="none" lIns="0" tIns="0" rIns="0" bIns="0" rtlCol="0" anchor="t"/>
          <a:lstStyle/>
          <a:p>
            <a:pPr algn="r" indent="0" marL="0">
              <a:lnSpc>
                <a:spcPts val="2000"/>
              </a:lnSpc>
              <a:buNone/>
            </a:pPr>
            <a:r>
              <a:rPr lang="en-US" sz="1600" b="1" dirty="0">
                <a:solidFill>
                  <a:srgbClr val="272525"/>
                </a:solidFill>
                <a:latin typeface="Petrona Bold" pitchFamily="34" charset="0"/>
                <a:ea typeface="Petrona Bold" pitchFamily="34" charset="-122"/>
                <a:cs typeface="Petrona Bold" pitchFamily="34" charset="-120"/>
              </a:rPr>
              <a:t>Phase 1 — Tháng 1–2</a:t>
            </a:r>
            <a:endParaRPr lang="en-US" sz="1600" dirty="0"/>
          </a:p>
        </p:txBody>
      </p:sp>
      <p:sp>
        <p:nvSpPr>
          <p:cNvPr id="9" name="Text 7"/>
          <p:cNvSpPr/>
          <p:nvPr/>
        </p:nvSpPr>
        <p:spPr>
          <a:xfrm>
            <a:off x="793790" y="2212896"/>
            <a:ext cx="5777151" cy="833438"/>
          </a:xfrm>
          <a:prstGeom prst="rect">
            <a:avLst/>
          </a:prstGeom>
          <a:noFill/>
          <a:ln/>
        </p:spPr>
        <p:txBody>
          <a:bodyPr wrap="square" lIns="0" tIns="0" rIns="0" bIns="0" rtlCol="0" anchor="t"/>
          <a:lstStyle/>
          <a:p>
            <a:pPr algn="r" indent="0" marL="0">
              <a:lnSpc>
                <a:spcPts val="1600"/>
              </a:lnSpc>
              <a:buNone/>
            </a:pPr>
            <a:r>
              <a:rPr lang="en-US" sz="1150" b="1" dirty="0">
                <a:solidFill>
                  <a:srgbClr val="272525"/>
                </a:solidFill>
                <a:latin typeface="Inter" pitchFamily="34" charset="0"/>
                <a:ea typeface="Inter" pitchFamily="34" charset="-122"/>
                <a:cs typeface="Inter" pitchFamily="34" charset="-120"/>
              </a:rPr>
              <a:t>Core MES &amp; Site Management</a:t>
            </a:r>
            <a:pPr algn="r" indent="0" marL="0">
              <a:lnSpc>
                <a:spcPts val="1600"/>
              </a:lnSpc>
              <a:buNone/>
            </a:pPr>
            <a:r>
              <a:rPr lang="en-US" sz="1150" dirty="0">
                <a:solidFill>
                  <a:srgbClr val="272525"/>
                </a:solidFill>
                <a:latin typeface="Inter" pitchFamily="34" charset="0"/>
                <a:ea typeface="Inter" pitchFamily="34" charset="-122"/>
                <a:cs typeface="Inter" pitchFamily="34" charset="-120"/>
              </a:rPr>
              <a:t> (Đã hoàn thiện trong POC). Bao gồm: Quản lý Task chuyên sâu, Workflow gia hạn có phê duyệt, Sơ đồ Gantt với Cascade Logic, Tính tiến độ theo trọng số Bottom-up và Hệ thống cảnh báo sớm 4 tầng (EWS). GPS Check-in và Daily Proof Report.</a:t>
            </a:r>
            <a:endParaRPr lang="en-US" sz="1150" dirty="0"/>
          </a:p>
        </p:txBody>
      </p:sp>
      <p:sp>
        <p:nvSpPr>
          <p:cNvPr id="10" name="Shape 8"/>
          <p:cNvSpPr/>
          <p:nvPr/>
        </p:nvSpPr>
        <p:spPr>
          <a:xfrm>
            <a:off x="7467421" y="2817495"/>
            <a:ext cx="446484" cy="15240"/>
          </a:xfrm>
          <a:prstGeom prst="roundRect">
            <a:avLst>
              <a:gd name="adj" fmla="val 410233"/>
            </a:avLst>
          </a:prstGeom>
          <a:solidFill>
            <a:srgbClr val="C6BDDA"/>
          </a:solidFill>
          <a:ln/>
        </p:spPr>
      </p:sp>
      <p:sp>
        <p:nvSpPr>
          <p:cNvPr id="11" name="Shape 9"/>
          <p:cNvSpPr/>
          <p:nvPr/>
        </p:nvSpPr>
        <p:spPr>
          <a:xfrm>
            <a:off x="7147739" y="2657713"/>
            <a:ext cx="334923" cy="334923"/>
          </a:xfrm>
          <a:prstGeom prst="roundRect">
            <a:avLst>
              <a:gd name="adj" fmla="val 18667"/>
            </a:avLst>
          </a:prstGeom>
          <a:solidFill>
            <a:srgbClr val="E0D7F4"/>
          </a:solidFill>
          <a:ln w="7620">
            <a:solidFill>
              <a:srgbClr val="C6BDDA"/>
            </a:solidFill>
            <a:prstDash val="solid"/>
          </a:ln>
        </p:spPr>
      </p:sp>
      <p:sp>
        <p:nvSpPr>
          <p:cNvPr id="12" name="Text 10"/>
          <p:cNvSpPr/>
          <p:nvPr/>
        </p:nvSpPr>
        <p:spPr>
          <a:xfrm>
            <a:off x="7192387" y="2671643"/>
            <a:ext cx="245507" cy="306943"/>
          </a:xfrm>
          <a:prstGeom prst="rect">
            <a:avLst/>
          </a:prstGeom>
          <a:noFill/>
          <a:ln/>
        </p:spPr>
        <p:txBody>
          <a:bodyPr wrap="none" lIns="0" tIns="0" rIns="0" bIns="0" rtlCol="0" anchor="t"/>
          <a:lstStyle/>
          <a:p>
            <a:pPr algn="ctr" indent="0" marL="0">
              <a:lnSpc>
                <a:spcPts val="1900"/>
              </a:lnSpc>
              <a:buNone/>
            </a:pPr>
            <a:r>
              <a:rPr lang="en-US" sz="1900" b="1" dirty="0">
                <a:solidFill>
                  <a:srgbClr val="272525"/>
                </a:solidFill>
                <a:latin typeface="Petrona Bold" pitchFamily="34" charset="0"/>
                <a:ea typeface="Petrona Bold" pitchFamily="34" charset="-122"/>
                <a:cs typeface="Petrona Bold" pitchFamily="34" charset="-120"/>
              </a:rPr>
              <a:t>2</a:t>
            </a:r>
            <a:endParaRPr lang="en-US" sz="1900" dirty="0"/>
          </a:p>
        </p:txBody>
      </p:sp>
      <p:sp>
        <p:nvSpPr>
          <p:cNvPr id="13" name="Text 11"/>
          <p:cNvSpPr/>
          <p:nvPr/>
        </p:nvSpPr>
        <p:spPr>
          <a:xfrm>
            <a:off x="8059460" y="2708791"/>
            <a:ext cx="2046684" cy="255746"/>
          </a:xfrm>
          <a:prstGeom prst="rect">
            <a:avLst/>
          </a:prstGeom>
          <a:noFill/>
          <a:ln/>
        </p:spPr>
        <p:txBody>
          <a:bodyPr wrap="none" lIns="0" tIns="0" rIns="0" bIns="0" rtlCol="0" anchor="t"/>
          <a:lstStyle/>
          <a:p>
            <a:pPr algn="l" indent="0" marL="0">
              <a:lnSpc>
                <a:spcPts val="2000"/>
              </a:lnSpc>
              <a:buNone/>
            </a:pPr>
            <a:r>
              <a:rPr lang="en-US" sz="1600" b="1" dirty="0">
                <a:solidFill>
                  <a:srgbClr val="272525"/>
                </a:solidFill>
                <a:latin typeface="Petrona Bold" pitchFamily="34" charset="0"/>
                <a:ea typeface="Petrona Bold" pitchFamily="34" charset="-122"/>
                <a:cs typeface="Petrona Bold" pitchFamily="34" charset="-120"/>
              </a:rPr>
              <a:t>Phase 2 — Tháng 3–4</a:t>
            </a:r>
            <a:endParaRPr lang="en-US" sz="1600" dirty="0"/>
          </a:p>
        </p:txBody>
      </p:sp>
      <p:sp>
        <p:nvSpPr>
          <p:cNvPr id="14" name="Text 12"/>
          <p:cNvSpPr/>
          <p:nvPr/>
        </p:nvSpPr>
        <p:spPr>
          <a:xfrm>
            <a:off x="8059460" y="3031450"/>
            <a:ext cx="5777151" cy="833438"/>
          </a:xfrm>
          <a:prstGeom prst="rect">
            <a:avLst/>
          </a:prstGeom>
          <a:noFill/>
          <a:ln/>
        </p:spPr>
        <p:txBody>
          <a:bodyPr wrap="square" lIns="0" tIns="0" rIns="0" bIns="0" rtlCol="0" anchor="t"/>
          <a:lstStyle/>
          <a:p>
            <a:pPr algn="l" indent="0" marL="0">
              <a:lnSpc>
                <a:spcPts val="1600"/>
              </a:lnSpc>
              <a:buNone/>
            </a:pPr>
            <a:r>
              <a:rPr lang="en-US" sz="1150" b="1" dirty="0">
                <a:solidFill>
                  <a:srgbClr val="272525"/>
                </a:solidFill>
                <a:latin typeface="Inter" pitchFamily="34" charset="0"/>
                <a:ea typeface="Inter" pitchFamily="34" charset="-122"/>
                <a:cs typeface="Inter" pitchFamily="34" charset="-120"/>
              </a:rPr>
              <a:t>Số hóa Báo giá &amp; Vật tư</a:t>
            </a:r>
            <a:pPr algn="l" indent="0" marL="0">
              <a:lnSpc>
                <a:spcPts val="1600"/>
              </a:lnSpc>
              <a:buNone/>
            </a:pPr>
            <a:r>
              <a:rPr lang="en-US" sz="1150" dirty="0">
                <a:solidFill>
                  <a:srgbClr val="272525"/>
                </a:solidFill>
                <a:latin typeface="Inter" pitchFamily="34" charset="0"/>
                <a:ea typeface="Inter" pitchFamily="34" charset="-122"/>
                <a:cs typeface="Inter" pitchFamily="34" charset="-120"/>
              </a:rPr>
              <a:t>. Xây dựng luồng Ticket luân chuyển báo giá tự động qua 4 bộ phận. Tích hợp E-Form xin vật tư liên kết trực tiếp với Kho 1, 2, 3. Win/Loss Analytics Dashboard. Lưu trữ lịch sử thương lượng và phân tích nguyên nhân trượt thầu.</a:t>
            </a:r>
            <a:endParaRPr lang="en-US" sz="1150" dirty="0"/>
          </a:p>
        </p:txBody>
      </p:sp>
      <p:sp>
        <p:nvSpPr>
          <p:cNvPr id="15" name="Shape 13"/>
          <p:cNvSpPr/>
          <p:nvPr/>
        </p:nvSpPr>
        <p:spPr>
          <a:xfrm>
            <a:off x="6716494" y="3549968"/>
            <a:ext cx="446484" cy="15240"/>
          </a:xfrm>
          <a:prstGeom prst="roundRect">
            <a:avLst>
              <a:gd name="adj" fmla="val 410233"/>
            </a:avLst>
          </a:prstGeom>
          <a:solidFill>
            <a:srgbClr val="C6BDDA"/>
          </a:solidFill>
          <a:ln/>
        </p:spPr>
      </p:sp>
      <p:sp>
        <p:nvSpPr>
          <p:cNvPr id="16" name="Shape 14"/>
          <p:cNvSpPr/>
          <p:nvPr/>
        </p:nvSpPr>
        <p:spPr>
          <a:xfrm>
            <a:off x="7147739" y="3390186"/>
            <a:ext cx="334923" cy="334923"/>
          </a:xfrm>
          <a:prstGeom prst="roundRect">
            <a:avLst>
              <a:gd name="adj" fmla="val 18667"/>
            </a:avLst>
          </a:prstGeom>
          <a:solidFill>
            <a:srgbClr val="E0D7F4"/>
          </a:solidFill>
          <a:ln w="7620">
            <a:solidFill>
              <a:srgbClr val="C6BDDA"/>
            </a:solidFill>
            <a:prstDash val="solid"/>
          </a:ln>
        </p:spPr>
      </p:sp>
      <p:sp>
        <p:nvSpPr>
          <p:cNvPr id="17" name="Text 15"/>
          <p:cNvSpPr/>
          <p:nvPr/>
        </p:nvSpPr>
        <p:spPr>
          <a:xfrm>
            <a:off x="7192387" y="3404116"/>
            <a:ext cx="245507" cy="306943"/>
          </a:xfrm>
          <a:prstGeom prst="rect">
            <a:avLst/>
          </a:prstGeom>
          <a:noFill/>
          <a:ln/>
        </p:spPr>
        <p:txBody>
          <a:bodyPr wrap="none" lIns="0" tIns="0" rIns="0" bIns="0" rtlCol="0" anchor="t"/>
          <a:lstStyle/>
          <a:p>
            <a:pPr algn="ctr" indent="0" marL="0">
              <a:lnSpc>
                <a:spcPts val="1900"/>
              </a:lnSpc>
              <a:buNone/>
            </a:pPr>
            <a:r>
              <a:rPr lang="en-US" sz="1900" b="1" dirty="0">
                <a:solidFill>
                  <a:srgbClr val="272525"/>
                </a:solidFill>
                <a:latin typeface="Petrona Bold" pitchFamily="34" charset="0"/>
                <a:ea typeface="Petrona Bold" pitchFamily="34" charset="-122"/>
                <a:cs typeface="Petrona Bold" pitchFamily="34" charset="-120"/>
              </a:rPr>
              <a:t>3</a:t>
            </a:r>
            <a:endParaRPr lang="en-US" sz="1900" dirty="0"/>
          </a:p>
        </p:txBody>
      </p:sp>
      <p:sp>
        <p:nvSpPr>
          <p:cNvPr id="18" name="Text 16"/>
          <p:cNvSpPr/>
          <p:nvPr/>
        </p:nvSpPr>
        <p:spPr>
          <a:xfrm>
            <a:off x="4524256" y="3441263"/>
            <a:ext cx="2046684" cy="255746"/>
          </a:xfrm>
          <a:prstGeom prst="rect">
            <a:avLst/>
          </a:prstGeom>
          <a:noFill/>
          <a:ln/>
        </p:spPr>
        <p:txBody>
          <a:bodyPr wrap="none" lIns="0" tIns="0" rIns="0" bIns="0" rtlCol="0" anchor="t"/>
          <a:lstStyle/>
          <a:p>
            <a:pPr algn="r" indent="0" marL="0">
              <a:lnSpc>
                <a:spcPts val="2000"/>
              </a:lnSpc>
              <a:buNone/>
            </a:pPr>
            <a:r>
              <a:rPr lang="en-US" sz="1600" b="1" dirty="0">
                <a:solidFill>
                  <a:srgbClr val="272525"/>
                </a:solidFill>
                <a:latin typeface="Petrona Bold" pitchFamily="34" charset="0"/>
                <a:ea typeface="Petrona Bold" pitchFamily="34" charset="-122"/>
                <a:cs typeface="Petrona Bold" pitchFamily="34" charset="-120"/>
              </a:rPr>
              <a:t>Phase 3 — Tháng 5+</a:t>
            </a:r>
            <a:endParaRPr lang="en-US" sz="1600" dirty="0"/>
          </a:p>
        </p:txBody>
      </p:sp>
      <p:sp>
        <p:nvSpPr>
          <p:cNvPr id="19" name="Text 17"/>
          <p:cNvSpPr/>
          <p:nvPr/>
        </p:nvSpPr>
        <p:spPr>
          <a:xfrm>
            <a:off x="793790" y="3763923"/>
            <a:ext cx="5777151" cy="625078"/>
          </a:xfrm>
          <a:prstGeom prst="rect">
            <a:avLst/>
          </a:prstGeom>
          <a:noFill/>
          <a:ln/>
        </p:spPr>
        <p:txBody>
          <a:bodyPr wrap="square" lIns="0" tIns="0" rIns="0" bIns="0" rtlCol="0" anchor="t"/>
          <a:lstStyle/>
          <a:p>
            <a:pPr algn="r" indent="0" marL="0">
              <a:lnSpc>
                <a:spcPts val="1600"/>
              </a:lnSpc>
              <a:buNone/>
            </a:pPr>
            <a:r>
              <a:rPr lang="en-US" sz="1150" b="1" dirty="0">
                <a:solidFill>
                  <a:srgbClr val="272525"/>
                </a:solidFill>
                <a:latin typeface="Inter" pitchFamily="34" charset="0"/>
                <a:ea typeface="Inter" pitchFamily="34" charset="-122"/>
                <a:cs typeface="Inter" pitchFamily="34" charset="-120"/>
              </a:rPr>
              <a:t>Bảo hành &amp; Trí tuệ nhân tạo</a:t>
            </a:r>
            <a:pPr algn="r" indent="0" marL="0">
              <a:lnSpc>
                <a:spcPts val="1600"/>
              </a:lnSpc>
              <a:buNone/>
            </a:pPr>
            <a:r>
              <a:rPr lang="en-US" sz="1150" dirty="0">
                <a:solidFill>
                  <a:srgbClr val="272525"/>
                </a:solidFill>
                <a:latin typeface="Inter" pitchFamily="34" charset="0"/>
                <a:ea typeface="Inter" pitchFamily="34" charset="-122"/>
                <a:cs typeface="Inter" pitchFamily="34" charset="-120"/>
              </a:rPr>
              <a:t>. Quản lý lịch sử lỗi thi công để phục vụ bảo trì và nâng cấp. Nghiên cứu </a:t>
            </a:r>
            <a:pPr algn="r" indent="0" marL="0">
              <a:lnSpc>
                <a:spcPts val="1600"/>
              </a:lnSpc>
              <a:buNone/>
            </a:pPr>
            <a:r>
              <a:rPr lang="en-US" sz="1150" b="1" dirty="0">
                <a:solidFill>
                  <a:srgbClr val="272525"/>
                </a:solidFill>
                <a:latin typeface="Inter" pitchFamily="34" charset="0"/>
                <a:ea typeface="Inter" pitchFamily="34" charset="-122"/>
                <a:cs typeface="Inter" pitchFamily="34" charset="-120"/>
              </a:rPr>
              <a:t>AI/RAG tự động bóc tách vật tư từ bản vẽ kỹ thuật</a:t>
            </a:r>
            <a:pPr algn="r" indent="0" marL="0">
              <a:lnSpc>
                <a:spcPts val="1600"/>
              </a:lnSpc>
              <a:buNone/>
            </a:pPr>
            <a:r>
              <a:rPr lang="en-US" sz="1150" dirty="0">
                <a:solidFill>
                  <a:srgbClr val="272525"/>
                </a:solidFill>
                <a:latin typeface="Inter" pitchFamily="34" charset="0"/>
                <a:ea typeface="Inter" pitchFamily="34" charset="-122"/>
                <a:cs typeface="Inter" pitchFamily="34" charset="-120"/>
              </a:rPr>
              <a:t> — giảm 80% thời gian lập báo giá thủ công. Dự báo rủi ro dựa trên dữ liệu lịch sử dự án.</a:t>
            </a:r>
            <a:endParaRPr lang="en-US" sz="1150" dirty="0"/>
          </a:p>
        </p:txBody>
      </p:sp>
      <p:sp>
        <p:nvSpPr>
          <p:cNvPr id="20" name="Shape 18"/>
          <p:cNvSpPr/>
          <p:nvPr/>
        </p:nvSpPr>
        <p:spPr>
          <a:xfrm>
            <a:off x="686633" y="4757618"/>
            <a:ext cx="6554153" cy="2612231"/>
          </a:xfrm>
          <a:prstGeom prst="roundRect">
            <a:avLst>
              <a:gd name="adj" fmla="val 4103"/>
            </a:avLst>
          </a:prstGeom>
          <a:solidFill>
            <a:srgbClr val="D75BE2"/>
          </a:solidFill>
          <a:ln/>
        </p:spPr>
      </p:sp>
      <p:sp>
        <p:nvSpPr>
          <p:cNvPr id="21" name="Text 19"/>
          <p:cNvSpPr/>
          <p:nvPr/>
        </p:nvSpPr>
        <p:spPr>
          <a:xfrm>
            <a:off x="835462" y="4869180"/>
            <a:ext cx="3459718" cy="255746"/>
          </a:xfrm>
          <a:prstGeom prst="rect">
            <a:avLst/>
          </a:prstGeom>
          <a:noFill/>
          <a:ln/>
        </p:spPr>
        <p:txBody>
          <a:bodyPr wrap="none" lIns="0" tIns="0" rIns="0" bIns="0" rtlCol="0" anchor="t"/>
          <a:lstStyle/>
          <a:p>
            <a:pPr algn="l" indent="0" marL="0">
              <a:lnSpc>
                <a:spcPts val="2000"/>
              </a:lnSpc>
              <a:buNone/>
            </a:pPr>
            <a:r>
              <a:rPr lang="en-US" sz="1600" b="1" dirty="0">
                <a:solidFill>
                  <a:srgbClr val="000000"/>
                </a:solidFill>
                <a:latin typeface="Petrona Bold" pitchFamily="34" charset="0"/>
                <a:ea typeface="Petrona Bold" pitchFamily="34" charset="-122"/>
                <a:cs typeface="Petrona Bold" pitchFamily="34" charset="-120"/>
              </a:rPr>
              <a:t>Giá trị mang lại sau triển khai đầy đủ</a:t>
            </a:r>
            <a:endParaRPr lang="en-US" sz="1600" dirty="0"/>
          </a:p>
        </p:txBody>
      </p:sp>
      <p:sp>
        <p:nvSpPr>
          <p:cNvPr id="22" name="Text 20"/>
          <p:cNvSpPr/>
          <p:nvPr/>
        </p:nvSpPr>
        <p:spPr>
          <a:xfrm>
            <a:off x="835462" y="5236488"/>
            <a:ext cx="6256496" cy="950595"/>
          </a:xfrm>
          <a:prstGeom prst="rect">
            <a:avLst/>
          </a:prstGeom>
          <a:noFill/>
          <a:ln/>
        </p:spPr>
        <p:txBody>
          <a:bodyPr wrap="square" lIns="0" tIns="0" rIns="0" bIns="0" rtlCol="0" anchor="t"/>
          <a:lstStyle/>
          <a:p>
            <a:pPr algn="l" marL="342900" indent="-342900">
              <a:lnSpc>
                <a:spcPts val="1600"/>
              </a:lnSpc>
              <a:buSzPct val="100000"/>
              <a:buChar char="•"/>
            </a:pPr>
            <a:r>
              <a:rPr lang="en-US" sz="1150" dirty="0">
                <a:solidFill>
                  <a:srgbClr val="000000"/>
                </a:solidFill>
                <a:latin typeface="Inter" pitchFamily="34" charset="0"/>
                <a:ea typeface="Inter" pitchFamily="34" charset="-122"/>
                <a:cs typeface="Inter" pitchFamily="34" charset="-120"/>
              </a:rPr>
              <a:t>Rút ngắn thời gian báo giá từ nhiều ngày xuống còn vài giờ.</a:t>
            </a:r>
            <a:endParaRPr lang="en-US" sz="1150" dirty="0"/>
          </a:p>
          <a:p>
            <a:pPr algn="l" marL="342900" indent="-342900">
              <a:lnSpc>
                <a:spcPts val="1600"/>
              </a:lnSpc>
              <a:buSzPct val="100000"/>
              <a:buChar char="•"/>
            </a:pPr>
            <a:r>
              <a:rPr lang="en-US" sz="1150" dirty="0">
                <a:solidFill>
                  <a:srgbClr val="000000"/>
                </a:solidFill>
                <a:latin typeface="Inter" pitchFamily="34" charset="0"/>
                <a:ea typeface="Inter" pitchFamily="34" charset="-122"/>
                <a:cs typeface="Inter" pitchFamily="34" charset="-120"/>
              </a:rPr>
              <a:t>Loại bỏ hoàn toàn tình trạng "đổ lỗi dây chuyền" — mọi quyết định có dấu vết.</a:t>
            </a:r>
            <a:endParaRPr lang="en-US" sz="1150" dirty="0"/>
          </a:p>
          <a:p>
            <a:pPr algn="l" marL="342900" indent="-342900">
              <a:lnSpc>
                <a:spcPts val="1600"/>
              </a:lnSpc>
              <a:buSzPct val="100000"/>
              <a:buChar char="•"/>
            </a:pPr>
            <a:r>
              <a:rPr lang="en-US" sz="1150" dirty="0">
                <a:solidFill>
                  <a:srgbClr val="000000"/>
                </a:solidFill>
                <a:latin typeface="Inter" pitchFamily="34" charset="0"/>
                <a:ea typeface="Inter" pitchFamily="34" charset="-122"/>
                <a:cs typeface="Inter" pitchFamily="34" charset="-120"/>
              </a:rPr>
              <a:t>Ban Giám đốc kiểm soát 100% tiến độ mọi dự án từ một màn hình duy nhất.</a:t>
            </a:r>
            <a:endParaRPr lang="en-US" sz="1150" dirty="0"/>
          </a:p>
          <a:p>
            <a:pPr algn="l" marL="342900" indent="-342900">
              <a:lnSpc>
                <a:spcPts val="1600"/>
              </a:lnSpc>
              <a:buSzPct val="100000"/>
              <a:buChar char="•"/>
            </a:pPr>
            <a:r>
              <a:rPr lang="en-US" sz="1150" dirty="0">
                <a:solidFill>
                  <a:srgbClr val="000000"/>
                </a:solidFill>
                <a:latin typeface="Inter" pitchFamily="34" charset="0"/>
                <a:ea typeface="Inter" pitchFamily="34" charset="-122"/>
                <a:cs typeface="Inter" pitchFamily="34" charset="-120"/>
              </a:rPr>
              <a:t>Nền tảng dữ liệu sạch cho AI dự báo rủi ro và tối ưu nguồn lực tương lai.</a:t>
            </a:r>
            <a:endParaRPr lang="en-US" sz="1150" dirty="0"/>
          </a:p>
        </p:txBody>
      </p:sp>
      <p:sp>
        <p:nvSpPr>
          <p:cNvPr id="23" name="Text 21"/>
          <p:cNvSpPr/>
          <p:nvPr/>
        </p:nvSpPr>
        <p:spPr>
          <a:xfrm>
            <a:off x="7504390" y="4869180"/>
            <a:ext cx="2046684" cy="255746"/>
          </a:xfrm>
          <a:prstGeom prst="rect">
            <a:avLst/>
          </a:prstGeom>
          <a:noFill/>
          <a:ln/>
        </p:spPr>
        <p:txBody>
          <a:bodyPr wrap="none" lIns="0" tIns="0" rIns="0" bIns="0" rtlCol="0" anchor="t"/>
          <a:lstStyle/>
          <a:p>
            <a:pPr algn="l" indent="0" marL="0">
              <a:lnSpc>
                <a:spcPts val="2000"/>
              </a:lnSpc>
              <a:buNone/>
            </a:pPr>
            <a:r>
              <a:rPr lang="en-US" sz="1600" b="1" dirty="0">
                <a:solidFill>
                  <a:srgbClr val="F95F88"/>
                </a:solidFill>
                <a:latin typeface="Petrona Bold" pitchFamily="34" charset="0"/>
                <a:ea typeface="Petrona Bold" pitchFamily="34" charset="-122"/>
                <a:cs typeface="Petrona Bold" pitchFamily="34" charset="-120"/>
              </a:rPr>
              <a:t>Lời mời hành động</a:t>
            </a:r>
            <a:endParaRPr lang="en-US" sz="1600" dirty="0"/>
          </a:p>
        </p:txBody>
      </p:sp>
      <p:sp>
        <p:nvSpPr>
          <p:cNvPr id="24" name="Text 22"/>
          <p:cNvSpPr/>
          <p:nvPr/>
        </p:nvSpPr>
        <p:spPr>
          <a:xfrm>
            <a:off x="7504390" y="5236488"/>
            <a:ext cx="6339840" cy="625078"/>
          </a:xfrm>
          <a:prstGeom prst="rect">
            <a:avLst/>
          </a:prstGeom>
          <a:noFill/>
          <a:ln/>
        </p:spPr>
        <p:txBody>
          <a:bodyPr wrap="square" lIns="0" tIns="0" rIns="0" bIns="0" rtlCol="0" anchor="t"/>
          <a:lstStyle/>
          <a:p>
            <a:pPr algn="l" indent="0" marL="0">
              <a:lnSpc>
                <a:spcPts val="1600"/>
              </a:lnSpc>
              <a:buNone/>
            </a:pPr>
            <a:r>
              <a:rPr lang="en-US" sz="1150" dirty="0">
                <a:solidFill>
                  <a:srgbClr val="272525"/>
                </a:solidFill>
                <a:latin typeface="Inter" pitchFamily="34" charset="0"/>
                <a:ea typeface="Inter" pitchFamily="34" charset="-122"/>
                <a:cs typeface="Inter" pitchFamily="34" charset="-120"/>
              </a:rPr>
              <a:t>Hệ thống SAREE ERP/MES đã được xây dựng từ chính những nỗi đau vận hành thực tế của SAREE — không phải giải pháp off-the-shelf áp đặt từ bên ngoài. Đây là sản phẩm được thiết kế riêng, hiểu đúng nghiệp vụ và sẵn sàng triển khai ngay.</a:t>
            </a:r>
            <a:endParaRPr lang="en-US" sz="1150" dirty="0"/>
          </a:p>
        </p:txBody>
      </p:sp>
      <p:sp>
        <p:nvSpPr>
          <p:cNvPr id="25" name="Text 23"/>
          <p:cNvSpPr/>
          <p:nvPr/>
        </p:nvSpPr>
        <p:spPr>
          <a:xfrm>
            <a:off x="7504390" y="5961936"/>
            <a:ext cx="6339840" cy="416719"/>
          </a:xfrm>
          <a:prstGeom prst="rect">
            <a:avLst/>
          </a:prstGeom>
          <a:noFill/>
          <a:ln/>
        </p:spPr>
        <p:txBody>
          <a:bodyPr wrap="square" lIns="0" tIns="0" rIns="0" bIns="0" rtlCol="0" anchor="t"/>
          <a:lstStyle/>
          <a:p>
            <a:pPr algn="l" indent="0" marL="0">
              <a:lnSpc>
                <a:spcPts val="1600"/>
              </a:lnSpc>
              <a:buNone/>
            </a:pPr>
            <a:r>
              <a:rPr lang="en-US" sz="1150" dirty="0">
                <a:solidFill>
                  <a:srgbClr val="272525"/>
                </a:solidFill>
                <a:latin typeface="Inter" pitchFamily="34" charset="0"/>
                <a:ea typeface="Inter" pitchFamily="34" charset="-122"/>
                <a:cs typeface="Inter" pitchFamily="34" charset="-120"/>
              </a:rPr>
              <a:t>Chúng tôi trân trọng mời Ban Giám đốc và các Trưởng phòng </a:t>
            </a:r>
            <a:pPr algn="l" indent="0" marL="0">
              <a:lnSpc>
                <a:spcPts val="1600"/>
              </a:lnSpc>
              <a:buNone/>
            </a:pPr>
            <a:r>
              <a:rPr lang="en-US" sz="1150" b="1" dirty="0">
                <a:solidFill>
                  <a:srgbClr val="272525"/>
                </a:solidFill>
                <a:latin typeface="Inter" pitchFamily="34" charset="0"/>
                <a:ea typeface="Inter" pitchFamily="34" charset="-122"/>
                <a:cs typeface="Inter" pitchFamily="34" charset="-120"/>
              </a:rPr>
              <a:t>trực tiếp trải nghiệm POC</a:t>
            </a:r>
            <a:pPr algn="l" indent="0" marL="0">
              <a:lnSpc>
                <a:spcPts val="1600"/>
              </a:lnSpc>
              <a:buNone/>
            </a:pPr>
            <a:r>
              <a:rPr lang="en-US" sz="1150" dirty="0">
                <a:solidFill>
                  <a:srgbClr val="272525"/>
                </a:solidFill>
                <a:latin typeface="Inter" pitchFamily="34" charset="0"/>
                <a:ea typeface="Inter" pitchFamily="34" charset="-122"/>
                <a:cs typeface="Inter" pitchFamily="34" charset="-120"/>
              </a:rPr>
              <a:t> và chia sẻ phản hồi để định hướng cho các bước phát triển tiếp theo.</a:t>
            </a:r>
            <a:endParaRPr lang="en-US" sz="1150" dirty="0"/>
          </a:p>
        </p:txBody>
      </p:sp>
      <p:sp>
        <p:nvSpPr>
          <p:cNvPr id="26" name="Shape 24"/>
          <p:cNvSpPr/>
          <p:nvPr/>
        </p:nvSpPr>
        <p:spPr>
          <a:xfrm>
            <a:off x="7504390" y="6504146"/>
            <a:ext cx="6339840" cy="740212"/>
          </a:xfrm>
          <a:prstGeom prst="roundRect">
            <a:avLst>
              <a:gd name="adj" fmla="val 8446"/>
            </a:avLst>
          </a:prstGeom>
          <a:solidFill>
            <a:srgbClr val="B6FCB8"/>
          </a:solidFill>
          <a:ln/>
        </p:spPr>
      </p:sp>
      <p:pic>
        <p:nvPicPr>
          <p:cNvPr id="27" name="Image 0" descr="preencoded.png">    </p:cNvPr>
          <p:cNvPicPr>
            <a:picLocks noChangeAspect="1"/>
          </p:cNvPicPr>
          <p:nvPr/>
        </p:nvPicPr>
        <p:blipFill>
          <a:blip r:embed="rId1"/>
          <a:stretch>
            <a:fillRect/>
          </a:stretch>
        </p:blipFill>
        <p:spPr>
          <a:xfrm>
            <a:off x="7653218" y="6712268"/>
            <a:ext cx="185976" cy="148828"/>
          </a:xfrm>
          <a:prstGeom prst="rect">
            <a:avLst/>
          </a:prstGeom>
        </p:spPr>
      </p:pic>
      <p:sp>
        <p:nvSpPr>
          <p:cNvPr id="28" name="Text 25"/>
          <p:cNvSpPr/>
          <p:nvPr/>
        </p:nvSpPr>
        <p:spPr>
          <a:xfrm>
            <a:off x="7988022" y="6652855"/>
            <a:ext cx="5707380" cy="416719"/>
          </a:xfrm>
          <a:prstGeom prst="rect">
            <a:avLst/>
          </a:prstGeom>
          <a:noFill/>
          <a:ln/>
        </p:spPr>
        <p:txBody>
          <a:bodyPr wrap="square" lIns="0" tIns="0" rIns="0" bIns="0" rtlCol="0" anchor="t"/>
          <a:lstStyle/>
          <a:p>
            <a:pPr algn="l" indent="0" marL="0">
              <a:lnSpc>
                <a:spcPts val="1600"/>
              </a:lnSpc>
              <a:buNone/>
            </a:pPr>
            <a:r>
              <a:rPr lang="en-US" sz="1150" dirty="0">
                <a:solidFill>
                  <a:srgbClr val="000000"/>
                </a:solidFill>
                <a:latin typeface="Inter" pitchFamily="34" charset="0"/>
                <a:ea typeface="Inter" pitchFamily="34" charset="-122"/>
                <a:cs typeface="Inter" pitchFamily="34" charset="-120"/>
              </a:rPr>
              <a:t>Cảm ơn Ban Giám đốc đã lắng nghe. Mời các anh/chị đặt câu hỏi về giải pháp và POC.</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2026-04-22T13:49:44Z</dcterms:created>
  <dcterms:modified xsi:type="dcterms:W3CDTF">2026-04-22T13:49:44Z</dcterms:modified>
</cp:coreProperties>
</file>