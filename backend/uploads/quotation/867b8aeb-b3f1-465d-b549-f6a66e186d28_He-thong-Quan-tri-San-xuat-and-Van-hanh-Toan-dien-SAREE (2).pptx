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Barlow"/>
      <p:regular r:id="rId19"/>
    </p:embeddedFont>
    <p:embeddedFont>
      <p:font typeface="Barlow"/>
      <p:regular r:id="rId20"/>
    </p:embeddedFont>
    <p:embeddedFont>
      <p:font typeface="Barlow"/>
      <p:regular r:id="rId21"/>
    </p:embeddedFont>
    <p:embeddedFont>
      <p:font typeface="Barlow"/>
      <p:regular r:id="rId22"/>
    </p:embeddedFont>
    <p:embeddedFont>
      <p:font typeface="Montserrat"/>
      <p:regular r:id="rId23"/>
    </p:embeddedFont>
    <p:embeddedFont>
      <p:font typeface="Montserrat"/>
      <p:regular r:id="rId24"/>
    </p:embeddedFont>
    <p:embeddedFont>
      <p:font typeface="Montserrat"/>
      <p:regular r:id="rId25"/>
    </p:embeddedFont>
    <p:embeddedFont>
      <p:font typeface="Montserrat"/>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2344103"/>
            <a:ext cx="12191048" cy="623530"/>
          </a:xfrm>
          <a:prstGeom prst="rect">
            <a:avLst/>
          </a:prstGeom>
          <a:noFill/>
          <a:ln/>
        </p:spPr>
        <p:txBody>
          <a:bodyPr wrap="none" lIns="0" tIns="0" rIns="0" bIns="0" rtlCol="0" anchor="t"/>
          <a:lstStyle/>
          <a:p>
            <a:pPr algn="l" indent="0" marL="0">
              <a:lnSpc>
                <a:spcPts val="4900"/>
              </a:lnSpc>
              <a:buNone/>
            </a:pPr>
            <a:r>
              <a:rPr lang="en-US" sz="3900" b="1" dirty="0">
                <a:solidFill>
                  <a:srgbClr val="2E3C4E"/>
                </a:solidFill>
                <a:latin typeface="Barlow Bold" pitchFamily="34" charset="0"/>
                <a:ea typeface="Barlow Bold" pitchFamily="34" charset="-122"/>
                <a:cs typeface="Barlow Bold" pitchFamily="34" charset="-120"/>
              </a:rPr>
              <a:t>Hệ thống Quản trị Sản xuất &amp; Vận hành Toàn diện SAREE</a:t>
            </a:r>
            <a:endParaRPr lang="en-US" sz="3900" dirty="0"/>
          </a:p>
        </p:txBody>
      </p:sp>
      <p:sp>
        <p:nvSpPr>
          <p:cNvPr id="3" name="Text 1"/>
          <p:cNvSpPr/>
          <p:nvPr/>
        </p:nvSpPr>
        <p:spPr>
          <a:xfrm>
            <a:off x="758309" y="3043357"/>
            <a:ext cx="6794421" cy="311706"/>
          </a:xfrm>
          <a:prstGeom prst="rect">
            <a:avLst/>
          </a:prstGeom>
          <a:noFill/>
          <a:ln/>
        </p:spPr>
        <p:txBody>
          <a:bodyPr wrap="none" lIns="0" tIns="0" rIns="0" bIns="0" rtlCol="0" anchor="t"/>
          <a:lstStyle/>
          <a:p>
            <a:pPr algn="l" indent="0" marL="0">
              <a:lnSpc>
                <a:spcPts val="2450"/>
              </a:lnSpc>
              <a:buNone/>
            </a:pPr>
            <a:r>
              <a:rPr lang="en-US" sz="1950" b="1" dirty="0">
                <a:solidFill>
                  <a:srgbClr val="2E3C4E"/>
                </a:solidFill>
                <a:latin typeface="Barlow Bold" pitchFamily="34" charset="0"/>
                <a:ea typeface="Barlow Bold" pitchFamily="34" charset="-122"/>
                <a:cs typeface="Barlow Bold" pitchFamily="34" charset="-120"/>
              </a:rPr>
              <a:t>ERP/MES — </a:t>
            </a:r>
            <a:pPr algn="l" indent="0" marL="0">
              <a:lnSpc>
                <a:spcPts val="2450"/>
              </a:lnSpc>
              <a:buNone/>
            </a:pPr>
            <a:r>
              <a:rPr lang="en-US" sz="1950" b="1" dirty="0">
                <a:solidFill>
                  <a:srgbClr val="D75BE2"/>
                </a:solidFill>
                <a:latin typeface="Barlow Bold" pitchFamily="34" charset="0"/>
                <a:ea typeface="Barlow Bold" pitchFamily="34" charset="-122"/>
                <a:cs typeface="Barlow Bold" pitchFamily="34" charset="-120"/>
              </a:rPr>
              <a:t>Số hóa thực tế · Kiểm soát tức thì · Dự báo tương lai</a:t>
            </a:r>
            <a:endParaRPr lang="en-US" sz="1950" dirty="0"/>
          </a:p>
        </p:txBody>
      </p:sp>
      <p:sp>
        <p:nvSpPr>
          <p:cNvPr id="4" name="Text 2"/>
          <p:cNvSpPr/>
          <p:nvPr/>
        </p:nvSpPr>
        <p:spPr>
          <a:xfrm>
            <a:off x="758309" y="3639383"/>
            <a:ext cx="13113782" cy="303252"/>
          </a:xfrm>
          <a:prstGeom prst="rect">
            <a:avLst/>
          </a:prstGeom>
          <a:noFill/>
          <a:ln/>
        </p:spPr>
        <p:txBody>
          <a:bodyPr wrap="non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Trình bày bởi: </a:t>
            </a:r>
            <a:pPr algn="l" indent="0" marL="0">
              <a:lnSpc>
                <a:spcPts val="2350"/>
              </a:lnSpc>
              <a:buNone/>
            </a:pPr>
            <a:r>
              <a:rPr lang="en-US" sz="1450" b="1" dirty="0">
                <a:solidFill>
                  <a:srgbClr val="384653"/>
                </a:solidFill>
                <a:latin typeface="Montserrat" pitchFamily="34" charset="0"/>
                <a:ea typeface="Montserrat" pitchFamily="34" charset="-122"/>
                <a:cs typeface="Montserrat" pitchFamily="34" charset="-120"/>
              </a:rPr>
              <a:t>Bùi Tuấn Anh</a:t>
            </a:r>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 – AI Engineer / Kiến trúc sư hệ thống · Đội ngũ Kỹ thuật SAREE</a:t>
            </a:r>
            <a:endParaRPr lang="en-US" sz="1450" dirty="0"/>
          </a:p>
        </p:txBody>
      </p:sp>
      <p:sp>
        <p:nvSpPr>
          <p:cNvPr id="5" name="Shape 3"/>
          <p:cNvSpPr/>
          <p:nvPr/>
        </p:nvSpPr>
        <p:spPr>
          <a:xfrm>
            <a:off x="758309" y="4155877"/>
            <a:ext cx="4244816" cy="1729502"/>
          </a:xfrm>
          <a:prstGeom prst="roundRect">
            <a:avLst>
              <a:gd name="adj" fmla="val 16442"/>
            </a:avLst>
          </a:prstGeom>
          <a:solidFill>
            <a:srgbClr val="D4E9F7"/>
          </a:solidFill>
          <a:ln w="7620">
            <a:solidFill>
              <a:srgbClr val="BACFDD"/>
            </a:solidFill>
            <a:prstDash val="solid"/>
          </a:ln>
        </p:spPr>
      </p:sp>
      <p:sp>
        <p:nvSpPr>
          <p:cNvPr id="6" name="Text 4"/>
          <p:cNvSpPr/>
          <p:nvPr/>
        </p:nvSpPr>
        <p:spPr>
          <a:xfrm>
            <a:off x="955477" y="4353044"/>
            <a:ext cx="2592943" cy="311706"/>
          </a:xfrm>
          <a:prstGeom prst="rect">
            <a:avLst/>
          </a:prstGeom>
          <a:noFill/>
          <a:ln/>
        </p:spPr>
        <p:txBody>
          <a:bodyPr wrap="none" lIns="0" tIns="0" rIns="0" bIns="0" rtlCol="0" anchor="t"/>
          <a:lstStyle/>
          <a:p>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Chuyển đổi số toàn diện</a:t>
            </a:r>
            <a:endParaRPr lang="en-US" sz="1950" dirty="0"/>
          </a:p>
        </p:txBody>
      </p:sp>
      <p:sp>
        <p:nvSpPr>
          <p:cNvPr id="7" name="Text 5"/>
          <p:cNvSpPr/>
          <p:nvPr/>
        </p:nvSpPr>
        <p:spPr>
          <a:xfrm>
            <a:off x="955477" y="4778454"/>
            <a:ext cx="3850481" cy="909757"/>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Số hóa toàn bộ quy trình từ báo giá, sản xuất đến lắp đặt công trình trong một nền tảng thống nhất.</a:t>
            </a:r>
            <a:endParaRPr lang="en-US" sz="1450" dirty="0"/>
          </a:p>
        </p:txBody>
      </p:sp>
      <p:sp>
        <p:nvSpPr>
          <p:cNvPr id="8" name="Shape 6"/>
          <p:cNvSpPr/>
          <p:nvPr/>
        </p:nvSpPr>
        <p:spPr>
          <a:xfrm>
            <a:off x="5192673" y="4155877"/>
            <a:ext cx="4244935" cy="1729502"/>
          </a:xfrm>
          <a:prstGeom prst="roundRect">
            <a:avLst>
              <a:gd name="adj" fmla="val 16442"/>
            </a:avLst>
          </a:prstGeom>
          <a:solidFill>
            <a:srgbClr val="D4E9F7"/>
          </a:solidFill>
          <a:ln w="7620">
            <a:solidFill>
              <a:srgbClr val="BACFDD"/>
            </a:solidFill>
            <a:prstDash val="solid"/>
          </a:ln>
        </p:spPr>
      </p:sp>
      <p:sp>
        <p:nvSpPr>
          <p:cNvPr id="9" name="Text 7"/>
          <p:cNvSpPr/>
          <p:nvPr/>
        </p:nvSpPr>
        <p:spPr>
          <a:xfrm>
            <a:off x="5389840" y="4353044"/>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Quản trị minh bạch</a:t>
            </a:r>
            <a:endParaRPr lang="en-US" sz="1950" dirty="0"/>
          </a:p>
        </p:txBody>
      </p:sp>
      <p:sp>
        <p:nvSpPr>
          <p:cNvPr id="10" name="Text 8"/>
          <p:cNvSpPr/>
          <p:nvPr/>
        </p:nvSpPr>
        <p:spPr>
          <a:xfrm>
            <a:off x="5389840" y="4778454"/>
            <a:ext cx="3850600" cy="909757"/>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Mọi quyết định, mọi luồng phê duyệt đều được lưu vết rõ ràng — ai duyệt, lúc mấy giờ, kết quả ra sao.</a:t>
            </a:r>
            <a:endParaRPr lang="en-US" sz="1450" dirty="0"/>
          </a:p>
        </p:txBody>
      </p:sp>
      <p:sp>
        <p:nvSpPr>
          <p:cNvPr id="11" name="Shape 9"/>
          <p:cNvSpPr/>
          <p:nvPr/>
        </p:nvSpPr>
        <p:spPr>
          <a:xfrm>
            <a:off x="9627156" y="4155877"/>
            <a:ext cx="4244816" cy="1729502"/>
          </a:xfrm>
          <a:prstGeom prst="roundRect">
            <a:avLst>
              <a:gd name="adj" fmla="val 16442"/>
            </a:avLst>
          </a:prstGeom>
          <a:solidFill>
            <a:srgbClr val="D4E9F7"/>
          </a:solidFill>
          <a:ln w="7620">
            <a:solidFill>
              <a:srgbClr val="BACFDD"/>
            </a:solidFill>
            <a:prstDash val="solid"/>
          </a:ln>
        </p:spPr>
      </p:sp>
      <p:sp>
        <p:nvSpPr>
          <p:cNvPr id="12" name="Text 10"/>
          <p:cNvSpPr/>
          <p:nvPr/>
        </p:nvSpPr>
        <p:spPr>
          <a:xfrm>
            <a:off x="9824323" y="4353044"/>
            <a:ext cx="2782372" cy="311706"/>
          </a:xfrm>
          <a:prstGeom prst="rect">
            <a:avLst/>
          </a:prstGeom>
          <a:noFill/>
          <a:ln/>
        </p:spPr>
        <p:txBody>
          <a:bodyPr wrap="none" lIns="0" tIns="0" rIns="0" bIns="0" rtlCol="0" anchor="t"/>
          <a:lstStyle/>
          <a:p>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Nhận diện rủi ro chủ động</a:t>
            </a:r>
            <a:endParaRPr lang="en-US" sz="1950" dirty="0"/>
          </a:p>
        </p:txBody>
      </p:sp>
      <p:sp>
        <p:nvSpPr>
          <p:cNvPr id="13" name="Text 11"/>
          <p:cNvSpPr/>
          <p:nvPr/>
        </p:nvSpPr>
        <p:spPr>
          <a:xfrm>
            <a:off x="9824323" y="4778454"/>
            <a:ext cx="3850481" cy="909757"/>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Hệ thống cảnh báo sớm 4 tầng tự động quét và phát hiện nguy cơ trước khi dự án "vỡ" kế hoạch.</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785217"/>
            <a:ext cx="7514034" cy="561142"/>
          </a:xfrm>
          <a:prstGeom prst="rect">
            <a:avLst/>
          </a:prstGeom>
          <a:noFill/>
          <a:ln/>
        </p:spPr>
        <p:txBody>
          <a:bodyPr wrap="none" lIns="0" tIns="0" rIns="0" bIns="0" rtlCol="0" anchor="t"/>
          <a:lstStyle/>
          <a:p>
            <a:pPr algn="l" indent="0" marL="0">
              <a:lnSpc>
                <a:spcPts val="4400"/>
              </a:lnSpc>
              <a:buNone/>
            </a:pPr>
            <a:r>
              <a:rPr lang="en-US" sz="3500" b="1" dirty="0">
                <a:solidFill>
                  <a:srgbClr val="2E3C4E"/>
                </a:solidFill>
                <a:latin typeface="Barlow Bold" pitchFamily="34" charset="0"/>
                <a:ea typeface="Barlow Bold" pitchFamily="34" charset="-122"/>
                <a:cs typeface="Barlow Bold" pitchFamily="34" charset="-120"/>
              </a:rPr>
              <a:t>Bài Toán Vận Hành Thực Tế của SAREE</a:t>
            </a:r>
            <a:endParaRPr lang="en-US" sz="3500" dirty="0"/>
          </a:p>
        </p:txBody>
      </p:sp>
      <p:sp>
        <p:nvSpPr>
          <p:cNvPr id="3" name="Text 1"/>
          <p:cNvSpPr/>
          <p:nvPr/>
        </p:nvSpPr>
        <p:spPr>
          <a:xfrm>
            <a:off x="758309" y="1407676"/>
            <a:ext cx="6168390" cy="280630"/>
          </a:xfrm>
          <a:prstGeom prst="rect">
            <a:avLst/>
          </a:prstGeom>
          <a:noFill/>
          <a:ln/>
        </p:spPr>
        <p:txBody>
          <a:bodyPr wrap="none" lIns="0" tIns="0" rIns="0" bIns="0" rtlCol="0" anchor="t"/>
          <a:lstStyle/>
          <a:p>
            <a:pPr algn="l" indent="0" marL="0">
              <a:lnSpc>
                <a:spcPts val="2200"/>
              </a:lnSpc>
              <a:buNone/>
            </a:pPr>
            <a:r>
              <a:rPr lang="en-US" sz="1750" b="1" dirty="0">
                <a:solidFill>
                  <a:srgbClr val="2E3C4E"/>
                </a:solidFill>
                <a:latin typeface="Barlow Bold" pitchFamily="34" charset="0"/>
                <a:ea typeface="Barlow Bold" pitchFamily="34" charset="-122"/>
                <a:cs typeface="Barlow Bold" pitchFamily="34" charset="-120"/>
              </a:rPr>
              <a:t>Bức tranh tổng thể — Những nút thắt đang kìm hãm tăng trưởng</a:t>
            </a:r>
            <a:endParaRPr lang="en-US" sz="1750" dirty="0"/>
          </a:p>
        </p:txBody>
      </p:sp>
      <p:sp>
        <p:nvSpPr>
          <p:cNvPr id="4" name="Text 2"/>
          <p:cNvSpPr/>
          <p:nvPr/>
        </p:nvSpPr>
        <p:spPr>
          <a:xfrm>
            <a:off x="758309" y="1918573"/>
            <a:ext cx="13113782" cy="518636"/>
          </a:xfrm>
          <a:prstGeom prst="rect">
            <a:avLst/>
          </a:prstGeom>
          <a:noFill/>
          <a:ln/>
        </p:spPr>
        <p:txBody>
          <a:bodyPr wrap="square" lIns="0" tIns="0" rIns="0" bIns="0" rtlCol="0" anchor="t"/>
          <a:lstStyle/>
          <a:p>
            <a:pPr algn="l" indent="0" marL="0">
              <a:lnSpc>
                <a:spcPts val="2000"/>
              </a:lnSpc>
              <a:buNone/>
            </a:pPr>
            <a:r>
              <a:rPr lang="en-US" sz="1300" dirty="0">
                <a:solidFill>
                  <a:srgbClr val="384653"/>
                </a:solidFill>
                <a:latin typeface="Montserrat" pitchFamily="34" charset="0"/>
                <a:ea typeface="Montserrat" pitchFamily="34" charset="-122"/>
                <a:cs typeface="Montserrat" pitchFamily="34" charset="-120"/>
              </a:rPr>
              <a:t>SAREE đang vận hành một bộ máy đồ sộ với </a:t>
            </a:r>
            <a:pPr algn="l" indent="0" marL="0">
              <a:lnSpc>
                <a:spcPts val="2000"/>
              </a:lnSpc>
              <a:buNone/>
            </a:pPr>
            <a:r>
              <a:rPr lang="en-US" sz="1300" b="1" dirty="0">
                <a:solidFill>
                  <a:srgbClr val="384653"/>
                </a:solidFill>
                <a:latin typeface="Montserrat" pitchFamily="34" charset="0"/>
                <a:ea typeface="Montserrat" pitchFamily="34" charset="-122"/>
                <a:cs typeface="Montserrat" pitchFamily="34" charset="-120"/>
              </a:rPr>
              <a:t>Ban Giám đốc</a:t>
            </a:r>
            <a:pPr algn="l" indent="0" marL="0">
              <a:lnSpc>
                <a:spcPts val="2000"/>
              </a:lnSpc>
              <a:buNone/>
            </a:pPr>
            <a:r>
              <a:rPr lang="en-US" sz="1300" dirty="0">
                <a:solidFill>
                  <a:srgbClr val="384653"/>
                </a:solidFill>
                <a:latin typeface="Montserrat" pitchFamily="34" charset="0"/>
                <a:ea typeface="Montserrat" pitchFamily="34" charset="-122"/>
                <a:cs typeface="Montserrat" pitchFamily="34" charset="-120"/>
              </a:rPr>
              <a:t>, </a:t>
            </a:r>
            <a:pPr algn="l" indent="0" marL="0">
              <a:lnSpc>
                <a:spcPts val="2000"/>
              </a:lnSpc>
              <a:buNone/>
            </a:pPr>
            <a:r>
              <a:rPr lang="en-US" sz="1300" b="1" dirty="0">
                <a:solidFill>
                  <a:srgbClr val="384653"/>
                </a:solidFill>
                <a:latin typeface="Montserrat" pitchFamily="34" charset="0"/>
                <a:ea typeface="Montserrat" pitchFamily="34" charset="-122"/>
                <a:cs typeface="Montserrat" pitchFamily="34" charset="-120"/>
              </a:rPr>
              <a:t>07 Phòng chức năng văn phòng</a:t>
            </a:r>
            <a:pPr algn="l" indent="0" marL="0">
              <a:lnSpc>
                <a:spcPts val="2000"/>
              </a:lnSpc>
              <a:buNone/>
            </a:pPr>
            <a:r>
              <a:rPr lang="en-US" sz="1300" dirty="0">
                <a:solidFill>
                  <a:srgbClr val="384653"/>
                </a:solidFill>
                <a:latin typeface="Montserrat" pitchFamily="34" charset="0"/>
                <a:ea typeface="Montserrat" pitchFamily="34" charset="-122"/>
                <a:cs typeface="Montserrat" pitchFamily="34" charset="-120"/>
              </a:rPr>
              <a:t>, </a:t>
            </a:r>
            <a:pPr algn="l" indent="0" marL="0">
              <a:lnSpc>
                <a:spcPts val="2000"/>
              </a:lnSpc>
              <a:buNone/>
            </a:pPr>
            <a:r>
              <a:rPr lang="en-US" sz="1300" b="1" dirty="0">
                <a:solidFill>
                  <a:srgbClr val="384653"/>
                </a:solidFill>
                <a:latin typeface="Montserrat" pitchFamily="34" charset="0"/>
                <a:ea typeface="Montserrat" pitchFamily="34" charset="-122"/>
                <a:cs typeface="Montserrat" pitchFamily="34" charset="-120"/>
              </a:rPr>
              <a:t>09 Tổ sản xuất tại nhà máy</a:t>
            </a:r>
            <a:pPr algn="l" indent="0" marL="0">
              <a:lnSpc>
                <a:spcPts val="2000"/>
              </a:lnSpc>
              <a:buNone/>
            </a:pPr>
            <a:r>
              <a:rPr lang="en-US" sz="1300" dirty="0">
                <a:solidFill>
                  <a:srgbClr val="384653"/>
                </a:solidFill>
                <a:latin typeface="Montserrat" pitchFamily="34" charset="0"/>
                <a:ea typeface="Montserrat" pitchFamily="34" charset="-122"/>
                <a:cs typeface="Montserrat" pitchFamily="34" charset="-120"/>
              </a:rPr>
              <a:t> và </a:t>
            </a:r>
            <a:pPr algn="l" indent="0" marL="0">
              <a:lnSpc>
                <a:spcPts val="2000"/>
              </a:lnSpc>
              <a:buNone/>
            </a:pPr>
            <a:r>
              <a:rPr lang="en-US" sz="1300" b="1" dirty="0">
                <a:solidFill>
                  <a:srgbClr val="384653"/>
                </a:solidFill>
                <a:latin typeface="Montserrat" pitchFamily="34" charset="0"/>
                <a:ea typeface="Montserrat" pitchFamily="34" charset="-122"/>
                <a:cs typeface="Montserrat" pitchFamily="34" charset="-120"/>
              </a:rPr>
              <a:t>06 Nhóm thi công lắp đặt</a:t>
            </a:r>
            <a:pPr algn="l" indent="0" marL="0">
              <a:lnSpc>
                <a:spcPts val="2000"/>
              </a:lnSpc>
              <a:buNone/>
            </a:pPr>
            <a:r>
              <a:rPr lang="en-US" sz="1300" dirty="0">
                <a:solidFill>
                  <a:srgbClr val="384653"/>
                </a:solidFill>
                <a:latin typeface="Montserrat" pitchFamily="34" charset="0"/>
                <a:ea typeface="Montserrat" pitchFamily="34" charset="-122"/>
                <a:cs typeface="Montserrat" pitchFamily="34" charset="-120"/>
              </a:rPr>
              <a:t> tại công trình trải rộng nhiều tỉnh. Sự phối hợp ngang (giữa các phòng ban) và dọc (từ lãnh đạo xuống đến thợ) hiện đang phụ thuộc rất lớn vào thủ công.</a:t>
            </a:r>
            <a:endParaRPr lang="en-US" sz="1300" dirty="0"/>
          </a:p>
        </p:txBody>
      </p:sp>
      <p:sp>
        <p:nvSpPr>
          <p:cNvPr id="5" name="Shape 3"/>
          <p:cNvSpPr/>
          <p:nvPr/>
        </p:nvSpPr>
        <p:spPr>
          <a:xfrm>
            <a:off x="635437" y="2609850"/>
            <a:ext cx="6594515" cy="3983117"/>
          </a:xfrm>
          <a:prstGeom prst="roundRect">
            <a:avLst>
              <a:gd name="adj" fmla="val 10281"/>
            </a:avLst>
          </a:prstGeom>
          <a:solidFill>
            <a:srgbClr val="D75BE2"/>
          </a:solidFill>
          <a:ln/>
        </p:spPr>
      </p:sp>
      <p:sp>
        <p:nvSpPr>
          <p:cNvPr id="6" name="Text 4"/>
          <p:cNvSpPr/>
          <p:nvPr/>
        </p:nvSpPr>
        <p:spPr>
          <a:xfrm>
            <a:off x="806053" y="2763322"/>
            <a:ext cx="2244923" cy="280630"/>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Barlow Bold" pitchFamily="34" charset="0"/>
                <a:ea typeface="Barlow Bold" pitchFamily="34" charset="-122"/>
                <a:cs typeface="Barlow Bold" pitchFamily="34" charset="-120"/>
              </a:rPr>
              <a:t>Giai đoạn Báo giá</a:t>
            </a:r>
            <a:endParaRPr lang="en-US" sz="1750" dirty="0"/>
          </a:p>
        </p:txBody>
      </p:sp>
      <p:sp>
        <p:nvSpPr>
          <p:cNvPr id="7" name="Text 5"/>
          <p:cNvSpPr/>
          <p:nvPr/>
        </p:nvSpPr>
        <p:spPr>
          <a:xfrm>
            <a:off x="806053" y="3197423"/>
            <a:ext cx="6253282" cy="1663303"/>
          </a:xfrm>
          <a:prstGeom prst="rect">
            <a:avLst/>
          </a:prstGeom>
          <a:noFill/>
          <a:ln/>
        </p:spPr>
        <p:txBody>
          <a:bodyPr wrap="square" lIns="0" tIns="0" rIns="0" bIns="0" rtlCol="0" anchor="t"/>
          <a:lstStyle/>
          <a:p>
            <a:pPr algn="l" marL="342900" indent="-342900">
              <a:lnSpc>
                <a:spcPts val="2000"/>
              </a:lnSpc>
              <a:buSzPct val="100000"/>
              <a:buChar char="•"/>
            </a:pPr>
            <a:r>
              <a:rPr lang="en-US" sz="1300" dirty="0">
                <a:solidFill>
                  <a:srgbClr val="000000"/>
                </a:solidFill>
                <a:latin typeface="Montserrat" pitchFamily="34" charset="0"/>
                <a:ea typeface="Montserrat" pitchFamily="34" charset="-122"/>
                <a:cs typeface="Montserrat" pitchFamily="34" charset="-120"/>
              </a:rPr>
              <a:t>Thông tin "ping-pong" qua 4 bộ phận qua file Excel/Word và Zalo, dễ thất lạc phiên bản.</a:t>
            </a:r>
            <a:endParaRPr lang="en-US" sz="1300" dirty="0"/>
          </a:p>
          <a:p>
            <a:pPr algn="l" marL="342900" indent="-342900">
              <a:lnSpc>
                <a:spcPts val="2000"/>
              </a:lnSpc>
              <a:buSzPct val="100000"/>
              <a:buChar char="•"/>
            </a:pPr>
            <a:r>
              <a:rPr lang="en-US" sz="1300" dirty="0">
                <a:solidFill>
                  <a:srgbClr val="000000"/>
                </a:solidFill>
                <a:latin typeface="Montserrat" pitchFamily="34" charset="0"/>
                <a:ea typeface="Montserrat" pitchFamily="34" charset="-122"/>
                <a:cs typeface="Montserrat" pitchFamily="34" charset="-120"/>
              </a:rPr>
              <a:t>Thiếu dữ liệu lịch sử để phân tích nguyên nhân trượt thầu, không thể tối ưu chiến lược.</a:t>
            </a:r>
            <a:endParaRPr lang="en-US" sz="1300" dirty="0"/>
          </a:p>
          <a:p>
            <a:pPr algn="l" marL="342900" indent="-342900">
              <a:lnSpc>
                <a:spcPts val="2000"/>
              </a:lnSpc>
              <a:buSzPct val="100000"/>
              <a:buChar char="•"/>
            </a:pPr>
            <a:r>
              <a:rPr lang="en-US" sz="1300" dirty="0">
                <a:solidFill>
                  <a:srgbClr val="000000"/>
                </a:solidFill>
                <a:latin typeface="Montserrat" pitchFamily="34" charset="0"/>
                <a:ea typeface="Montserrat" pitchFamily="34" charset="-122"/>
                <a:cs typeface="Montserrat" pitchFamily="34" charset="-120"/>
              </a:rPr>
              <a:t>Không có kho lưu trữ tập trung cho bản vẽ sơ bộ và comment của Ban Giám đốc.</a:t>
            </a:r>
            <a:endParaRPr lang="en-US" sz="1300" dirty="0"/>
          </a:p>
        </p:txBody>
      </p:sp>
      <p:sp>
        <p:nvSpPr>
          <p:cNvPr id="8" name="Text 6"/>
          <p:cNvSpPr/>
          <p:nvPr/>
        </p:nvSpPr>
        <p:spPr>
          <a:xfrm>
            <a:off x="7530941" y="2763322"/>
            <a:ext cx="2244923" cy="280630"/>
          </a:xfrm>
          <a:prstGeom prst="rect">
            <a:avLst/>
          </a:prstGeom>
          <a:noFill/>
          <a:ln/>
        </p:spPr>
        <p:txBody>
          <a:bodyPr wrap="none" lIns="0" tIns="0" rIns="0" bIns="0" rtlCol="0" anchor="t"/>
          <a:lstStyle/>
          <a:p>
            <a:pPr algn="l" indent="0" marL="0">
              <a:lnSpc>
                <a:spcPts val="2200"/>
              </a:lnSpc>
              <a:buNone/>
            </a:pPr>
            <a:r>
              <a:rPr lang="en-US" sz="1750" b="1" dirty="0">
                <a:solidFill>
                  <a:srgbClr val="2E3C4E"/>
                </a:solidFill>
                <a:latin typeface="Barlow Bold" pitchFamily="34" charset="0"/>
                <a:ea typeface="Barlow Bold" pitchFamily="34" charset="-122"/>
                <a:cs typeface="Barlow Bold" pitchFamily="34" charset="-120"/>
              </a:rPr>
              <a:t>Giai đoạn Sản xuất</a:t>
            </a:r>
            <a:endParaRPr lang="en-US" sz="1750" dirty="0"/>
          </a:p>
        </p:txBody>
      </p:sp>
      <p:sp>
        <p:nvSpPr>
          <p:cNvPr id="9" name="Text 7"/>
          <p:cNvSpPr/>
          <p:nvPr/>
        </p:nvSpPr>
        <p:spPr>
          <a:xfrm>
            <a:off x="7530941" y="3197423"/>
            <a:ext cx="6348770" cy="1090970"/>
          </a:xfrm>
          <a:prstGeom prst="rect">
            <a:avLst/>
          </a:prstGeom>
          <a:noFill/>
          <a:ln/>
        </p:spPr>
        <p:txBody>
          <a:bodyPr wrap="square" lIns="0" tIns="0" rIns="0" bIns="0" rtlCol="0" anchor="t"/>
          <a:lstStyle/>
          <a:p>
            <a:pPr algn="l" marL="342900" indent="-342900">
              <a:lnSpc>
                <a:spcPts val="2000"/>
              </a:lnSpc>
              <a:buSzPct val="100000"/>
              <a:buChar char="•"/>
            </a:pPr>
            <a:r>
              <a:rPr lang="en-US" sz="1300" dirty="0">
                <a:solidFill>
                  <a:srgbClr val="384653"/>
                </a:solidFill>
                <a:latin typeface="Montserrat" pitchFamily="34" charset="0"/>
                <a:ea typeface="Montserrat" pitchFamily="34" charset="-122"/>
                <a:cs typeface="Montserrat" pitchFamily="34" charset="-120"/>
              </a:rPr>
              <a:t>Quy trình xin vật tư rườm rà — qua 5 bước duyệt thủ công — gây ách tắc dây chuyền xưởng.</a:t>
            </a:r>
            <a:endParaRPr lang="en-US" sz="1300" dirty="0"/>
          </a:p>
          <a:p>
            <a:pPr algn="l" marL="342900" indent="-342900">
              <a:lnSpc>
                <a:spcPts val="2000"/>
              </a:lnSpc>
              <a:buSzPct val="100000"/>
              <a:buChar char="•"/>
            </a:pPr>
            <a:r>
              <a:rPr lang="en-US" sz="1300" dirty="0">
                <a:solidFill>
                  <a:srgbClr val="384653"/>
                </a:solidFill>
                <a:latin typeface="Montserrat" pitchFamily="34" charset="0"/>
                <a:ea typeface="Montserrat" pitchFamily="34" charset="-122"/>
                <a:cs typeface="Montserrat" pitchFamily="34" charset="-120"/>
              </a:rPr>
              <a:t>Không đo đếm được năng suất thực tế của từng trong 9 tổ sản xuất chuyên môn.</a:t>
            </a:r>
            <a:endParaRPr lang="en-US" sz="1300" dirty="0"/>
          </a:p>
        </p:txBody>
      </p:sp>
      <p:sp>
        <p:nvSpPr>
          <p:cNvPr id="10" name="Text 8"/>
          <p:cNvSpPr/>
          <p:nvPr/>
        </p:nvSpPr>
        <p:spPr>
          <a:xfrm>
            <a:off x="7530941" y="4441865"/>
            <a:ext cx="2244923" cy="280630"/>
          </a:xfrm>
          <a:prstGeom prst="rect">
            <a:avLst/>
          </a:prstGeom>
          <a:noFill/>
          <a:ln/>
        </p:spPr>
        <p:txBody>
          <a:bodyPr wrap="none" lIns="0" tIns="0" rIns="0" bIns="0" rtlCol="0" anchor="t"/>
          <a:lstStyle/>
          <a:p>
            <a:pPr algn="l" indent="0" marL="0">
              <a:lnSpc>
                <a:spcPts val="2200"/>
              </a:lnSpc>
              <a:buNone/>
            </a:pPr>
            <a:r>
              <a:rPr lang="en-US" sz="1750" b="1" dirty="0">
                <a:solidFill>
                  <a:srgbClr val="2E3C4E"/>
                </a:solidFill>
                <a:latin typeface="Barlow Bold" pitchFamily="34" charset="0"/>
                <a:ea typeface="Barlow Bold" pitchFamily="34" charset="-122"/>
                <a:cs typeface="Barlow Bold" pitchFamily="34" charset="-120"/>
              </a:rPr>
              <a:t>Giai đoạn Lắp đặt</a:t>
            </a:r>
            <a:endParaRPr lang="en-US" sz="1750" dirty="0"/>
          </a:p>
        </p:txBody>
      </p:sp>
      <p:sp>
        <p:nvSpPr>
          <p:cNvPr id="11" name="Text 9"/>
          <p:cNvSpPr/>
          <p:nvPr/>
        </p:nvSpPr>
        <p:spPr>
          <a:xfrm>
            <a:off x="7530941" y="4875967"/>
            <a:ext cx="6348770" cy="1663303"/>
          </a:xfrm>
          <a:prstGeom prst="rect">
            <a:avLst/>
          </a:prstGeom>
          <a:noFill/>
          <a:ln/>
        </p:spPr>
        <p:txBody>
          <a:bodyPr wrap="square" lIns="0" tIns="0" rIns="0" bIns="0" rtlCol="0" anchor="t"/>
          <a:lstStyle/>
          <a:p>
            <a:pPr algn="l" marL="342900" indent="-342900">
              <a:lnSpc>
                <a:spcPts val="2000"/>
              </a:lnSpc>
              <a:buSzPct val="100000"/>
              <a:buChar char="•"/>
            </a:pPr>
            <a:r>
              <a:rPr lang="en-US" sz="1300" dirty="0">
                <a:solidFill>
                  <a:srgbClr val="384653"/>
                </a:solidFill>
                <a:latin typeface="Montserrat" pitchFamily="34" charset="0"/>
                <a:ea typeface="Montserrat" pitchFamily="34" charset="-122"/>
                <a:cs typeface="Montserrat" pitchFamily="34" charset="-120"/>
              </a:rPr>
              <a:t>"Mù" thông tin tại công trường — không kiểm soát được thợ đi trễ về sớm.</a:t>
            </a:r>
            <a:endParaRPr lang="en-US" sz="1300" dirty="0"/>
          </a:p>
          <a:p>
            <a:pPr algn="l" marL="342900" indent="-342900">
              <a:lnSpc>
                <a:spcPts val="2000"/>
              </a:lnSpc>
              <a:buSzPct val="100000"/>
              <a:buChar char="•"/>
            </a:pPr>
            <a:r>
              <a:rPr lang="en-US" sz="1300" dirty="0">
                <a:solidFill>
                  <a:srgbClr val="384653"/>
                </a:solidFill>
                <a:latin typeface="Montserrat" pitchFamily="34" charset="0"/>
                <a:ea typeface="Montserrat" pitchFamily="34" charset="-122"/>
                <a:cs typeface="Montserrat" pitchFamily="34" charset="-120"/>
              </a:rPr>
              <a:t>Báo cáo tiến độ qua điện thoại dễ "nói khống", thiếu bằng chứng nghiệm thu trực quan.</a:t>
            </a:r>
            <a:endParaRPr lang="en-US" sz="1300" dirty="0"/>
          </a:p>
          <a:p>
            <a:pPr algn="l" marL="342900" indent="-342900">
              <a:lnSpc>
                <a:spcPts val="2000"/>
              </a:lnSpc>
              <a:buSzPct val="100000"/>
              <a:buChar char="•"/>
            </a:pPr>
            <a:r>
              <a:rPr lang="en-US" sz="1300" dirty="0">
                <a:solidFill>
                  <a:srgbClr val="384653"/>
                </a:solidFill>
                <a:latin typeface="Montserrat" pitchFamily="34" charset="0"/>
                <a:ea typeface="Montserrat" pitchFamily="34" charset="-122"/>
                <a:cs typeface="Montserrat" pitchFamily="34" charset="-120"/>
              </a:rPr>
              <a:t>Thợ nhóm B vác đồ xuống công trường mới biết nhóm A chưa làm xong nền móng.</a:t>
            </a:r>
            <a:endParaRPr lang="en-US" sz="1300" dirty="0"/>
          </a:p>
        </p:txBody>
      </p:sp>
      <p:sp>
        <p:nvSpPr>
          <p:cNvPr id="12" name="Shape 10"/>
          <p:cNvSpPr/>
          <p:nvPr/>
        </p:nvSpPr>
        <p:spPr>
          <a:xfrm>
            <a:off x="758309" y="6765608"/>
            <a:ext cx="13113782" cy="678775"/>
          </a:xfrm>
          <a:prstGeom prst="roundRect">
            <a:avLst>
              <a:gd name="adj" fmla="val 37705"/>
            </a:avLst>
          </a:prstGeom>
          <a:solidFill>
            <a:srgbClr val="FFB3B4"/>
          </a:solidFill>
          <a:ln/>
        </p:spPr>
      </p:sp>
      <p:pic>
        <p:nvPicPr>
          <p:cNvPr id="13" name="Image 0" descr="preencoded.png">    </p:cNvPr>
          <p:cNvPicPr>
            <a:picLocks noChangeAspect="1"/>
          </p:cNvPicPr>
          <p:nvPr/>
        </p:nvPicPr>
        <p:blipFill>
          <a:blip r:embed="rId1"/>
          <a:stretch>
            <a:fillRect/>
          </a:stretch>
        </p:blipFill>
        <p:spPr>
          <a:xfrm>
            <a:off x="928926" y="7020044"/>
            <a:ext cx="213241" cy="170617"/>
          </a:xfrm>
          <a:prstGeom prst="rect">
            <a:avLst/>
          </a:prstGeom>
        </p:spPr>
      </p:pic>
      <p:sp>
        <p:nvSpPr>
          <p:cNvPr id="14" name="Text 11"/>
          <p:cNvSpPr/>
          <p:nvPr/>
        </p:nvSpPr>
        <p:spPr>
          <a:xfrm>
            <a:off x="1312783" y="6961703"/>
            <a:ext cx="12388691" cy="259318"/>
          </a:xfrm>
          <a:prstGeom prst="rect">
            <a:avLst/>
          </a:prstGeom>
          <a:noFill/>
          <a:ln/>
        </p:spPr>
        <p:txBody>
          <a:bodyPr wrap="none" lIns="0" tIns="0" rIns="0" bIns="0" rtlCol="0" anchor="t"/>
          <a:lstStyle/>
          <a:p>
            <a:pPr algn="l" indent="0" marL="0">
              <a:lnSpc>
                <a:spcPts val="2000"/>
              </a:lnSpc>
              <a:buNone/>
            </a:pPr>
            <a:r>
              <a:rPr lang="en-US" sz="1300" dirty="0">
                <a:solidFill>
                  <a:srgbClr val="000000"/>
                </a:solidFill>
                <a:latin typeface="Montserrat" pitchFamily="34" charset="0"/>
                <a:ea typeface="Montserrat" pitchFamily="34" charset="-122"/>
                <a:cs typeface="Montserrat" pitchFamily="34" charset="-120"/>
              </a:rPr>
              <a:t>Hậu quả tổng thể: Sai lệch dữ liệu lan rộng, trễ deadline theo dây chuyền và rất khó quy trách nhiệm minh bạch khi xảy ra sự cố.</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2709" y="515779"/>
            <a:ext cx="6289358" cy="386358"/>
          </a:xfrm>
          <a:prstGeom prst="rect">
            <a:avLst/>
          </a:prstGeom>
          <a:noFill/>
          <a:ln/>
        </p:spPr>
        <p:txBody>
          <a:bodyPr wrap="none" lIns="0" tIns="0" rIns="0" bIns="0" rtlCol="0" anchor="t"/>
          <a:lstStyle/>
          <a:p>
            <a:pPr algn="l" indent="0" marL="0">
              <a:lnSpc>
                <a:spcPts val="3000"/>
              </a:lnSpc>
              <a:buNone/>
            </a:pPr>
            <a:r>
              <a:rPr lang="en-US" sz="2400" b="1" dirty="0">
                <a:solidFill>
                  <a:srgbClr val="2E3C4E"/>
                </a:solidFill>
                <a:latin typeface="Barlow Bold" pitchFamily="34" charset="0"/>
                <a:ea typeface="Barlow Bold" pitchFamily="34" charset="-122"/>
                <a:cs typeface="Barlow Bold" pitchFamily="34" charset="-120"/>
              </a:rPr>
              <a:t>Kiến Trúc Tổng Thể Hệ Thống SAREE ERP/MES</a:t>
            </a:r>
            <a:endParaRPr lang="en-US" sz="2400" dirty="0"/>
          </a:p>
        </p:txBody>
      </p:sp>
      <p:sp>
        <p:nvSpPr>
          <p:cNvPr id="3" name="Text 1"/>
          <p:cNvSpPr/>
          <p:nvPr/>
        </p:nvSpPr>
        <p:spPr>
          <a:xfrm>
            <a:off x="722709" y="931188"/>
            <a:ext cx="3032165" cy="193119"/>
          </a:xfrm>
          <a:prstGeom prst="rect">
            <a:avLst/>
          </a:prstGeom>
          <a:noFill/>
          <a:ln/>
        </p:spPr>
        <p:txBody>
          <a:bodyPr wrap="none" lIns="0" tIns="0" rIns="0" bIns="0" rtlCol="0" anchor="t"/>
          <a:lstStyle/>
          <a:p>
            <a:pPr algn="l" indent="0" marL="0">
              <a:lnSpc>
                <a:spcPts val="1500"/>
              </a:lnSpc>
              <a:buNone/>
            </a:pPr>
            <a:r>
              <a:rPr lang="en-US" sz="1200" b="1" dirty="0">
                <a:solidFill>
                  <a:srgbClr val="2E3C4E"/>
                </a:solidFill>
                <a:latin typeface="Barlow Bold" pitchFamily="34" charset="0"/>
                <a:ea typeface="Barlow Bold" pitchFamily="34" charset="-122"/>
                <a:cs typeface="Barlow Bold" pitchFamily="34" charset="-120"/>
              </a:rPr>
              <a:t>Ba phân hệ hợp nhất — Một nền tảng duy nhất</a:t>
            </a:r>
            <a:endParaRPr lang="en-US" sz="1200" dirty="0"/>
          </a:p>
        </p:txBody>
      </p:sp>
      <p:sp>
        <p:nvSpPr>
          <p:cNvPr id="4" name="Text 2"/>
          <p:cNvSpPr/>
          <p:nvPr/>
        </p:nvSpPr>
        <p:spPr>
          <a:xfrm>
            <a:off x="722709" y="1233368"/>
            <a:ext cx="13184981" cy="304086"/>
          </a:xfrm>
          <a:prstGeom prst="rect">
            <a:avLst/>
          </a:prstGeom>
          <a:noFill/>
          <a:ln/>
        </p:spPr>
        <p:txBody>
          <a:bodyPr wrap="square" lIns="0" tIns="0" rIns="0" bIns="0" rtlCol="0" anchor="t"/>
          <a:lstStyle/>
          <a:p>
            <a:pPr algn="l" indent="0" marL="0">
              <a:lnSpc>
                <a:spcPts val="1150"/>
              </a:lnSpc>
              <a:buNone/>
            </a:pPr>
            <a:r>
              <a:rPr lang="en-US" sz="900" dirty="0">
                <a:solidFill>
                  <a:srgbClr val="384653"/>
                </a:solidFill>
                <a:latin typeface="Montserrat" pitchFamily="34" charset="0"/>
                <a:ea typeface="Montserrat" pitchFamily="34" charset="-122"/>
                <a:cs typeface="Montserrat" pitchFamily="34" charset="-120"/>
              </a:rPr>
              <a:t>Hệ thống được thiết kế dựa trên mô hình dữ liệu phản ánh chính xác sơ đồ tổ chức thực tế của SAREE, với quan hệ một chiều </a:t>
            </a:r>
            <a:pPr algn="l" indent="0" marL="0">
              <a:lnSpc>
                <a:spcPts val="1150"/>
              </a:lnSpc>
              <a:buNone/>
            </a:pPr>
            <a:r>
              <a:rPr lang="en-US" sz="900" b="1" dirty="0">
                <a:solidFill>
                  <a:srgbClr val="384653"/>
                </a:solidFill>
                <a:latin typeface="Montserrat" pitchFamily="34" charset="0"/>
                <a:ea typeface="Montserrat" pitchFamily="34" charset="-122"/>
                <a:cs typeface="Montserrat" pitchFamily="34" charset="-120"/>
              </a:rPr>
              <a:t>REPORTS_TO</a:t>
            </a:r>
            <a:pPr algn="l" indent="0" marL="0">
              <a:lnSpc>
                <a:spcPts val="1150"/>
              </a:lnSpc>
              <a:buNone/>
            </a:pPr>
            <a:r>
              <a:rPr lang="en-US" sz="900" dirty="0">
                <a:solidFill>
                  <a:srgbClr val="384653"/>
                </a:solidFill>
                <a:latin typeface="Montserrat" pitchFamily="34" charset="0"/>
                <a:ea typeface="Montserrat" pitchFamily="34" charset="-122"/>
                <a:cs typeface="Montserrat" pitchFamily="34" charset="-120"/>
              </a:rPr>
              <a:t> (Nhân viên → Tổ trưởng → Quản lý → Giám đốc). Cấu trúc này loại bỏ hoàn toàn dư thừa dữ liệu, chồng chéo vai trò và đảm bảo phân quyền bảo mật chặt chẽ theo từng cấp độ.</a:t>
            </a:r>
            <a:endParaRPr lang="en-US" sz="9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709" y="1619250"/>
            <a:ext cx="293608" cy="293608"/>
          </a:xfrm>
          <a:prstGeom prst="rect">
            <a:avLst/>
          </a:prstGeom>
        </p:spPr>
      </p:pic>
      <p:sp>
        <p:nvSpPr>
          <p:cNvPr id="6" name="Text 3"/>
          <p:cNvSpPr/>
          <p:nvPr/>
        </p:nvSpPr>
        <p:spPr>
          <a:xfrm>
            <a:off x="722709" y="2003703"/>
            <a:ext cx="1545312" cy="193119"/>
          </a:xfrm>
          <a:prstGeom prst="rect">
            <a:avLst/>
          </a:prstGeom>
          <a:noFill/>
          <a:ln/>
        </p:spPr>
        <p:txBody>
          <a:bodyPr wrap="none" lIns="0" tIns="0" rIns="0" bIns="0" rtlCol="0" anchor="t"/>
          <a:lstStyle/>
          <a:p>
            <a:pPr algn="l" indent="0" marL="0">
              <a:lnSpc>
                <a:spcPts val="1500"/>
              </a:lnSpc>
              <a:buNone/>
            </a:pPr>
            <a:r>
              <a:rPr lang="en-US" sz="1200" b="1" dirty="0">
                <a:solidFill>
                  <a:srgbClr val="384653"/>
                </a:solidFill>
                <a:latin typeface="Barlow Bold" pitchFamily="34" charset="0"/>
                <a:ea typeface="Barlow Bold" pitchFamily="34" charset="-122"/>
                <a:cs typeface="Barlow Bold" pitchFamily="34" charset="-120"/>
              </a:rPr>
              <a:t>Sales Pipeline</a:t>
            </a:r>
            <a:endParaRPr lang="en-US" sz="1200" dirty="0"/>
          </a:p>
        </p:txBody>
      </p:sp>
      <p:sp>
        <p:nvSpPr>
          <p:cNvPr id="7" name="Text 4"/>
          <p:cNvSpPr/>
          <p:nvPr/>
        </p:nvSpPr>
        <p:spPr>
          <a:xfrm>
            <a:off x="722709" y="2240399"/>
            <a:ext cx="4334351" cy="608171"/>
          </a:xfrm>
          <a:prstGeom prst="rect">
            <a:avLst/>
          </a:prstGeom>
          <a:noFill/>
          <a:ln/>
        </p:spPr>
        <p:txBody>
          <a:bodyPr wrap="square" lIns="0" tIns="0" rIns="0" bIns="0" rtlCol="0" anchor="t"/>
          <a:lstStyle/>
          <a:p>
            <a:pPr algn="l" indent="0" marL="0">
              <a:lnSpc>
                <a:spcPts val="1150"/>
              </a:lnSpc>
              <a:buNone/>
            </a:pPr>
            <a:r>
              <a:rPr lang="en-US" sz="900" dirty="0">
                <a:solidFill>
                  <a:srgbClr val="384653"/>
                </a:solidFill>
                <a:latin typeface="Montserrat" pitchFamily="34" charset="0"/>
                <a:ea typeface="Montserrat" pitchFamily="34" charset="-122"/>
                <a:cs typeface="Montserrat" pitchFamily="34" charset="-120"/>
              </a:rPr>
              <a:t>Quản lý toàn bộ vòng đời báo giá và quan hệ khách hàng. Từ khảo sát ban đầu, lên bảng chào giá, thương lượng đến ký hợp đồng — tất cả trong một luồng ticket tự động, có lưu vết đầy đủ. Tích hợp Win/Loss Analytics để tối ưu chiến lược kinh doanh dài hạn.</a:t>
            </a:r>
            <a:endParaRPr lang="en-US" sz="9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47905" y="1619250"/>
            <a:ext cx="293608" cy="293608"/>
          </a:xfrm>
          <a:prstGeom prst="rect">
            <a:avLst/>
          </a:prstGeom>
        </p:spPr>
      </p:pic>
      <p:sp>
        <p:nvSpPr>
          <p:cNvPr id="9" name="Text 5"/>
          <p:cNvSpPr/>
          <p:nvPr/>
        </p:nvSpPr>
        <p:spPr>
          <a:xfrm>
            <a:off x="5147905" y="2003703"/>
            <a:ext cx="1758791" cy="193119"/>
          </a:xfrm>
          <a:prstGeom prst="rect">
            <a:avLst/>
          </a:prstGeom>
          <a:noFill/>
          <a:ln/>
        </p:spPr>
        <p:txBody>
          <a:bodyPr wrap="none" lIns="0" tIns="0" rIns="0" bIns="0" rtlCol="0" anchor="t"/>
          <a:lstStyle/>
          <a:p>
            <a:pPr algn="l" indent="0" marL="0">
              <a:lnSpc>
                <a:spcPts val="1500"/>
              </a:lnSpc>
              <a:buNone/>
            </a:pPr>
            <a:r>
              <a:rPr lang="en-US" sz="1200" b="1" dirty="0">
                <a:solidFill>
                  <a:srgbClr val="384653"/>
                </a:solidFill>
                <a:latin typeface="Barlow Bold" pitchFamily="34" charset="0"/>
                <a:ea typeface="Barlow Bold" pitchFamily="34" charset="-122"/>
                <a:cs typeface="Barlow Bold" pitchFamily="34" charset="-120"/>
              </a:rPr>
              <a:t>MES — Điều hành Sản xuất</a:t>
            </a:r>
            <a:endParaRPr lang="en-US" sz="1200" dirty="0"/>
          </a:p>
        </p:txBody>
      </p:sp>
      <p:sp>
        <p:nvSpPr>
          <p:cNvPr id="10" name="Text 6"/>
          <p:cNvSpPr/>
          <p:nvPr/>
        </p:nvSpPr>
        <p:spPr>
          <a:xfrm>
            <a:off x="5147905" y="2240399"/>
            <a:ext cx="4334470" cy="608171"/>
          </a:xfrm>
          <a:prstGeom prst="rect">
            <a:avLst/>
          </a:prstGeom>
          <a:noFill/>
          <a:ln/>
        </p:spPr>
        <p:txBody>
          <a:bodyPr wrap="square" lIns="0" tIns="0" rIns="0" bIns="0" rtlCol="0" anchor="t"/>
          <a:lstStyle/>
          <a:p>
            <a:pPr algn="l" indent="0" marL="0">
              <a:lnSpc>
                <a:spcPts val="1150"/>
              </a:lnSpc>
              <a:buNone/>
            </a:pPr>
            <a:r>
              <a:rPr lang="en-US" sz="900" dirty="0">
                <a:solidFill>
                  <a:srgbClr val="384653"/>
                </a:solidFill>
                <a:latin typeface="Montserrat" pitchFamily="34" charset="0"/>
                <a:ea typeface="Montserrat" pitchFamily="34" charset="-122"/>
                <a:cs typeface="Montserrat" pitchFamily="34" charset="-120"/>
              </a:rPr>
              <a:t>Phân hệ Manufacturing Execution System quản lý điều phối toàn bộ 9 tổ sản xuất tại nhà máy. Tích hợp bảng Kanban sản xuất, E-Form xin vật tư điện tử với luồng duyệt tự động và kết nối trực tiếp với hệ thống Kho (Kho 1, 2, 3).</a:t>
            </a:r>
            <a:endParaRPr lang="en-US" sz="9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73220" y="1619250"/>
            <a:ext cx="293608" cy="293608"/>
          </a:xfrm>
          <a:prstGeom prst="rect">
            <a:avLst/>
          </a:prstGeom>
        </p:spPr>
      </p:pic>
      <p:sp>
        <p:nvSpPr>
          <p:cNvPr id="12" name="Text 7"/>
          <p:cNvSpPr/>
          <p:nvPr/>
        </p:nvSpPr>
        <p:spPr>
          <a:xfrm>
            <a:off x="9573220" y="2003703"/>
            <a:ext cx="2678549" cy="193119"/>
          </a:xfrm>
          <a:prstGeom prst="rect">
            <a:avLst/>
          </a:prstGeom>
          <a:noFill/>
          <a:ln/>
        </p:spPr>
        <p:txBody>
          <a:bodyPr wrap="none" lIns="0" tIns="0" rIns="0" bIns="0" rtlCol="0" anchor="t"/>
          <a:lstStyle/>
          <a:p>
            <a:pPr algn="l" indent="0" marL="0">
              <a:lnSpc>
                <a:spcPts val="1500"/>
              </a:lnSpc>
              <a:buNone/>
            </a:pPr>
            <a:r>
              <a:rPr lang="en-US" sz="1200" b="1" dirty="0">
                <a:solidFill>
                  <a:srgbClr val="384653"/>
                </a:solidFill>
                <a:latin typeface="Barlow Bold" pitchFamily="34" charset="0"/>
                <a:ea typeface="Barlow Bold" pitchFamily="34" charset="-122"/>
                <a:cs typeface="Barlow Bold" pitchFamily="34" charset="-120"/>
              </a:rPr>
              <a:t>Site Management — Giám sát Công trình</a:t>
            </a:r>
            <a:endParaRPr lang="en-US" sz="1200" dirty="0"/>
          </a:p>
        </p:txBody>
      </p:sp>
      <p:sp>
        <p:nvSpPr>
          <p:cNvPr id="13" name="Text 8"/>
          <p:cNvSpPr/>
          <p:nvPr/>
        </p:nvSpPr>
        <p:spPr>
          <a:xfrm>
            <a:off x="9573220" y="2240399"/>
            <a:ext cx="4334470" cy="608171"/>
          </a:xfrm>
          <a:prstGeom prst="rect">
            <a:avLst/>
          </a:prstGeom>
          <a:noFill/>
          <a:ln/>
        </p:spPr>
        <p:txBody>
          <a:bodyPr wrap="square" lIns="0" tIns="0" rIns="0" bIns="0" rtlCol="0" anchor="t"/>
          <a:lstStyle/>
          <a:p>
            <a:pPr algn="l" indent="0" marL="0">
              <a:lnSpc>
                <a:spcPts val="1150"/>
              </a:lnSpc>
              <a:buNone/>
            </a:pPr>
            <a:r>
              <a:rPr lang="en-US" sz="900" dirty="0">
                <a:solidFill>
                  <a:srgbClr val="384653"/>
                </a:solidFill>
                <a:latin typeface="Montserrat" pitchFamily="34" charset="0"/>
                <a:ea typeface="Montserrat" pitchFamily="34" charset="-122"/>
                <a:cs typeface="Montserrat" pitchFamily="34" charset="-120"/>
              </a:rPr>
              <a:t>Phân hệ giám sát 6 đội thợ chuyên môn (Điện, Hàn, Lạnh, Băng chuyền…) làm việc phân tán tại nhiều tỉnh. Tích hợp GPS Check-in, Daily Proof Report bằng ảnh và cơ chế Dependency Lock đảm bảo đúng thứ tự thi công.</a:t>
            </a:r>
            <a:endParaRPr lang="en-US" sz="900" dirty="0"/>
          </a:p>
        </p:txBody>
      </p:sp>
      <p:pic>
        <p:nvPicPr>
          <p:cNvPr id="14" name="Image 3" descr="preencoded.png">    </p:cNvPr>
          <p:cNvPicPr>
            <a:picLocks noChangeAspect="1"/>
          </p:cNvPicPr>
          <p:nvPr/>
        </p:nvPicPr>
        <p:blipFill>
          <a:blip r:embed="rId7"/>
          <a:stretch>
            <a:fillRect/>
          </a:stretch>
        </p:blipFill>
        <p:spPr>
          <a:xfrm>
            <a:off x="722709" y="2930366"/>
            <a:ext cx="8570238" cy="4783336"/>
          </a:xfrm>
          <a:prstGeom prst="rect">
            <a:avLst/>
          </a:prstGeom>
        </p:spPr>
      </p:pic>
      <p:pic>
        <p:nvPicPr>
          <p:cNvPr id="15" name="Image 4" descr="preencoded.png">    </p:cNvPr>
          <p:cNvPicPr>
            <a:picLocks noChangeAspect="1"/>
          </p:cNvPicPr>
          <p:nvPr/>
        </p:nvPicPr>
        <p:blipFill>
          <a:blip r:embed="rId8"/>
          <a:stretch>
            <a:fillRect/>
          </a:stretch>
        </p:blipFill>
        <p:spPr>
          <a:xfrm>
            <a:off x="722709" y="2930366"/>
            <a:ext cx="8570238" cy="47833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693896"/>
            <a:ext cx="6082308" cy="436483"/>
          </a:xfrm>
          <a:prstGeom prst="rect">
            <a:avLst/>
          </a:prstGeom>
          <a:noFill/>
          <a:ln/>
        </p:spPr>
        <p:txBody>
          <a:bodyPr wrap="none" lIns="0" tIns="0" rIns="0" bIns="0" rtlCol="0" anchor="t"/>
          <a:lstStyle/>
          <a:p>
            <a:pPr algn="l" indent="0" marL="0">
              <a:lnSpc>
                <a:spcPts val="3400"/>
              </a:lnSpc>
              <a:buNone/>
            </a:pPr>
            <a:r>
              <a:rPr lang="en-US" sz="2700" b="1" dirty="0">
                <a:solidFill>
                  <a:srgbClr val="2E3C4E"/>
                </a:solidFill>
                <a:latin typeface="Barlow Bold" pitchFamily="34" charset="0"/>
                <a:ea typeface="Barlow Bold" pitchFamily="34" charset="-122"/>
                <a:cs typeface="Barlow Bold" pitchFamily="34" charset="-120"/>
              </a:rPr>
              <a:t>Module Báo Giá &amp; Quản Lý Dự Án Tiền Kỳ</a:t>
            </a:r>
            <a:endParaRPr lang="en-US" sz="2700" dirty="0"/>
          </a:p>
        </p:txBody>
      </p:sp>
      <p:sp>
        <p:nvSpPr>
          <p:cNvPr id="3" name="Text 1"/>
          <p:cNvSpPr/>
          <p:nvPr/>
        </p:nvSpPr>
        <p:spPr>
          <a:xfrm>
            <a:off x="758309" y="1167527"/>
            <a:ext cx="5551289" cy="218242"/>
          </a:xfrm>
          <a:prstGeom prst="rect">
            <a:avLst/>
          </a:prstGeom>
          <a:noFill/>
          <a:ln/>
        </p:spPr>
        <p:txBody>
          <a:bodyPr wrap="none" lIns="0" tIns="0" rIns="0" bIns="0" rtlCol="0" anchor="t"/>
          <a:lstStyle/>
          <a:p>
            <a:pPr algn="l" indent="0" marL="0">
              <a:lnSpc>
                <a:spcPts val="1700"/>
              </a:lnSpc>
              <a:buNone/>
            </a:pPr>
            <a:r>
              <a:rPr lang="en-US" sz="1350" b="1" dirty="0">
                <a:solidFill>
                  <a:srgbClr val="2E3C4E"/>
                </a:solidFill>
                <a:latin typeface="Barlow Bold" pitchFamily="34" charset="0"/>
                <a:ea typeface="Barlow Bold" pitchFamily="34" charset="-122"/>
                <a:cs typeface="Barlow Bold" pitchFamily="34" charset="-120"/>
              </a:rPr>
              <a:t>Từ quy trình "ping-pong" thủ công → Luồng Ticket tự động hóa hoàn toàn</a:t>
            </a:r>
            <a:endParaRPr lang="en-US" sz="1350" dirty="0"/>
          </a:p>
        </p:txBody>
      </p:sp>
      <p:sp>
        <p:nvSpPr>
          <p:cNvPr id="4" name="Text 2"/>
          <p:cNvSpPr/>
          <p:nvPr/>
        </p:nvSpPr>
        <p:spPr>
          <a:xfrm>
            <a:off x="758309" y="1617940"/>
            <a:ext cx="1746052" cy="233482"/>
          </a:xfrm>
          <a:prstGeom prst="rect">
            <a:avLst/>
          </a:prstGeom>
          <a:noFill/>
          <a:ln/>
        </p:spPr>
        <p:txBody>
          <a:bodyPr wrap="none" lIns="0" tIns="0" rIns="0" bIns="0" rtlCol="0" anchor="t"/>
          <a:lstStyle/>
          <a:p>
            <a:pPr algn="l" indent="0" marL="0">
              <a:lnSpc>
                <a:spcPts val="1700"/>
              </a:lnSpc>
              <a:buNone/>
            </a:pPr>
            <a:r>
              <a:rPr lang="en-US" sz="1350" b="1" dirty="0">
                <a:solidFill>
                  <a:srgbClr val="000000"/>
                </a:solidFill>
                <a:latin typeface="Barlow Bold" pitchFamily="34" charset="0"/>
                <a:ea typeface="Barlow Bold" pitchFamily="34" charset="-122"/>
                <a:cs typeface="Barlow Bold" pitchFamily="34" charset="-120"/>
              </a:rPr>
              <a:t>🔴</a:t>
            </a:r>
            <a:pPr algn="l" indent="0" marL="0">
              <a:lnSpc>
                <a:spcPts val="1700"/>
              </a:lnSpc>
              <a:buNone/>
            </a:pPr>
            <a:r>
              <a:rPr lang="en-US" sz="1350" b="1" dirty="0">
                <a:solidFill>
                  <a:srgbClr val="2E3C4E"/>
                </a:solidFill>
                <a:latin typeface="Barlow Bold" pitchFamily="34" charset="0"/>
                <a:ea typeface="Barlow Bold" pitchFamily="34" charset="-122"/>
                <a:cs typeface="Barlow Bold" pitchFamily="34" charset="-120"/>
              </a:rPr>
              <a:t> Cách làm hiện tại</a:t>
            </a:r>
            <a:endParaRPr lang="en-US" sz="1350" dirty="0"/>
          </a:p>
        </p:txBody>
      </p:sp>
      <p:sp>
        <p:nvSpPr>
          <p:cNvPr id="5" name="Text 3"/>
          <p:cNvSpPr/>
          <p:nvPr/>
        </p:nvSpPr>
        <p:spPr>
          <a:xfrm>
            <a:off x="758309" y="1944291"/>
            <a:ext cx="6395085" cy="1361003"/>
          </a:xfrm>
          <a:prstGeom prst="rect">
            <a:avLst/>
          </a:prstGeom>
          <a:noFill/>
          <a:ln/>
        </p:spPr>
        <p:txBody>
          <a:bodyPr wrap="square" lIns="0" tIns="0" rIns="0" bIns="0" rtlCol="0" anchor="t"/>
          <a:lstStyle/>
          <a:p>
            <a:pPr algn="l" marL="342900" indent="-342900">
              <a:lnSpc>
                <a:spcPts val="1400"/>
              </a:lnSpc>
              <a:buSzPct val="100000"/>
              <a:buChar char="•"/>
            </a:pPr>
            <a:r>
              <a:rPr lang="en-US" sz="1000" dirty="0">
                <a:solidFill>
                  <a:srgbClr val="384653"/>
                </a:solidFill>
                <a:latin typeface="Montserrat" pitchFamily="34" charset="0"/>
                <a:ea typeface="Montserrat" pitchFamily="34" charset="-122"/>
                <a:cs typeface="Montserrat" pitchFamily="34" charset="-120"/>
              </a:rPr>
              <a:t>File Excel/Word luân chuyển qua email và Zalo giữa Kinh doanh, Kỹ thuật, Vật tư và Ban Giám đốc — dễ nhầm phiên bản, dễ thất lạc file.</a:t>
            </a:r>
            <a:endParaRPr lang="en-US" sz="1000" dirty="0"/>
          </a:p>
          <a:p>
            <a:pPr algn="l" marL="342900" indent="-342900">
              <a:lnSpc>
                <a:spcPts val="1400"/>
              </a:lnSpc>
              <a:buSzPct val="100000"/>
              <a:buChar char="•"/>
            </a:pPr>
            <a:r>
              <a:rPr lang="en-US" sz="1000" dirty="0">
                <a:solidFill>
                  <a:srgbClr val="384653"/>
                </a:solidFill>
                <a:latin typeface="Montserrat" pitchFamily="34" charset="0"/>
                <a:ea typeface="Montserrat" pitchFamily="34" charset="-122"/>
                <a:cs typeface="Montserrat" pitchFamily="34" charset="-120"/>
              </a:rPr>
              <a:t>Không có kho lưu trữ tập trung. Bản vẽ sơ bộ, bảng giá, comment của Giám đốc rải rác ở nhiều nơi.</a:t>
            </a:r>
            <a:endParaRPr lang="en-US" sz="1000" dirty="0"/>
          </a:p>
          <a:p>
            <a:pPr algn="l" marL="342900" indent="-342900">
              <a:lnSpc>
                <a:spcPts val="1400"/>
              </a:lnSpc>
              <a:buSzPct val="100000"/>
              <a:buChar char="•"/>
            </a:pPr>
            <a:r>
              <a:rPr lang="en-US" sz="1000" dirty="0">
                <a:solidFill>
                  <a:srgbClr val="384653"/>
                </a:solidFill>
                <a:latin typeface="Montserrat" pitchFamily="34" charset="0"/>
                <a:ea typeface="Montserrat" pitchFamily="34" charset="-122"/>
                <a:cs typeface="Montserrat" pitchFamily="34" charset="-120"/>
              </a:rPr>
              <a:t>Không có dữ liệu lịch sử để phân tích lý do trượt thầu — kinh nghiệm chỉ nằm trong đầu người.</a:t>
            </a:r>
            <a:endParaRPr lang="en-US" sz="1000" dirty="0"/>
          </a:p>
          <a:p>
            <a:pPr algn="l" marL="342900" indent="-342900">
              <a:lnSpc>
                <a:spcPts val="1400"/>
              </a:lnSpc>
              <a:buSzPct val="100000"/>
              <a:buChar char="•"/>
            </a:pPr>
            <a:r>
              <a:rPr lang="en-US" sz="1000" dirty="0">
                <a:solidFill>
                  <a:srgbClr val="384653"/>
                </a:solidFill>
                <a:latin typeface="Montserrat" pitchFamily="34" charset="0"/>
                <a:ea typeface="Montserrat" pitchFamily="34" charset="-122"/>
                <a:cs typeface="Montserrat" pitchFamily="34" charset="-120"/>
              </a:rPr>
              <a:t>Khó biết ai đang "giữ" báo giá, bao giờ xong, ai cần giục.</a:t>
            </a:r>
            <a:endParaRPr lang="en-US" sz="1000" dirty="0"/>
          </a:p>
        </p:txBody>
      </p:sp>
      <p:sp>
        <p:nvSpPr>
          <p:cNvPr id="6" name="Shape 4"/>
          <p:cNvSpPr/>
          <p:nvPr/>
        </p:nvSpPr>
        <p:spPr>
          <a:xfrm>
            <a:off x="7389138" y="1525072"/>
            <a:ext cx="6586061" cy="2173724"/>
          </a:xfrm>
          <a:prstGeom prst="roundRect">
            <a:avLst>
              <a:gd name="adj" fmla="val 14652"/>
            </a:avLst>
          </a:prstGeom>
          <a:solidFill>
            <a:srgbClr val="D75BE2"/>
          </a:solidFill>
          <a:ln/>
        </p:spPr>
      </p:sp>
      <p:sp>
        <p:nvSpPr>
          <p:cNvPr id="7" name="Text 5"/>
          <p:cNvSpPr/>
          <p:nvPr/>
        </p:nvSpPr>
        <p:spPr>
          <a:xfrm>
            <a:off x="7521773" y="1617940"/>
            <a:ext cx="2232422" cy="233482"/>
          </a:xfrm>
          <a:prstGeom prst="rect">
            <a:avLst/>
          </a:prstGeom>
          <a:noFill/>
          <a:ln/>
        </p:spPr>
        <p:txBody>
          <a:bodyPr wrap="none" lIns="0" tIns="0" rIns="0" bIns="0" rtlCol="0" anchor="t"/>
          <a:lstStyle/>
          <a:p>
            <a:pPr algn="l" indent="0" marL="0">
              <a:lnSpc>
                <a:spcPts val="1700"/>
              </a:lnSpc>
              <a:buNone/>
            </a:pPr>
            <a:r>
              <a:rPr lang="en-US" sz="1350" b="1" dirty="0">
                <a:solidFill>
                  <a:srgbClr val="000000"/>
                </a:solidFill>
                <a:latin typeface="Barlow Bold" pitchFamily="34" charset="0"/>
                <a:ea typeface="Barlow Bold" pitchFamily="34" charset="-122"/>
                <a:cs typeface="Barlow Bold" pitchFamily="34" charset="-120"/>
              </a:rPr>
              <a:t>✅</a:t>
            </a:r>
            <a:pPr algn="l" indent="0" marL="0">
              <a:lnSpc>
                <a:spcPts val="1700"/>
              </a:lnSpc>
              <a:buNone/>
            </a:pPr>
            <a:r>
              <a:rPr lang="en-US" sz="1350" b="1" dirty="0">
                <a:solidFill>
                  <a:srgbClr val="000000"/>
                </a:solidFill>
                <a:latin typeface="Barlow Bold" pitchFamily="34" charset="0"/>
                <a:ea typeface="Barlow Bold" pitchFamily="34" charset="-122"/>
                <a:cs typeface="Barlow Bold" pitchFamily="34" charset="-120"/>
              </a:rPr>
              <a:t> Giải pháp trên SAREE ERP</a:t>
            </a:r>
            <a:endParaRPr lang="en-US" sz="1350" dirty="0"/>
          </a:p>
        </p:txBody>
      </p:sp>
      <p:sp>
        <p:nvSpPr>
          <p:cNvPr id="8" name="Text 6"/>
          <p:cNvSpPr/>
          <p:nvPr/>
        </p:nvSpPr>
        <p:spPr>
          <a:xfrm>
            <a:off x="7521773" y="1944291"/>
            <a:ext cx="6320790" cy="1722001"/>
          </a:xfrm>
          <a:prstGeom prst="rect">
            <a:avLst/>
          </a:prstGeom>
          <a:noFill/>
          <a:ln/>
        </p:spPr>
        <p:txBody>
          <a:bodyPr wrap="square" lIns="0" tIns="0" rIns="0" bIns="0" rtlCol="0" anchor="t"/>
          <a:lstStyle/>
          <a:p>
            <a:pPr algn="l" marL="342900" indent="-342900">
              <a:lnSpc>
                <a:spcPts val="1400"/>
              </a:lnSpc>
              <a:buSzPct val="100000"/>
              <a:buChar char="•"/>
            </a:pPr>
            <a:r>
              <a:rPr lang="en-US" sz="1000" b="1" dirty="0">
                <a:solidFill>
                  <a:srgbClr val="000000"/>
                </a:solidFill>
                <a:latin typeface="Montserrat" pitchFamily="34" charset="0"/>
                <a:ea typeface="Montserrat" pitchFamily="34" charset="-122"/>
                <a:cs typeface="Montserrat" pitchFamily="34" charset="-120"/>
              </a:rPr>
              <a:t>Ticket Luân chuyển tự động:</a:t>
            </a:r>
            <a:pPr algn="l" indent="0" marL="0">
              <a:lnSpc>
                <a:spcPts val="1400"/>
              </a:lnSpc>
              <a:buNone/>
            </a:pPr>
            <a:r>
              <a:rPr lang="en-US" sz="1000" dirty="0">
                <a:solidFill>
                  <a:srgbClr val="000000"/>
                </a:solidFill>
                <a:latin typeface="Montserrat" pitchFamily="34" charset="0"/>
                <a:ea typeface="Montserrat" pitchFamily="34" charset="-122"/>
                <a:cs typeface="Montserrat" pitchFamily="34" charset="-120"/>
              </a:rPr>
              <a:t> Mỗi báo giá là một Ticket duy nhất. Ai đến lượt người đó nhận thông báo Push Notification trên App. Không cần gọi điện giục giã, không mất thời gian chờ đợi mù quáng.</a:t>
            </a:r>
            <a:endParaRPr lang="en-US" sz="1000" dirty="0"/>
          </a:p>
          <a:p>
            <a:pPr algn="l" marL="342900" indent="-342900">
              <a:lnSpc>
                <a:spcPts val="1400"/>
              </a:lnSpc>
              <a:buSzPct val="100000"/>
              <a:buChar char="•"/>
            </a:pPr>
            <a:r>
              <a:rPr lang="en-US" sz="1000" b="1" dirty="0">
                <a:solidFill>
                  <a:srgbClr val="000000"/>
                </a:solidFill>
                <a:latin typeface="Montserrat" pitchFamily="34" charset="0"/>
                <a:ea typeface="Montserrat" pitchFamily="34" charset="-122"/>
                <a:cs typeface="Montserrat" pitchFamily="34" charset="-120"/>
              </a:rPr>
              <a:t>Kho lưu trữ tập trung:</a:t>
            </a:r>
            <a:pPr algn="l" indent="0" marL="0">
              <a:lnSpc>
                <a:spcPts val="1400"/>
              </a:lnSpc>
              <a:buNone/>
            </a:pPr>
            <a:r>
              <a:rPr lang="en-US" sz="1000" dirty="0">
                <a:solidFill>
                  <a:srgbClr val="000000"/>
                </a:solidFill>
                <a:latin typeface="Montserrat" pitchFamily="34" charset="0"/>
                <a:ea typeface="Montserrat" pitchFamily="34" charset="-122"/>
                <a:cs typeface="Montserrat" pitchFamily="34" charset="-120"/>
              </a:rPr>
              <a:t> Mọi bản vẽ sơ bộ, bảng giá vật tư, comment, chỉnh sửa đều đính kèm trong thẻ dự án — truy cập theo phân quyền.</a:t>
            </a:r>
            <a:endParaRPr lang="en-US" sz="1000" dirty="0"/>
          </a:p>
          <a:p>
            <a:pPr algn="l" marL="342900" indent="-342900">
              <a:lnSpc>
                <a:spcPts val="1400"/>
              </a:lnSpc>
              <a:buSzPct val="100000"/>
              <a:buChar char="•"/>
            </a:pPr>
            <a:r>
              <a:rPr lang="en-US" sz="1000" b="1" dirty="0">
                <a:solidFill>
                  <a:srgbClr val="000000"/>
                </a:solidFill>
                <a:latin typeface="Montserrat" pitchFamily="34" charset="0"/>
                <a:ea typeface="Montserrat" pitchFamily="34" charset="-122"/>
                <a:cs typeface="Montserrat" pitchFamily="34" charset="-120"/>
              </a:rPr>
              <a:t>Lưu vết thương lượng:</a:t>
            </a:r>
            <a:pPr algn="l" indent="0" marL="0">
              <a:lnSpc>
                <a:spcPts val="1400"/>
              </a:lnSpc>
              <a:buNone/>
            </a:pPr>
            <a:r>
              <a:rPr lang="en-US" sz="1000" dirty="0">
                <a:solidFill>
                  <a:srgbClr val="000000"/>
                </a:solidFill>
                <a:latin typeface="Montserrat" pitchFamily="34" charset="0"/>
                <a:ea typeface="Montserrat" pitchFamily="34" charset="-122"/>
                <a:cs typeface="Montserrat" pitchFamily="34" charset="-120"/>
              </a:rPr>
              <a:t> Ghi lại mọi điều chỉnh giá và yêu cầu của khách hàng theo dòng thời gian.</a:t>
            </a:r>
            <a:endParaRPr lang="en-US" sz="1000" dirty="0"/>
          </a:p>
          <a:p>
            <a:pPr algn="l" marL="342900" indent="-342900">
              <a:lnSpc>
                <a:spcPts val="1400"/>
              </a:lnSpc>
              <a:buSzPct val="100000"/>
              <a:buChar char="•"/>
            </a:pPr>
            <a:r>
              <a:rPr lang="en-US" sz="1000" b="1" dirty="0">
                <a:solidFill>
                  <a:srgbClr val="000000"/>
                </a:solidFill>
                <a:latin typeface="Montserrat" pitchFamily="34" charset="0"/>
                <a:ea typeface="Montserrat" pitchFamily="34" charset="-122"/>
                <a:cs typeface="Montserrat" pitchFamily="34" charset="-120"/>
              </a:rPr>
              <a:t>Win/Loss Analytics Dashboard:</a:t>
            </a:r>
            <a:pPr algn="l" indent="0" marL="0">
              <a:lnSpc>
                <a:spcPts val="1400"/>
              </a:lnSpc>
              <a:buNone/>
            </a:pPr>
            <a:r>
              <a:rPr lang="en-US" sz="1000" dirty="0">
                <a:solidFill>
                  <a:srgbClr val="000000"/>
                </a:solidFill>
                <a:latin typeface="Montserrat" pitchFamily="34" charset="0"/>
                <a:ea typeface="Montserrat" pitchFamily="34" charset="-122"/>
                <a:cs typeface="Montserrat" pitchFamily="34" charset="-120"/>
              </a:rPr>
              <a:t> Tự động thống kê tỷ lệ thắng/thua theo hạng mục thiết bị, khoảng thời gian và đối thủ — nền tảng để tối ưu chiến lược kinh doanh.</a:t>
            </a:r>
            <a:endParaRPr lang="en-US" sz="1000" dirty="0"/>
          </a:p>
        </p:txBody>
      </p:sp>
      <p:pic>
        <p:nvPicPr>
          <p:cNvPr id="9" name="Image 0" descr="preencoded.png">    </p:cNvPr>
          <p:cNvPicPr>
            <a:picLocks noChangeAspect="1"/>
          </p:cNvPicPr>
          <p:nvPr/>
        </p:nvPicPr>
        <p:blipFill>
          <a:blip r:embed="rId1"/>
          <a:stretch>
            <a:fillRect/>
          </a:stretch>
        </p:blipFill>
        <p:spPr>
          <a:xfrm>
            <a:off x="3745944" y="3803213"/>
            <a:ext cx="7138511" cy="3267075"/>
          </a:xfrm>
          <a:prstGeom prst="rect">
            <a:avLst/>
          </a:prstGeom>
        </p:spPr>
      </p:pic>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20860" y="4618914"/>
            <a:ext cx="458976" cy="458975"/>
          </a:xfrm>
          <a:prstGeom prst="rect">
            <a:avLst/>
          </a:prstGeom>
        </p:spPr>
      </p:pic>
      <p:sp>
        <p:nvSpPr>
          <p:cNvPr id="11" name="Text 7"/>
          <p:cNvSpPr/>
          <p:nvPr/>
        </p:nvSpPr>
        <p:spPr>
          <a:xfrm>
            <a:off x="9211942" y="6151748"/>
            <a:ext cx="1340208" cy="543598"/>
          </a:xfrm>
          <a:prstGeom prst="rect">
            <a:avLst/>
          </a:prstGeom>
          <a:noFill/>
          <a:ln/>
        </p:spPr>
        <p:txBody>
          <a:bodyPr wrap="square" lIns="0" tIns="0" rIns="0" bIns="0" rtlCol="0" anchor="t"/>
          <a:lstStyle/>
          <a:p>
            <a:pPr algn="ctr" indent="0" marL="0">
              <a:lnSpc>
                <a:spcPts val="2100"/>
              </a:lnSpc>
              <a:buNone/>
            </a:pPr>
            <a:r>
              <a:rPr lang="en-US" sz="1700" b="1" dirty="0">
                <a:solidFill>
                  <a:srgbClr val="384653"/>
                </a:solidFill>
                <a:latin typeface="Barlow Bold" pitchFamily="34" charset="0"/>
                <a:ea typeface="Barlow Bold" pitchFamily="34" charset="-122"/>
                <a:cs typeface="Barlow Bold" pitchFamily="34" charset="-120"/>
              </a:rPr>
              <a:t>BGĐ phê duyệt</a:t>
            </a:r>
            <a:endParaRPr lang="en-US" sz="17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40581" y="4619775"/>
            <a:ext cx="458975" cy="458975"/>
          </a:xfrm>
          <a:prstGeom prst="rect">
            <a:avLst/>
          </a:prstGeom>
        </p:spPr>
      </p:pic>
      <p:sp>
        <p:nvSpPr>
          <p:cNvPr id="13" name="Text 8"/>
          <p:cNvSpPr/>
          <p:nvPr/>
        </p:nvSpPr>
        <p:spPr>
          <a:xfrm>
            <a:off x="7522914" y="6151748"/>
            <a:ext cx="1340207" cy="543598"/>
          </a:xfrm>
          <a:prstGeom prst="rect">
            <a:avLst/>
          </a:prstGeom>
          <a:noFill/>
          <a:ln/>
        </p:spPr>
        <p:txBody>
          <a:bodyPr wrap="square" lIns="0" tIns="0" rIns="0" bIns="0" rtlCol="0" anchor="t"/>
          <a:lstStyle/>
          <a:p>
            <a:pPr algn="ctr" indent="0" marL="0">
              <a:lnSpc>
                <a:spcPts val="2100"/>
              </a:lnSpc>
              <a:buNone/>
            </a:pPr>
            <a:r>
              <a:rPr lang="en-US" sz="1700" b="1" dirty="0">
                <a:solidFill>
                  <a:srgbClr val="384653"/>
                </a:solidFill>
                <a:latin typeface="Barlow Bold" pitchFamily="34" charset="0"/>
                <a:ea typeface="Barlow Bold" pitchFamily="34" charset="-122"/>
                <a:cs typeface="Barlow Bold" pitchFamily="34" charset="-120"/>
              </a:rPr>
              <a:t>Vật tư điền đơn giá</a:t>
            </a:r>
            <a:endParaRPr lang="en-US" sz="170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60732" y="4619775"/>
            <a:ext cx="458975" cy="458975"/>
          </a:xfrm>
          <a:prstGeom prst="rect">
            <a:avLst/>
          </a:prstGeom>
        </p:spPr>
      </p:pic>
      <p:sp>
        <p:nvSpPr>
          <p:cNvPr id="15" name="Text 9"/>
          <p:cNvSpPr/>
          <p:nvPr/>
        </p:nvSpPr>
        <p:spPr>
          <a:xfrm>
            <a:off x="5843065" y="6151748"/>
            <a:ext cx="1340207" cy="543598"/>
          </a:xfrm>
          <a:prstGeom prst="rect">
            <a:avLst/>
          </a:prstGeom>
          <a:noFill/>
          <a:ln/>
        </p:spPr>
        <p:txBody>
          <a:bodyPr wrap="square" lIns="0" tIns="0" rIns="0" bIns="0" rtlCol="0" anchor="t"/>
          <a:lstStyle/>
          <a:p>
            <a:pPr algn="ctr" indent="0" marL="0">
              <a:lnSpc>
                <a:spcPts val="2100"/>
              </a:lnSpc>
              <a:buNone/>
            </a:pPr>
            <a:r>
              <a:rPr lang="en-US" sz="1700" b="1" dirty="0">
                <a:solidFill>
                  <a:srgbClr val="384653"/>
                </a:solidFill>
                <a:latin typeface="Barlow Bold" pitchFamily="34" charset="0"/>
                <a:ea typeface="Barlow Bold" pitchFamily="34" charset="-122"/>
                <a:cs typeface="Barlow Bold" pitchFamily="34" charset="-120"/>
              </a:rPr>
              <a:t>Kỹ thuật lên bản vẽ</a:t>
            </a:r>
            <a:endParaRPr lang="en-US" sz="17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71703" y="4619775"/>
            <a:ext cx="458975" cy="458975"/>
          </a:xfrm>
          <a:prstGeom prst="rect">
            <a:avLst/>
          </a:prstGeom>
        </p:spPr>
      </p:pic>
      <p:sp>
        <p:nvSpPr>
          <p:cNvPr id="17" name="Text 10"/>
          <p:cNvSpPr/>
          <p:nvPr/>
        </p:nvSpPr>
        <p:spPr>
          <a:xfrm>
            <a:off x="4126497" y="6151748"/>
            <a:ext cx="1340207" cy="543598"/>
          </a:xfrm>
          <a:prstGeom prst="rect">
            <a:avLst/>
          </a:prstGeom>
          <a:noFill/>
          <a:ln/>
        </p:spPr>
        <p:txBody>
          <a:bodyPr wrap="square" lIns="0" tIns="0" rIns="0" bIns="0" rtlCol="0" anchor="t"/>
          <a:lstStyle/>
          <a:p>
            <a:pPr algn="ctr" indent="0" marL="0">
              <a:lnSpc>
                <a:spcPts val="2100"/>
              </a:lnSpc>
              <a:buNone/>
            </a:pPr>
            <a:r>
              <a:rPr lang="en-US" sz="1700" b="1" dirty="0">
                <a:solidFill>
                  <a:srgbClr val="384653"/>
                </a:solidFill>
                <a:latin typeface="Barlow Bold" pitchFamily="34" charset="0"/>
                <a:ea typeface="Barlow Bold" pitchFamily="34" charset="-122"/>
                <a:cs typeface="Barlow Bold" pitchFamily="34" charset="-120"/>
              </a:rPr>
              <a:t>Thu thập khảo sát</a:t>
            </a:r>
            <a:endParaRPr lang="en-US" sz="1700" dirty="0"/>
          </a:p>
        </p:txBody>
      </p:sp>
      <p:sp>
        <p:nvSpPr>
          <p:cNvPr id="18" name="Text 11"/>
          <p:cNvSpPr/>
          <p:nvPr/>
        </p:nvSpPr>
        <p:spPr>
          <a:xfrm>
            <a:off x="758309" y="7174706"/>
            <a:ext cx="13113782" cy="360998"/>
          </a:xfrm>
          <a:prstGeom prst="rect">
            <a:avLst/>
          </a:prstGeom>
          <a:noFill/>
          <a:ln/>
        </p:spPr>
        <p:txBody>
          <a:bodyPr wrap="square" lIns="0" tIns="0" rIns="0" bIns="0" rtlCol="0" anchor="t"/>
          <a:lstStyle/>
          <a:p>
            <a:pPr algn="l" indent="0" marL="0">
              <a:lnSpc>
                <a:spcPts val="1400"/>
              </a:lnSpc>
              <a:buNone/>
            </a:pPr>
            <a:r>
              <a:rPr lang="en-US" sz="1000" dirty="0">
                <a:solidFill>
                  <a:srgbClr val="384653"/>
                </a:solidFill>
                <a:latin typeface="Montserrat" pitchFamily="34" charset="0"/>
                <a:ea typeface="Montserrat" pitchFamily="34" charset="-122"/>
                <a:cs typeface="Montserrat" pitchFamily="34" charset="-120"/>
              </a:rPr>
              <a:t>Mỗi bước trong quy trình đều được hệ thống tự động chuyển giao, thông báo và lưu dấu thời gian phê duyệt — đảm bảo không có khâu nào bị "tắc nghẽn im lặng" mà Ban Giám đốc không hay biết.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762000"/>
            <a:ext cx="9675138" cy="623530"/>
          </a:xfrm>
          <a:prstGeom prst="rect">
            <a:avLst/>
          </a:prstGeom>
          <a:noFill/>
          <a:ln/>
        </p:spPr>
        <p:txBody>
          <a:bodyPr wrap="none" lIns="0" tIns="0" rIns="0" bIns="0" rtlCol="0" anchor="t"/>
          <a:lstStyle/>
          <a:p>
            <a:pPr algn="l" indent="0" marL="0">
              <a:lnSpc>
                <a:spcPts val="4900"/>
              </a:lnSpc>
              <a:buNone/>
            </a:pPr>
            <a:r>
              <a:rPr lang="en-US" sz="3900" b="1" dirty="0">
                <a:solidFill>
                  <a:srgbClr val="2E3C4E"/>
                </a:solidFill>
                <a:latin typeface="Barlow Bold" pitchFamily="34" charset="0"/>
                <a:ea typeface="Barlow Bold" pitchFamily="34" charset="-122"/>
                <a:cs typeface="Barlow Bold" pitchFamily="34" charset="-120"/>
              </a:rPr>
              <a:t>Module Sản Xuất &amp; Luồng Vật Tư Thông Minh</a:t>
            </a:r>
            <a:endParaRPr lang="en-US" sz="3900" dirty="0"/>
          </a:p>
        </p:txBody>
      </p:sp>
      <p:sp>
        <p:nvSpPr>
          <p:cNvPr id="3" name="Text 1"/>
          <p:cNvSpPr/>
          <p:nvPr/>
        </p:nvSpPr>
        <p:spPr>
          <a:xfrm>
            <a:off x="758309" y="1461254"/>
            <a:ext cx="7775258" cy="311706"/>
          </a:xfrm>
          <a:prstGeom prst="rect">
            <a:avLst/>
          </a:prstGeom>
          <a:noFill/>
          <a:ln/>
        </p:spPr>
        <p:txBody>
          <a:bodyPr wrap="none" lIns="0" tIns="0" rIns="0" bIns="0" rtlCol="0" anchor="t"/>
          <a:lstStyle/>
          <a:p>
            <a:pPr algn="l" indent="0" marL="0">
              <a:lnSpc>
                <a:spcPts val="2450"/>
              </a:lnSpc>
              <a:buNone/>
            </a:pPr>
            <a:r>
              <a:rPr lang="en-US" sz="1950" b="1" dirty="0">
                <a:solidFill>
                  <a:srgbClr val="2E3C4E"/>
                </a:solidFill>
                <a:latin typeface="Barlow Bold" pitchFamily="34" charset="0"/>
                <a:ea typeface="Barlow Bold" pitchFamily="34" charset="-122"/>
                <a:cs typeface="Barlow Bold" pitchFamily="34" charset="-120"/>
              </a:rPr>
              <a:t>Từ xin vật tư bằng miệng/giấy → E-Form điện tử với luồng duyệt tự động</a:t>
            </a:r>
            <a:endParaRPr lang="en-US" sz="1950" dirty="0"/>
          </a:p>
        </p:txBody>
      </p:sp>
      <p:sp>
        <p:nvSpPr>
          <p:cNvPr id="4" name="Text 2"/>
          <p:cNvSpPr/>
          <p:nvPr/>
        </p:nvSpPr>
        <p:spPr>
          <a:xfrm>
            <a:off x="758309" y="2246828"/>
            <a:ext cx="3102293" cy="311706"/>
          </a:xfrm>
          <a:prstGeom prst="rect">
            <a:avLst/>
          </a:prstGeom>
          <a:noFill/>
          <a:ln/>
        </p:spPr>
        <p:txBody>
          <a:bodyPr wrap="none" lIns="0" tIns="0" rIns="0" bIns="0" rtlCol="0" anchor="t"/>
          <a:lstStyle/>
          <a:p>
            <a:pPr algn="l" indent="0" marL="0">
              <a:lnSpc>
                <a:spcPts val="2450"/>
              </a:lnSpc>
              <a:buNone/>
            </a:pPr>
            <a:r>
              <a:rPr lang="en-US" sz="1950" b="1" dirty="0">
                <a:solidFill>
                  <a:srgbClr val="2E3C4E"/>
                </a:solidFill>
                <a:latin typeface="Barlow Bold" pitchFamily="34" charset="0"/>
                <a:ea typeface="Barlow Bold" pitchFamily="34" charset="-122"/>
                <a:cs typeface="Barlow Bold" pitchFamily="34" charset="-120"/>
              </a:rPr>
              <a:t>Điều hành Xưởng với Kanban</a:t>
            </a:r>
            <a:endParaRPr lang="en-US" sz="1950" dirty="0"/>
          </a:p>
        </p:txBody>
      </p:sp>
      <p:sp>
        <p:nvSpPr>
          <p:cNvPr id="5" name="Text 3"/>
          <p:cNvSpPr/>
          <p:nvPr/>
        </p:nvSpPr>
        <p:spPr>
          <a:xfrm>
            <a:off x="758309" y="2748082"/>
            <a:ext cx="6325672" cy="1516261"/>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Phòng Kế hoạch phân bổ công việc cho </a:t>
            </a:r>
            <a:pPr algn="l" indent="0" marL="0">
              <a:lnSpc>
                <a:spcPts val="2350"/>
              </a:lnSpc>
              <a:buNone/>
            </a:pPr>
            <a:r>
              <a:rPr lang="en-US" sz="1450" b="1" dirty="0">
                <a:solidFill>
                  <a:srgbClr val="384653"/>
                </a:solidFill>
                <a:latin typeface="Montserrat" pitchFamily="34" charset="0"/>
                <a:ea typeface="Montserrat" pitchFamily="34" charset="-122"/>
                <a:cs typeface="Montserrat" pitchFamily="34" charset="-120"/>
              </a:rPr>
              <a:t>9 tổ chuyên môn</a:t>
            </a:r>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 thông qua bảng D sản xuất trực quan. Mỗi tổ trưởng thấy rõ danh sách công việc được giao, deadline và mức độ ưu tiên ngay trên App điện thoại — không cần họp giao ban mỗi sáng để hỏi "hôm nay tôi làm gì".</a:t>
            </a:r>
            <a:endParaRPr lang="en-US" sz="1450" dirty="0"/>
          </a:p>
        </p:txBody>
      </p:sp>
      <p:sp>
        <p:nvSpPr>
          <p:cNvPr id="6" name="Text 4"/>
          <p:cNvSpPr/>
          <p:nvPr/>
        </p:nvSpPr>
        <p:spPr>
          <a:xfrm>
            <a:off x="758309" y="4453890"/>
            <a:ext cx="3195518" cy="311706"/>
          </a:xfrm>
          <a:prstGeom prst="rect">
            <a:avLst/>
          </a:prstGeom>
          <a:noFill/>
          <a:ln/>
        </p:spPr>
        <p:txBody>
          <a:bodyPr wrap="none" lIns="0" tIns="0" rIns="0" bIns="0" rtlCol="0" anchor="t"/>
          <a:lstStyle/>
          <a:p>
            <a:pPr algn="l" indent="0" marL="0">
              <a:lnSpc>
                <a:spcPts val="2450"/>
              </a:lnSpc>
              <a:buNone/>
            </a:pPr>
            <a:r>
              <a:rPr lang="en-US" sz="1950" b="1" dirty="0">
                <a:solidFill>
                  <a:srgbClr val="2E3C4E"/>
                </a:solidFill>
                <a:latin typeface="Barlow Bold" pitchFamily="34" charset="0"/>
                <a:ea typeface="Barlow Bold" pitchFamily="34" charset="-122"/>
                <a:cs typeface="Barlow Bold" pitchFamily="34" charset="-120"/>
              </a:rPr>
              <a:t>Bằng chứng số (Digital Proof)</a:t>
            </a:r>
            <a:endParaRPr lang="en-US" sz="1950" dirty="0"/>
          </a:p>
        </p:txBody>
      </p:sp>
      <p:sp>
        <p:nvSpPr>
          <p:cNvPr id="7" name="Text 5"/>
          <p:cNvSpPr/>
          <p:nvPr/>
        </p:nvSpPr>
        <p:spPr>
          <a:xfrm>
            <a:off x="758309" y="4955143"/>
            <a:ext cx="6325672" cy="909757"/>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Tổ trưởng bắt buộc upload hình ảnh thi công/chế tạo trực tiếp vào trang Chat nội bộ của dự án để làm bằng chứng nghiệm thu — không thể báo "xong" mà không có ảnh đính kèm.</a:t>
            </a:r>
            <a:endParaRPr lang="en-US" sz="1450" dirty="0"/>
          </a:p>
        </p:txBody>
      </p:sp>
      <p:sp>
        <p:nvSpPr>
          <p:cNvPr id="8" name="Shape 6"/>
          <p:cNvSpPr/>
          <p:nvPr/>
        </p:nvSpPr>
        <p:spPr>
          <a:xfrm>
            <a:off x="7417594" y="2057281"/>
            <a:ext cx="6598563" cy="5410200"/>
          </a:xfrm>
          <a:prstGeom prst="roundRect">
            <a:avLst>
              <a:gd name="adj" fmla="val 8410"/>
            </a:avLst>
          </a:prstGeom>
          <a:solidFill>
            <a:srgbClr val="D75BE2"/>
          </a:solidFill>
          <a:ln/>
        </p:spPr>
      </p:sp>
      <p:sp>
        <p:nvSpPr>
          <p:cNvPr id="9" name="Text 7"/>
          <p:cNvSpPr/>
          <p:nvPr/>
        </p:nvSpPr>
        <p:spPr>
          <a:xfrm>
            <a:off x="7607141" y="2246828"/>
            <a:ext cx="3051453" cy="311706"/>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Barlow Bold" pitchFamily="34" charset="0"/>
                <a:ea typeface="Barlow Bold" pitchFamily="34" charset="-122"/>
                <a:cs typeface="Barlow Bold" pitchFamily="34" charset="-120"/>
              </a:rPr>
              <a:t>E-Form Xin Vật tư (MR Flow)</a:t>
            </a:r>
            <a:endParaRPr lang="en-US" sz="1950" dirty="0"/>
          </a:p>
        </p:txBody>
      </p:sp>
      <p:sp>
        <p:nvSpPr>
          <p:cNvPr id="10" name="Text 8"/>
          <p:cNvSpPr/>
          <p:nvPr/>
        </p:nvSpPr>
        <p:spPr>
          <a:xfrm>
            <a:off x="7607141" y="2748082"/>
            <a:ext cx="6219468" cy="60650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Quy trình xin vật tư được số hóa hoàn toàn, thay thế giấy tờ và chữ ký tay:</a:t>
            </a:r>
            <a:endParaRPr lang="en-US" sz="1450" dirty="0"/>
          </a:p>
        </p:txBody>
      </p:sp>
      <p:sp>
        <p:nvSpPr>
          <p:cNvPr id="11" name="Text 9"/>
          <p:cNvSpPr/>
          <p:nvPr/>
        </p:nvSpPr>
        <p:spPr>
          <a:xfrm>
            <a:off x="7607141" y="3525203"/>
            <a:ext cx="6219468" cy="2994541"/>
          </a:xfrm>
          <a:prstGeom prst="rect">
            <a:avLst/>
          </a:prstGeom>
          <a:noFill/>
          <a:ln/>
        </p:spPr>
        <p:txBody>
          <a:bodyPr wrap="square" lIns="0" tIns="0" rIns="0" bIns="0" rtlCol="0" anchor="t"/>
          <a:lstStyle/>
          <a:p>
            <a:pPr algn="l" marL="342900" indent="-342900">
              <a:lnSpc>
                <a:spcPts val="2350"/>
              </a:lnSpc>
              <a:buSzPct val="100000"/>
              <a:buFont typeface="+mj-lt"/>
              <a:buAutoNum type="arabicPeriod" startAt="1"/>
            </a:pPr>
            <a:r>
              <a:rPr lang="en-US" sz="1450" b="1" dirty="0">
                <a:solidFill>
                  <a:srgbClr val="000000"/>
                </a:solidFill>
                <a:latin typeface="Montserrat" pitchFamily="34" charset="0"/>
                <a:ea typeface="Montserrat" pitchFamily="34" charset="-122"/>
                <a:cs typeface="Montserrat" pitchFamily="34" charset="-120"/>
              </a:rPr>
              <a:t>Tổ trưởng</a:t>
            </a:r>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 tạo yêu cầu một chạm trên App (loại vật tư, số lượng, lý do).</a:t>
            </a:r>
            <a:endParaRPr lang="en-US" sz="1450" dirty="0"/>
          </a:p>
          <a:p>
            <a:pPr algn="l" marL="342900" indent="-342900">
              <a:lnSpc>
                <a:spcPts val="2350"/>
              </a:lnSpc>
              <a:buSzPct val="100000"/>
              <a:buFont typeface="+mj-lt"/>
              <a:buAutoNum type="arabicPeriod" startAt="2"/>
            </a:pPr>
            <a:r>
              <a:rPr lang="en-US" sz="1450" b="1" dirty="0">
                <a:solidFill>
                  <a:srgbClr val="000000"/>
                </a:solidFill>
                <a:latin typeface="Montserrat" pitchFamily="34" charset="0"/>
                <a:ea typeface="Montserrat" pitchFamily="34" charset="-122"/>
                <a:cs typeface="Montserrat" pitchFamily="34" charset="-120"/>
              </a:rPr>
              <a:t>Phòng Kỹ thuật</a:t>
            </a:r>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 nhận Notification, duyệt quy cách kỹ thuật.</a:t>
            </a:r>
            <a:endParaRPr lang="en-US" sz="1450" dirty="0"/>
          </a:p>
          <a:p>
            <a:pPr algn="l" marL="342900" indent="-342900">
              <a:lnSpc>
                <a:spcPts val="2350"/>
              </a:lnSpc>
              <a:buSzPct val="100000"/>
              <a:buFont typeface="+mj-lt"/>
              <a:buAutoNum type="arabicPeriod" startAt="3"/>
            </a:pPr>
            <a:r>
              <a:rPr lang="en-US" sz="1450" b="1" dirty="0">
                <a:solidFill>
                  <a:srgbClr val="000000"/>
                </a:solidFill>
                <a:latin typeface="Montserrat" pitchFamily="34" charset="0"/>
                <a:ea typeface="Montserrat" pitchFamily="34" charset="-122"/>
                <a:cs typeface="Montserrat" pitchFamily="34" charset="-120"/>
              </a:rPr>
              <a:t>Ban Giám đốc</a:t>
            </a:r>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 duyệt chi phí mua sắm trực tiếp trên điện thoại.</a:t>
            </a:r>
            <a:endParaRPr lang="en-US" sz="1450" dirty="0"/>
          </a:p>
          <a:p>
            <a:pPr algn="l" marL="342900" indent="-342900">
              <a:lnSpc>
                <a:spcPts val="2350"/>
              </a:lnSpc>
              <a:buSzPct val="100000"/>
              <a:buFont typeface="+mj-lt"/>
              <a:buAutoNum type="arabicPeriod" startAt="4"/>
            </a:pPr>
            <a:r>
              <a:rPr lang="en-US" sz="1450" b="1" dirty="0">
                <a:solidFill>
                  <a:srgbClr val="000000"/>
                </a:solidFill>
                <a:latin typeface="Montserrat" pitchFamily="34" charset="0"/>
                <a:ea typeface="Montserrat" pitchFamily="34" charset="-122"/>
                <a:cs typeface="Montserrat" pitchFamily="34" charset="-120"/>
              </a:rPr>
              <a:t>Phòng Vật tư</a:t>
            </a:r>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 đi khảo giá, nhập liệu nhà cung cấp và cập nhật trạng thái.</a:t>
            </a:r>
            <a:endParaRPr lang="en-US" sz="1450" dirty="0"/>
          </a:p>
          <a:p>
            <a:pPr algn="l" marL="342900" indent="-342900">
              <a:lnSpc>
                <a:spcPts val="2350"/>
              </a:lnSpc>
              <a:buSzPct val="100000"/>
              <a:buFont typeface="+mj-lt"/>
              <a:buAutoNum type="arabicPeriod" startAt="5"/>
            </a:pPr>
            <a:r>
              <a:rPr lang="en-US" sz="1450" b="1" dirty="0">
                <a:solidFill>
                  <a:srgbClr val="000000"/>
                </a:solidFill>
                <a:latin typeface="Montserrat" pitchFamily="34" charset="0"/>
                <a:ea typeface="Montserrat" pitchFamily="34" charset="-122"/>
                <a:cs typeface="Montserrat" pitchFamily="34" charset="-120"/>
              </a:rPr>
              <a:t>Hệ thống Kho</a:t>
            </a:r>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 (Kho 1, 2, 3) tự động cập nhật trạng thái nhập hàng.</a:t>
            </a:r>
            <a:endParaRPr lang="en-US" sz="1450" dirty="0"/>
          </a:p>
        </p:txBody>
      </p:sp>
      <p:sp>
        <p:nvSpPr>
          <p:cNvPr id="12" name="Text 10"/>
          <p:cNvSpPr/>
          <p:nvPr/>
        </p:nvSpPr>
        <p:spPr>
          <a:xfrm>
            <a:off x="7607141" y="6690360"/>
            <a:ext cx="6219468" cy="60650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Lưu vết chính xác: </a:t>
            </a:r>
            <a:pPr algn="l" indent="0" marL="0">
              <a:lnSpc>
                <a:spcPts val="2350"/>
              </a:lnSpc>
              <a:buNone/>
            </a:pPr>
            <a:r>
              <a:rPr lang="en-US" sz="1450" b="1" dirty="0">
                <a:solidFill>
                  <a:srgbClr val="000000"/>
                </a:solidFill>
                <a:latin typeface="Montserrat" pitchFamily="34" charset="0"/>
                <a:ea typeface="Montserrat" pitchFamily="34" charset="-122"/>
                <a:cs typeface="Montserrat" pitchFamily="34" charset="-120"/>
              </a:rPr>
              <a:t>ai duyệt, lúc mấy giờ, trên thiết bị nào</a:t>
            </a:r>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 — không thể chối bỏ trách nhiệm.</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279088"/>
            <a:ext cx="9663232" cy="623530"/>
          </a:xfrm>
          <a:prstGeom prst="rect">
            <a:avLst/>
          </a:prstGeom>
          <a:noFill/>
          <a:ln/>
        </p:spPr>
        <p:txBody>
          <a:bodyPr wrap="none" lIns="0" tIns="0" rIns="0" bIns="0" rtlCol="0" anchor="t"/>
          <a:lstStyle/>
          <a:p>
            <a:pPr algn="l" indent="0" marL="0">
              <a:lnSpc>
                <a:spcPts val="4900"/>
              </a:lnSpc>
              <a:buNone/>
            </a:pPr>
            <a:r>
              <a:rPr lang="en-US" sz="3900" b="1" dirty="0">
                <a:solidFill>
                  <a:srgbClr val="2E3C4E"/>
                </a:solidFill>
                <a:latin typeface="Barlow Bold" pitchFamily="34" charset="0"/>
                <a:ea typeface="Barlow Bold" pitchFamily="34" charset="-122"/>
                <a:cs typeface="Barlow Bold" pitchFamily="34" charset="-120"/>
              </a:rPr>
              <a:t>Module Lắp Đặt Công Trình &amp; Giám Sát Từ Xa</a:t>
            </a:r>
            <a:endParaRPr lang="en-US" sz="3900" dirty="0"/>
          </a:p>
        </p:txBody>
      </p:sp>
      <p:sp>
        <p:nvSpPr>
          <p:cNvPr id="3" name="Text 1"/>
          <p:cNvSpPr/>
          <p:nvPr/>
        </p:nvSpPr>
        <p:spPr>
          <a:xfrm>
            <a:off x="758309" y="1978343"/>
            <a:ext cx="7897416" cy="311706"/>
          </a:xfrm>
          <a:prstGeom prst="rect">
            <a:avLst/>
          </a:prstGeom>
          <a:noFill/>
          <a:ln/>
        </p:spPr>
        <p:txBody>
          <a:bodyPr wrap="none" lIns="0" tIns="0" rIns="0" bIns="0" rtlCol="0" anchor="t"/>
          <a:lstStyle/>
          <a:p>
            <a:pPr algn="l" indent="0" marL="0">
              <a:lnSpc>
                <a:spcPts val="2450"/>
              </a:lnSpc>
              <a:buNone/>
            </a:pPr>
            <a:r>
              <a:rPr lang="en-US" sz="1950" b="1" dirty="0">
                <a:solidFill>
                  <a:srgbClr val="2E3C4E"/>
                </a:solidFill>
                <a:latin typeface="Barlow Bold" pitchFamily="34" charset="0"/>
                <a:ea typeface="Barlow Bold" pitchFamily="34" charset="-122"/>
                <a:cs typeface="Barlow Bold" pitchFamily="34" charset="-120"/>
              </a:rPr>
              <a:t>Từ "mù" thông tin công trường → Kiểm soát toàn diện theo thời gian thực</a:t>
            </a:r>
            <a:endParaRPr lang="en-US" sz="1950" dirty="0"/>
          </a:p>
        </p:txBody>
      </p:sp>
      <p:pic>
        <p:nvPicPr>
          <p:cNvPr id="4" name="Image 0" descr="preencoded.png">    </p:cNvPr>
          <p:cNvPicPr>
            <a:picLocks noChangeAspect="1"/>
          </p:cNvPicPr>
          <p:nvPr/>
        </p:nvPicPr>
        <p:blipFill>
          <a:blip r:embed="rId1"/>
          <a:stretch>
            <a:fillRect/>
          </a:stretch>
        </p:blipFill>
        <p:spPr>
          <a:xfrm>
            <a:off x="758309" y="2574369"/>
            <a:ext cx="926902" cy="926902"/>
          </a:xfrm>
          <a:prstGeom prst="rect">
            <a:avLst/>
          </a:prstGeom>
        </p:spPr>
      </p:pic>
      <p:sp>
        <p:nvSpPr>
          <p:cNvPr id="5" name="Text 2"/>
          <p:cNvSpPr/>
          <p:nvPr/>
        </p:nvSpPr>
        <p:spPr>
          <a:xfrm>
            <a:off x="1922145" y="2574369"/>
            <a:ext cx="2847975" cy="311706"/>
          </a:xfrm>
          <a:prstGeom prst="rect">
            <a:avLst/>
          </a:prstGeom>
          <a:noFill/>
          <a:ln/>
        </p:spPr>
        <p:txBody>
          <a:bodyPr wrap="none" lIns="0" tIns="0" rIns="0" bIns="0" rtlCol="0" anchor="t"/>
          <a:lstStyle/>
          <a:p>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GPS Check-in / Check-out</a:t>
            </a:r>
            <a:endParaRPr lang="en-US" sz="1950" dirty="0"/>
          </a:p>
        </p:txBody>
      </p:sp>
      <p:sp>
        <p:nvSpPr>
          <p:cNvPr id="6" name="Text 3"/>
          <p:cNvSpPr/>
          <p:nvPr/>
        </p:nvSpPr>
        <p:spPr>
          <a:xfrm>
            <a:off x="1922145" y="2999780"/>
            <a:ext cx="3049429" cy="2729270"/>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Thợ bắt buộc Check-in tại tọa độ GPS của công trường khi bắt đầu và kết thúc ca làm việc. Hệ thống ghi nhận chính xác </a:t>
            </a:r>
            <a:pPr algn="l" indent="0" marL="0">
              <a:lnSpc>
                <a:spcPts val="2350"/>
              </a:lnSpc>
              <a:buNone/>
            </a:pPr>
            <a:r>
              <a:rPr lang="en-US" sz="1450" b="1" dirty="0">
                <a:solidFill>
                  <a:srgbClr val="384653"/>
                </a:solidFill>
                <a:latin typeface="Montserrat" pitchFamily="34" charset="0"/>
                <a:ea typeface="Montserrat" pitchFamily="34" charset="-122"/>
                <a:cs typeface="Montserrat" pitchFamily="34" charset="-120"/>
              </a:rPr>
              <a:t>thời gian thực tế có mặt</a:t>
            </a:r>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 tại công trường — loại bỏ tình trạng đi trễ về sớm không ai hay. Dữ liệu được lưu trữ làm căn cứ tính lương và đánh giá kỷ luật.</a:t>
            </a:r>
            <a:endParaRPr lang="en-US" sz="1450" dirty="0"/>
          </a:p>
        </p:txBody>
      </p:sp>
      <p:pic>
        <p:nvPicPr>
          <p:cNvPr id="7" name="Image 1" descr="preencoded.png">    </p:cNvPr>
          <p:cNvPicPr>
            <a:picLocks noChangeAspect="1"/>
          </p:cNvPicPr>
          <p:nvPr/>
        </p:nvPicPr>
        <p:blipFill>
          <a:blip r:embed="rId2"/>
          <a:stretch>
            <a:fillRect/>
          </a:stretch>
        </p:blipFill>
        <p:spPr>
          <a:xfrm>
            <a:off x="5208508" y="2574369"/>
            <a:ext cx="926902" cy="926902"/>
          </a:xfrm>
          <a:prstGeom prst="rect">
            <a:avLst/>
          </a:prstGeom>
        </p:spPr>
      </p:pic>
      <p:sp>
        <p:nvSpPr>
          <p:cNvPr id="8" name="Text 4"/>
          <p:cNvSpPr/>
          <p:nvPr/>
        </p:nvSpPr>
        <p:spPr>
          <a:xfrm>
            <a:off x="6372344" y="2574369"/>
            <a:ext cx="3049429" cy="623411"/>
          </a:xfrm>
          <a:prstGeom prst="rect">
            <a:avLst/>
          </a:prstGeom>
          <a:noFill/>
          <a:ln/>
        </p:spPr>
        <p:txBody>
          <a:bodyPr wrap="square" lIns="0" tIns="0" rIns="0" bIns="0" rtlCol="0" anchor="t"/>
          <a:lstStyle/>
          <a:p>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Daily Proof Report — Bằng chứng ảnh hàng ngày</a:t>
            </a:r>
            <a:endParaRPr lang="en-US" sz="1950" dirty="0"/>
          </a:p>
        </p:txBody>
      </p:sp>
      <p:sp>
        <p:nvSpPr>
          <p:cNvPr id="9" name="Text 5"/>
          <p:cNvSpPr/>
          <p:nvPr/>
        </p:nvSpPr>
        <p:spPr>
          <a:xfrm>
            <a:off x="6372344" y="3311485"/>
            <a:ext cx="3049429" cy="3335774"/>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Cuối mỗi ngày làm việc, thợ bắt buộc chụp ảnh tiến độ thực tế và nộp qua App. Ban Giám đốc có thể xem toàn bộ ảnh nghiệm thu của tất cả công trường tại bất kỳ thời điểm nào — ngay trên điện thoại, dù đang ở văn phòng hay đang đi công tác. Ảnh được gắn timestamp và tọa độ GPS để chống làm giả.</a:t>
            </a:r>
            <a:endParaRPr lang="en-US" sz="1450" dirty="0"/>
          </a:p>
        </p:txBody>
      </p:sp>
      <p:pic>
        <p:nvPicPr>
          <p:cNvPr id="10" name="Image 2" descr="preencoded.png">    </p:cNvPr>
          <p:cNvPicPr>
            <a:picLocks noChangeAspect="1"/>
          </p:cNvPicPr>
          <p:nvPr/>
        </p:nvPicPr>
        <p:blipFill>
          <a:blip r:embed="rId3"/>
          <a:stretch>
            <a:fillRect/>
          </a:stretch>
        </p:blipFill>
        <p:spPr>
          <a:xfrm>
            <a:off x="9658707" y="2574369"/>
            <a:ext cx="926902" cy="926902"/>
          </a:xfrm>
          <a:prstGeom prst="rect">
            <a:avLst/>
          </a:prstGeom>
        </p:spPr>
      </p:pic>
      <p:sp>
        <p:nvSpPr>
          <p:cNvPr id="11" name="Text 6"/>
          <p:cNvSpPr/>
          <p:nvPr/>
        </p:nvSpPr>
        <p:spPr>
          <a:xfrm>
            <a:off x="10822543" y="2574369"/>
            <a:ext cx="3049548" cy="623411"/>
          </a:xfrm>
          <a:prstGeom prst="rect">
            <a:avLst/>
          </a:prstGeom>
          <a:noFill/>
          <a:ln/>
        </p:spPr>
        <p:txBody>
          <a:bodyPr wrap="square" lIns="0" tIns="0" rIns="0" bIns="0" rtlCol="0" anchor="t"/>
          <a:lstStyle/>
          <a:p>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Dependency Lock — Khóa phụ thuộc thứ tự</a:t>
            </a:r>
            <a:endParaRPr lang="en-US" sz="1950" dirty="0"/>
          </a:p>
        </p:txBody>
      </p:sp>
      <p:sp>
        <p:nvSpPr>
          <p:cNvPr id="12" name="Text 7"/>
          <p:cNvSpPr/>
          <p:nvPr/>
        </p:nvSpPr>
        <p:spPr>
          <a:xfrm>
            <a:off x="10822543" y="3311485"/>
            <a:ext cx="3049548" cy="3639026"/>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Đây là tính năng đột phá giải quyết bài toán </a:t>
            </a:r>
            <a:pPr algn="l" indent="0" marL="0">
              <a:lnSpc>
                <a:spcPts val="2350"/>
              </a:lnSpc>
              <a:buNone/>
            </a:pPr>
            <a:r>
              <a:rPr lang="en-US" sz="1450" b="1" dirty="0">
                <a:solidFill>
                  <a:srgbClr val="384653"/>
                </a:solidFill>
                <a:latin typeface="Montserrat" pitchFamily="34" charset="0"/>
                <a:ea typeface="Montserrat" pitchFamily="34" charset="-122"/>
                <a:cs typeface="Montserrat" pitchFamily="34" charset="-120"/>
              </a:rPr>
              <a:t>"Thợ B vác đồ xuống rồi mới biết Thợ A chưa xong"</a:t>
            </a:r>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 App của đội tiếp theo sẽ tự động khóa nút "Bắt đầu" nếu đội tiền đề chưa nộp đủ bằng chứng hoàn thành. Không thể bắt đầu khâu sau khi khâu trước chưa được nghiệm thu — loại bỏ lãng phí đi lại và thời gian chờ đợi vô ích tại công trường.</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855464"/>
            <a:ext cx="4246364" cy="498872"/>
          </a:xfrm>
          <a:prstGeom prst="rect">
            <a:avLst/>
          </a:prstGeom>
          <a:noFill/>
          <a:ln/>
        </p:spPr>
        <p:txBody>
          <a:bodyPr wrap="none" lIns="0" tIns="0" rIns="0" bIns="0" rtlCol="0" anchor="t"/>
          <a:lstStyle/>
          <a:p>
            <a:pPr algn="l" indent="0" marL="0">
              <a:lnSpc>
                <a:spcPts val="3900"/>
              </a:lnSpc>
              <a:buNone/>
            </a:pPr>
            <a:r>
              <a:rPr lang="en-US" sz="3100" b="1" dirty="0">
                <a:solidFill>
                  <a:srgbClr val="2E3C4E"/>
                </a:solidFill>
                <a:latin typeface="Barlow Bold" pitchFamily="34" charset="0"/>
                <a:ea typeface="Barlow Bold" pitchFamily="34" charset="-122"/>
                <a:cs typeface="Barlow Bold" pitchFamily="34" charset="-120"/>
              </a:rPr>
              <a:t>Đột Phá Công Nghệ 1 &amp; 2</a:t>
            </a:r>
            <a:endParaRPr lang="en-US" sz="3100" dirty="0"/>
          </a:p>
        </p:txBody>
      </p:sp>
      <p:sp>
        <p:nvSpPr>
          <p:cNvPr id="3" name="Text 1"/>
          <p:cNvSpPr/>
          <p:nvPr/>
        </p:nvSpPr>
        <p:spPr>
          <a:xfrm>
            <a:off x="758309" y="1402794"/>
            <a:ext cx="6789658" cy="249436"/>
          </a:xfrm>
          <a:prstGeom prst="rect">
            <a:avLst/>
          </a:prstGeom>
          <a:noFill/>
          <a:ln/>
        </p:spPr>
        <p:txBody>
          <a:bodyPr wrap="none" lIns="0" tIns="0" rIns="0" bIns="0" rtlCol="0" anchor="t"/>
          <a:lstStyle/>
          <a:p>
            <a:pPr algn="l" indent="0" marL="0">
              <a:lnSpc>
                <a:spcPts val="1950"/>
              </a:lnSpc>
              <a:buNone/>
            </a:pPr>
            <a:r>
              <a:rPr lang="en-US" sz="1550" b="1" dirty="0">
                <a:solidFill>
                  <a:srgbClr val="2E3C4E"/>
                </a:solidFill>
                <a:latin typeface="Barlow Bold" pitchFamily="34" charset="0"/>
                <a:ea typeface="Barlow Bold" pitchFamily="34" charset="-122"/>
                <a:cs typeface="Barlow Bold" pitchFamily="34" charset="-120"/>
              </a:rPr>
              <a:t>Quản trị "Tiến độ Thực" với Trọng số &amp; Tự động hóa Timeline Gantt với Cascade</a:t>
            </a:r>
            <a:endParaRPr lang="en-US" sz="1550" dirty="0"/>
          </a:p>
        </p:txBody>
      </p:sp>
      <p:sp>
        <p:nvSpPr>
          <p:cNvPr id="4" name="Shape 2"/>
          <p:cNvSpPr/>
          <p:nvPr/>
        </p:nvSpPr>
        <p:spPr>
          <a:xfrm>
            <a:off x="649010" y="1834158"/>
            <a:ext cx="6590467" cy="5539978"/>
          </a:xfrm>
          <a:prstGeom prst="roundRect">
            <a:avLst>
              <a:gd name="adj" fmla="val 6570"/>
            </a:avLst>
          </a:prstGeom>
          <a:solidFill>
            <a:srgbClr val="D75BE2"/>
          </a:solidFill>
          <a:ln/>
        </p:spPr>
      </p:sp>
      <p:sp>
        <p:nvSpPr>
          <p:cNvPr id="5" name="Text 3"/>
          <p:cNvSpPr/>
          <p:nvPr/>
        </p:nvSpPr>
        <p:spPr>
          <a:xfrm>
            <a:off x="800576" y="1955483"/>
            <a:ext cx="4060865" cy="257056"/>
          </a:xfrm>
          <a:prstGeom prst="rect">
            <a:avLst/>
          </a:prstGeom>
          <a:noFill/>
          <a:ln/>
        </p:spPr>
        <p:txBody>
          <a:bodyPr wrap="none" lIns="0" tIns="0" rIns="0" bIns="0" rtlCol="0" anchor="t"/>
          <a:lstStyle/>
          <a:p>
            <a:pPr algn="l" indent="0" marL="0">
              <a:lnSpc>
                <a:spcPts val="1950"/>
              </a:lnSpc>
              <a:buNone/>
            </a:pPr>
            <a:r>
              <a:rPr lang="en-US" sz="1550" b="1" dirty="0">
                <a:solidFill>
                  <a:srgbClr val="000000"/>
                </a:solidFill>
                <a:latin typeface="Barlow Bold" pitchFamily="34" charset="0"/>
                <a:ea typeface="Barlow Bold" pitchFamily="34" charset="-122"/>
                <a:cs typeface="Barlow Bold" pitchFamily="34" charset="-120"/>
              </a:rPr>
              <a:t>⚖️</a:t>
            </a:r>
            <a:pPr algn="l" indent="0" marL="0">
              <a:lnSpc>
                <a:spcPts val="1950"/>
              </a:lnSpc>
              <a:buNone/>
            </a:pPr>
            <a:r>
              <a:rPr lang="en-US" sz="1550" b="1" dirty="0">
                <a:solidFill>
                  <a:srgbClr val="000000"/>
                </a:solidFill>
                <a:latin typeface="Barlow Bold" pitchFamily="34" charset="0"/>
                <a:ea typeface="Barlow Bold" pitchFamily="34" charset="-122"/>
                <a:cs typeface="Barlow Bold" pitchFamily="34" charset="-120"/>
              </a:rPr>
              <a:t> Weighted Progress — Tiến độ theo Trọng số</a:t>
            </a:r>
            <a:endParaRPr lang="en-US" sz="1550" dirty="0"/>
          </a:p>
        </p:txBody>
      </p:sp>
      <p:sp>
        <p:nvSpPr>
          <p:cNvPr id="6" name="Text 4"/>
          <p:cNvSpPr/>
          <p:nvPr/>
        </p:nvSpPr>
        <p:spPr>
          <a:xfrm>
            <a:off x="800576" y="2333863"/>
            <a:ext cx="6287333" cy="436721"/>
          </a:xfrm>
          <a:prstGeom prst="rect">
            <a:avLst/>
          </a:prstGeom>
          <a:noFill/>
          <a:ln/>
        </p:spPr>
        <p:txBody>
          <a:bodyPr wrap="square" lIns="0" tIns="0" rIns="0" bIns="0" rtlCol="0" anchor="t"/>
          <a:lstStyle/>
          <a:p>
            <a:pPr algn="l" indent="0" marL="0">
              <a:lnSpc>
                <a:spcPts val="1700"/>
              </a:lnSpc>
              <a:buNone/>
            </a:pPr>
            <a:r>
              <a:rPr lang="en-US" sz="1150" b="1" dirty="0">
                <a:solidFill>
                  <a:srgbClr val="000000"/>
                </a:solidFill>
                <a:latin typeface="Montserrat" pitchFamily="34" charset="0"/>
                <a:ea typeface="Montserrat" pitchFamily="34" charset="-122"/>
                <a:cs typeface="Montserrat" pitchFamily="34" charset="-120"/>
              </a:rPr>
              <a:t>Nỗi đau:</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Báo cáo 80% nhưng chủ yếu là việc nhỏ, phần giá trị chính chưa hoàn thành.</a:t>
            </a:r>
            <a:endParaRPr lang="en-US" sz="1150" dirty="0"/>
          </a:p>
        </p:txBody>
      </p:sp>
      <p:sp>
        <p:nvSpPr>
          <p:cNvPr id="7" name="Text 5"/>
          <p:cNvSpPr/>
          <p:nvPr/>
        </p:nvSpPr>
        <p:spPr>
          <a:xfrm>
            <a:off x="800576" y="2879765"/>
            <a:ext cx="6287333" cy="655082"/>
          </a:xfrm>
          <a:prstGeom prst="rect">
            <a:avLst/>
          </a:prstGeom>
          <a:noFill/>
          <a:ln/>
        </p:spPr>
        <p:txBody>
          <a:bodyPr wrap="squar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Hệ thống hiện phân rã theo </a:t>
            </a:r>
            <a:pPr algn="l" indent="0" marL="0">
              <a:lnSpc>
                <a:spcPts val="1700"/>
              </a:lnSpc>
              <a:buNone/>
            </a:pPr>
            <a:r>
              <a:rPr lang="en-US" sz="1150" b="1" dirty="0">
                <a:solidFill>
                  <a:srgbClr val="000000"/>
                </a:solidFill>
                <a:latin typeface="Montserrat" pitchFamily="34" charset="0"/>
                <a:ea typeface="Montserrat" pitchFamily="34" charset="-122"/>
                <a:cs typeface="Montserrat" pitchFamily="34" charset="-120"/>
              </a:rPr>
              <a:t>2 cấp</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a:t>
            </a:r>
            <a:pPr algn="l" indent="0" marL="0">
              <a:lnSpc>
                <a:spcPts val="1700"/>
              </a:lnSpc>
              <a:buNone/>
            </a:pPr>
            <a:r>
              <a:rPr lang="en-US" sz="1150" b="1" dirty="0">
                <a:solidFill>
                  <a:srgbClr val="000000"/>
                </a:solidFill>
                <a:latin typeface="Montserrat" pitchFamily="34" charset="0"/>
                <a:ea typeface="Montserrat" pitchFamily="34" charset="-122"/>
                <a:cs typeface="Montserrat" pitchFamily="34" charset="-120"/>
              </a:rPr>
              <a:t>Task Cha → Task Con</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a:t>
            </a:r>
            <a:endParaRPr lang="en-US" sz="1150" dirty="0"/>
          </a:p>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Mỗi Task Con có </a:t>
            </a:r>
            <a:pPr algn="l" indent="0" marL="0">
              <a:lnSpc>
                <a:spcPts val="1700"/>
              </a:lnSpc>
              <a:buNone/>
            </a:pPr>
            <a:r>
              <a:rPr lang="en-US" sz="1150" dirty="0">
                <a:solidFill>
                  <a:srgbClr val="000000"/>
                </a:solidFill>
                <a:highlight>
                  <a:srgbClr val="CA4ED5"/>
                </a:highlight>
                <a:latin typeface="Consolas" pitchFamily="34" charset="0"/>
                <a:ea typeface="Consolas" pitchFamily="34" charset="-122"/>
                <a:cs typeface="Consolas" pitchFamily="34" charset="-120"/>
              </a:rPr>
              <a:t>progress_weight</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 đóng góp vào Task Cha).</a:t>
            </a:r>
            <a:endParaRPr lang="en-US" sz="1150" dirty="0"/>
          </a:p>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Tiến độ Task Cha được tính theo nguyên tắc </a:t>
            </a:r>
            <a:pPr algn="l" indent="0" marL="0">
              <a:lnSpc>
                <a:spcPts val="1700"/>
              </a:lnSpc>
              <a:buNone/>
            </a:pPr>
            <a:r>
              <a:rPr lang="en-US" sz="1150" b="1" dirty="0">
                <a:solidFill>
                  <a:srgbClr val="000000"/>
                </a:solidFill>
                <a:latin typeface="Montserrat" pitchFamily="34" charset="0"/>
                <a:ea typeface="Montserrat" pitchFamily="34" charset="-122"/>
                <a:cs typeface="Montserrat" pitchFamily="34" charset="-120"/>
              </a:rPr>
              <a:t>weighted roll-up</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a:t>
            </a:r>
            <a:endParaRPr lang="en-US" sz="1150" dirty="0"/>
          </a:p>
        </p:txBody>
      </p:sp>
      <p:sp>
        <p:nvSpPr>
          <p:cNvPr id="8" name="Text 6"/>
          <p:cNvSpPr/>
          <p:nvPr/>
        </p:nvSpPr>
        <p:spPr>
          <a:xfrm>
            <a:off x="800576" y="3644027"/>
            <a:ext cx="6287333" cy="436721"/>
          </a:xfrm>
          <a:prstGeom prst="rect">
            <a:avLst/>
          </a:prstGeom>
          <a:noFill/>
          <a:ln/>
        </p:spPr>
        <p:txBody>
          <a:bodyPr wrap="squar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Tiến độ Task Cha = Σ(Tiến độ Task Con i × Trọng số i) + (Tiến độ báo cáo trực tiếp của Task Cha × W_report)</a:t>
            </a:r>
            <a:endParaRPr lang="en-US" sz="1150" dirty="0"/>
          </a:p>
        </p:txBody>
      </p:sp>
      <p:sp>
        <p:nvSpPr>
          <p:cNvPr id="9" name="Text 7"/>
          <p:cNvSpPr/>
          <p:nvPr/>
        </p:nvSpPr>
        <p:spPr>
          <a:xfrm>
            <a:off x="800576" y="4189928"/>
            <a:ext cx="6287333" cy="218361"/>
          </a:xfrm>
          <a:prstGeom prst="rect">
            <a:avLst/>
          </a:prstGeom>
          <a:noFill/>
          <a:ln/>
        </p:spPr>
        <p:txBody>
          <a:bodyPr wrap="non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Trong đó:</a:t>
            </a:r>
            <a:endParaRPr lang="en-US" sz="1150" dirty="0"/>
          </a:p>
        </p:txBody>
      </p:sp>
      <p:sp>
        <p:nvSpPr>
          <p:cNvPr id="10" name="Text 8"/>
          <p:cNvSpPr/>
          <p:nvPr/>
        </p:nvSpPr>
        <p:spPr>
          <a:xfrm>
            <a:off x="800576" y="4517469"/>
            <a:ext cx="6287333" cy="218361"/>
          </a:xfrm>
          <a:prstGeom prst="rect">
            <a:avLst/>
          </a:prstGeom>
          <a:noFill/>
          <a:ln/>
        </p:spPr>
        <p:txBody>
          <a:bodyPr wrap="non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W_report = 100% − Σ(Trọng số i)</a:t>
            </a:r>
            <a:endParaRPr lang="en-US" sz="1150" dirty="0"/>
          </a:p>
        </p:txBody>
      </p:sp>
      <p:sp>
        <p:nvSpPr>
          <p:cNvPr id="11" name="Text 9"/>
          <p:cNvSpPr/>
          <p:nvPr/>
        </p:nvSpPr>
        <p:spPr>
          <a:xfrm>
            <a:off x="800576" y="4845010"/>
            <a:ext cx="6287333" cy="1437323"/>
          </a:xfrm>
          <a:prstGeom prst="rect">
            <a:avLst/>
          </a:prstGeom>
          <a:noFill/>
          <a:ln/>
        </p:spPr>
        <p:txBody>
          <a:bodyPr wrap="square" lIns="0" tIns="0" rIns="0" bIns="0" rtlCol="0" anchor="t"/>
          <a:lstStyle/>
          <a:p>
            <a:pPr algn="l" marL="342900" indent="-342900">
              <a:lnSpc>
                <a:spcPts val="1700"/>
              </a:lnSpc>
              <a:buSzPct val="100000"/>
              <a:buChar char="•"/>
            </a:pPr>
            <a:r>
              <a:rPr lang="en-US" sz="1150" dirty="0">
                <a:solidFill>
                  <a:srgbClr val="000000"/>
                </a:solidFill>
                <a:highlight>
                  <a:srgbClr val="CA4ED5"/>
                </a:highlight>
                <a:latin typeface="Consolas" pitchFamily="34" charset="0"/>
                <a:ea typeface="Consolas" pitchFamily="34" charset="-122"/>
                <a:cs typeface="Consolas" pitchFamily="34" charset="-120"/>
              </a:rPr>
              <a:t>Tiến_độ_TaskCon_i</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tổng % báo cáo trực tiếp của từng Task Con (giới hạn tối đa 100%).</a:t>
            </a:r>
            <a:endParaRPr lang="en-US" sz="1150" dirty="0"/>
          </a:p>
          <a:p>
            <a:pPr algn="l" marL="342900" indent="-342900">
              <a:lnSpc>
                <a:spcPts val="1700"/>
              </a:lnSpc>
              <a:buSzPct val="100000"/>
              <a:buChar char="•"/>
            </a:pPr>
            <a:r>
              <a:rPr lang="en-US" sz="1150" dirty="0">
                <a:solidFill>
                  <a:srgbClr val="000000"/>
                </a:solidFill>
                <a:highlight>
                  <a:srgbClr val="CA4ED5"/>
                </a:highlight>
                <a:latin typeface="Consolas" pitchFamily="34" charset="0"/>
                <a:ea typeface="Consolas" pitchFamily="34" charset="-122"/>
                <a:cs typeface="Consolas" pitchFamily="34" charset="-120"/>
              </a:rPr>
              <a:t>Trọng_số_i</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a:t>
            </a:r>
            <a:pPr algn="l" indent="0" marL="0">
              <a:lnSpc>
                <a:spcPts val="1700"/>
              </a:lnSpc>
              <a:buNone/>
            </a:pPr>
            <a:r>
              <a:rPr lang="en-US" sz="1150" dirty="0">
                <a:solidFill>
                  <a:srgbClr val="000000"/>
                </a:solidFill>
                <a:highlight>
                  <a:srgbClr val="CA4ED5"/>
                </a:highlight>
                <a:latin typeface="Consolas" pitchFamily="34" charset="0"/>
                <a:ea typeface="Consolas" pitchFamily="34" charset="-122"/>
                <a:cs typeface="Consolas" pitchFamily="34" charset="-120"/>
              </a:rPr>
              <a:t>progress_weight</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của Task Con i.</a:t>
            </a:r>
            <a:endParaRPr lang="en-US" sz="1150" dirty="0"/>
          </a:p>
          <a:p>
            <a:pPr algn="l" marL="342900" indent="-342900">
              <a:lnSpc>
                <a:spcPts val="1700"/>
              </a:lnSpc>
              <a:buSzPct val="100000"/>
              <a:buChar char="•"/>
            </a:pPr>
            <a:r>
              <a:rPr lang="en-US" sz="1150" dirty="0">
                <a:solidFill>
                  <a:srgbClr val="000000"/>
                </a:solidFill>
                <a:highlight>
                  <a:srgbClr val="CA4ED5"/>
                </a:highlight>
                <a:latin typeface="Consolas" pitchFamily="34" charset="0"/>
                <a:ea typeface="Consolas" pitchFamily="34" charset="-122"/>
                <a:cs typeface="Consolas" pitchFamily="34" charset="-120"/>
              </a:rPr>
              <a:t>Tiến_độ_báo_cáo_trực_tiếp_của_TaskCha</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 báo cáo nhập trực tiếp trên Task Cha.</a:t>
            </a:r>
            <a:endParaRPr lang="en-US" sz="1150" dirty="0"/>
          </a:p>
          <a:p>
            <a:pPr algn="l" marL="342900" indent="-342900">
              <a:lnSpc>
                <a:spcPts val="1700"/>
              </a:lnSpc>
              <a:buSzPct val="100000"/>
              <a:buChar char="•"/>
            </a:pPr>
            <a:r>
              <a:rPr lang="en-US" sz="1150" dirty="0">
                <a:solidFill>
                  <a:srgbClr val="000000"/>
                </a:solidFill>
                <a:latin typeface="Montserrat" pitchFamily="34" charset="0"/>
                <a:ea typeface="Montserrat" pitchFamily="34" charset="-122"/>
                <a:cs typeface="Montserrat" pitchFamily="34" charset="-120"/>
              </a:rPr>
              <a:t>Nếu không có Task Con, tiến độ task = tổng % báo cáo trực tiếp của chính task đó (tối đa 100%).</a:t>
            </a:r>
            <a:endParaRPr lang="en-US" sz="1150" dirty="0"/>
          </a:p>
        </p:txBody>
      </p:sp>
      <p:sp>
        <p:nvSpPr>
          <p:cNvPr id="12" name="Text 10"/>
          <p:cNvSpPr/>
          <p:nvPr/>
        </p:nvSpPr>
        <p:spPr>
          <a:xfrm>
            <a:off x="800576" y="6391513"/>
            <a:ext cx="6287333" cy="873443"/>
          </a:xfrm>
          <a:prstGeom prst="rect">
            <a:avLst/>
          </a:prstGeom>
          <a:noFill/>
          <a:ln/>
        </p:spPr>
        <p:txBody>
          <a:bodyPr wrap="squar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Khi thợ cập nhật progress ở Task Con, tiến độ Task Cha được cộng dồn và phản ánh ngay.</a:t>
            </a:r>
            <a:endParaRPr lang="en-US" sz="1150" dirty="0"/>
          </a:p>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Vì vậy số % quản lý nhìn thấy bám sát </a:t>
            </a:r>
            <a:pPr algn="l" indent="0" marL="0">
              <a:lnSpc>
                <a:spcPts val="1700"/>
              </a:lnSpc>
              <a:buNone/>
            </a:pPr>
            <a:r>
              <a:rPr lang="en-US" sz="1150" b="1" dirty="0">
                <a:solidFill>
                  <a:srgbClr val="000000"/>
                </a:solidFill>
                <a:latin typeface="Montserrat" pitchFamily="34" charset="0"/>
                <a:ea typeface="Montserrat" pitchFamily="34" charset="-122"/>
                <a:cs typeface="Montserrat" pitchFamily="34" charset="-120"/>
              </a:rPr>
              <a:t>giá trị thực tế</a:t>
            </a:r>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 theo trọng số, giảm báo cáo cảm tính.</a:t>
            </a:r>
            <a:endParaRPr lang="en-US" sz="1150" dirty="0"/>
          </a:p>
        </p:txBody>
      </p:sp>
      <p:sp>
        <p:nvSpPr>
          <p:cNvPr id="13" name="Text 11"/>
          <p:cNvSpPr/>
          <p:nvPr/>
        </p:nvSpPr>
        <p:spPr>
          <a:xfrm>
            <a:off x="7507843" y="1955483"/>
            <a:ext cx="3730109" cy="257056"/>
          </a:xfrm>
          <a:prstGeom prst="rect">
            <a:avLst/>
          </a:prstGeom>
          <a:noFill/>
          <a:ln/>
        </p:spPr>
        <p:txBody>
          <a:bodyPr wrap="none" lIns="0" tIns="0" rIns="0" bIns="0" rtlCol="0" anchor="t"/>
          <a:lstStyle/>
          <a:p>
            <a:pPr algn="l" indent="0" marL="0">
              <a:lnSpc>
                <a:spcPts val="1950"/>
              </a:lnSpc>
              <a:buNone/>
            </a:pPr>
            <a:r>
              <a:rPr lang="en-US" sz="1550" b="1" dirty="0">
                <a:solidFill>
                  <a:srgbClr val="000000"/>
                </a:solidFill>
                <a:latin typeface="Barlow Bold" pitchFamily="34" charset="0"/>
                <a:ea typeface="Barlow Bold" pitchFamily="34" charset="-122"/>
                <a:cs typeface="Barlow Bold" pitchFamily="34" charset="-120"/>
              </a:rPr>
              <a:t>📊</a:t>
            </a:r>
            <a:pPr algn="l" indent="0" marL="0">
              <a:lnSpc>
                <a:spcPts val="1950"/>
              </a:lnSpc>
              <a:buNone/>
            </a:pPr>
            <a:r>
              <a:rPr lang="en-US" sz="1550" b="1" dirty="0">
                <a:solidFill>
                  <a:srgbClr val="2E3C4E"/>
                </a:solidFill>
                <a:latin typeface="Barlow Bold" pitchFamily="34" charset="0"/>
                <a:ea typeface="Barlow Bold" pitchFamily="34" charset="-122"/>
                <a:cs typeface="Barlow Bold" pitchFamily="34" charset="-120"/>
              </a:rPr>
              <a:t> Gantt Chart &amp; Cascade Logic — Thác đổ</a:t>
            </a:r>
            <a:endParaRPr lang="en-US" sz="1550" dirty="0"/>
          </a:p>
        </p:txBody>
      </p:sp>
      <p:sp>
        <p:nvSpPr>
          <p:cNvPr id="14" name="Text 12"/>
          <p:cNvSpPr/>
          <p:nvPr/>
        </p:nvSpPr>
        <p:spPr>
          <a:xfrm>
            <a:off x="7507843" y="2333863"/>
            <a:ext cx="6371868" cy="436721"/>
          </a:xfrm>
          <a:prstGeom prst="rect">
            <a:avLst/>
          </a:prstGeom>
          <a:noFill/>
          <a:ln/>
        </p:spPr>
        <p:txBody>
          <a:bodyPr wrap="square" lIns="0" tIns="0" rIns="0" bIns="0" rtlCol="0" anchor="t"/>
          <a:lstStyle/>
          <a:p>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Nỗi đau:</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Khi một khâu trễ hạn, Phòng Kế hoạch phải gọi điện cho hàng chục người phía sau để thông báo dời lịch.</a:t>
            </a:r>
            <a:endParaRPr lang="en-US" sz="1150" dirty="0"/>
          </a:p>
        </p:txBody>
      </p:sp>
      <p:sp>
        <p:nvSpPr>
          <p:cNvPr id="15" name="Text 13"/>
          <p:cNvSpPr/>
          <p:nvPr/>
        </p:nvSpPr>
        <p:spPr>
          <a:xfrm>
            <a:off x="7507843" y="2879765"/>
            <a:ext cx="6371868" cy="655082"/>
          </a:xfrm>
          <a:prstGeom prst="rect">
            <a:avLst/>
          </a:prstGeom>
          <a:noFill/>
          <a:ln/>
        </p:spPr>
        <p:txBody>
          <a:bodyPr wrap="square" lIns="0" tIns="0" rIns="0" bIns="0" rtlCol="0" anchor="t"/>
          <a:lstStyle/>
          <a:p>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Hệ thống trực quan hóa toàn bộ dự án trên một </a:t>
            </a:r>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trục thời gian Gantt</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thể hiện rõ các task chồng lấn và mối quan hệ phụ thuộc Finish-to-Start (FS). Khi một công việc "Đường găng" (ví dụ: Lắp nền móng) bị trễ 3 ngày:</a:t>
            </a:r>
            <a:endParaRPr lang="en-US" sz="1150" dirty="0"/>
          </a:p>
        </p:txBody>
      </p:sp>
      <p:sp>
        <p:nvSpPr>
          <p:cNvPr id="16" name="Text 14"/>
          <p:cNvSpPr/>
          <p:nvPr/>
        </p:nvSpPr>
        <p:spPr>
          <a:xfrm>
            <a:off x="7507843" y="3644027"/>
            <a:ext cx="6371868" cy="1176576"/>
          </a:xfrm>
          <a:prstGeom prst="rect">
            <a:avLst/>
          </a:prstGeom>
          <a:noFill/>
          <a:ln/>
        </p:spPr>
        <p:txBody>
          <a:bodyPr wrap="square" lIns="0" tIns="0" rIns="0" bIns="0" rtlCol="0" anchor="t"/>
          <a:lstStyle/>
          <a:p>
            <a:pPr algn="l" marL="342900" indent="-342900">
              <a:lnSpc>
                <a:spcPts val="1700"/>
              </a:lnSpc>
              <a:buSzPct val="100000"/>
              <a:buChar char="•"/>
            </a:pPr>
            <a:r>
              <a:rPr lang="en-US" sz="1150" dirty="0">
                <a:solidFill>
                  <a:srgbClr val="384653"/>
                </a:solidFill>
                <a:latin typeface="Montserrat" pitchFamily="34" charset="0"/>
                <a:ea typeface="Montserrat" pitchFamily="34" charset="-122"/>
                <a:cs typeface="Montserrat" pitchFamily="34" charset="-120"/>
              </a:rPr>
              <a:t>Hệ thống </a:t>
            </a:r>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TỰ ĐỘNG đẩy lùi</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toàn bộ lịch trình của các khâu phụ thuộc phía sau.</a:t>
            </a:r>
            <a:endParaRPr lang="en-US" sz="1150" dirty="0"/>
          </a:p>
          <a:p>
            <a:pPr algn="l" marL="342900" indent="-342900">
              <a:lnSpc>
                <a:spcPts val="1700"/>
              </a:lnSpc>
              <a:buSzPct val="100000"/>
              <a:buChar char="•"/>
            </a:pPr>
            <a:r>
              <a:rPr lang="en-US" sz="1150" dirty="0">
                <a:solidFill>
                  <a:srgbClr val="384653"/>
                </a:solidFill>
                <a:latin typeface="Montserrat" pitchFamily="34" charset="0"/>
                <a:ea typeface="Montserrat" pitchFamily="34" charset="-122"/>
                <a:cs typeface="Montserrat" pitchFamily="34" charset="-120"/>
              </a:rPr>
              <a:t>Gửi </a:t>
            </a:r>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Push Notification tức thì</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đến tất cả nhân sự liên quan — không ai phải xuống công trường rồi chờ đợi vô ích.</a:t>
            </a:r>
            <a:endParaRPr lang="en-US" sz="1150" dirty="0"/>
          </a:p>
          <a:p>
            <a:pPr algn="l" marL="342900" indent="-342900">
              <a:lnSpc>
                <a:spcPts val="1700"/>
              </a:lnSpc>
              <a:buSzPct val="100000"/>
              <a:buChar char="•"/>
            </a:pPr>
            <a:r>
              <a:rPr lang="en-US" sz="1150" dirty="0">
                <a:solidFill>
                  <a:srgbClr val="384653"/>
                </a:solidFill>
                <a:latin typeface="Montserrat" pitchFamily="34" charset="0"/>
                <a:ea typeface="Montserrat" pitchFamily="34" charset="-122"/>
                <a:cs typeface="Montserrat" pitchFamily="34" charset="-120"/>
              </a:rPr>
              <a:t>Sử dụng </a:t>
            </a:r>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WebSocket</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để cập nhật deadline mới real-time mà không cần tải lại trang.</a:t>
            </a:r>
            <a:endParaRPr lang="en-US" sz="1150" dirty="0"/>
          </a:p>
        </p:txBody>
      </p:sp>
      <p:sp>
        <p:nvSpPr>
          <p:cNvPr id="17" name="Shape 15"/>
          <p:cNvSpPr/>
          <p:nvPr/>
        </p:nvSpPr>
        <p:spPr>
          <a:xfrm>
            <a:off x="7507843" y="4957048"/>
            <a:ext cx="6371868" cy="780812"/>
          </a:xfrm>
          <a:prstGeom prst="roundRect">
            <a:avLst>
              <a:gd name="adj" fmla="val 29136"/>
            </a:avLst>
          </a:prstGeom>
          <a:solidFill>
            <a:srgbClr val="B6FCB8"/>
          </a:solidFill>
          <a:ln/>
        </p:spPr>
      </p:sp>
      <p:pic>
        <p:nvPicPr>
          <p:cNvPr id="18" name="Image 0" descr="preencoded.png">    </p:cNvPr>
          <p:cNvPicPr>
            <a:picLocks noChangeAspect="1"/>
          </p:cNvPicPr>
          <p:nvPr/>
        </p:nvPicPr>
        <p:blipFill>
          <a:blip r:embed="rId1"/>
          <a:stretch>
            <a:fillRect/>
          </a:stretch>
        </p:blipFill>
        <p:spPr>
          <a:xfrm>
            <a:off x="7659410" y="5173861"/>
            <a:ext cx="189548" cy="151567"/>
          </a:xfrm>
          <a:prstGeom prst="rect">
            <a:avLst/>
          </a:prstGeom>
        </p:spPr>
      </p:pic>
      <p:sp>
        <p:nvSpPr>
          <p:cNvPr id="19" name="Text 16"/>
          <p:cNvSpPr/>
          <p:nvPr/>
        </p:nvSpPr>
        <p:spPr>
          <a:xfrm>
            <a:off x="8000524" y="5116235"/>
            <a:ext cx="5727621" cy="436721"/>
          </a:xfrm>
          <a:prstGeom prst="rect">
            <a:avLst/>
          </a:prstGeom>
          <a:noFill/>
          <a:ln/>
        </p:spPr>
        <p:txBody>
          <a:bodyPr wrap="squar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Ví dụ: Tổ trưởng duyệt gia hạn Tổ Hàn thêm 2 ngày → Lịch Nhóm Điện và Nhóm Lắp Panel tự động lùi 2 ngày → Tất cả nhận thông báo ngay lập tức.</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820579"/>
            <a:ext cx="4739402" cy="592455"/>
          </a:xfrm>
          <a:prstGeom prst="rect">
            <a:avLst/>
          </a:prstGeom>
          <a:noFill/>
          <a:ln/>
        </p:spPr>
        <p:txBody>
          <a:bodyPr wrap="none" lIns="0" tIns="0" rIns="0" bIns="0" rtlCol="0" anchor="t"/>
          <a:lstStyle/>
          <a:p>
            <a:pPr algn="l" indent="0" marL="0">
              <a:lnSpc>
                <a:spcPts val="4650"/>
              </a:lnSpc>
              <a:buNone/>
            </a:pPr>
            <a:r>
              <a:rPr lang="en-US" sz="3700" b="1" dirty="0">
                <a:solidFill>
                  <a:srgbClr val="2E3C4E"/>
                </a:solidFill>
                <a:latin typeface="Barlow Bold" pitchFamily="34" charset="0"/>
                <a:ea typeface="Barlow Bold" pitchFamily="34" charset="-122"/>
                <a:cs typeface="Barlow Bold" pitchFamily="34" charset="-120"/>
              </a:rPr>
              <a:t>Radar Rủi Ro 4 Tầng</a:t>
            </a:r>
            <a:endParaRPr lang="en-US" sz="3700" dirty="0"/>
          </a:p>
        </p:txBody>
      </p:sp>
      <p:sp>
        <p:nvSpPr>
          <p:cNvPr id="3" name="Text 1"/>
          <p:cNvSpPr/>
          <p:nvPr/>
        </p:nvSpPr>
        <p:spPr>
          <a:xfrm>
            <a:off x="758309" y="1481376"/>
            <a:ext cx="5786438" cy="296108"/>
          </a:xfrm>
          <a:prstGeom prst="rect">
            <a:avLst/>
          </a:prstGeom>
          <a:noFill/>
          <a:ln/>
        </p:spPr>
        <p:txBody>
          <a:bodyPr wrap="none" lIns="0" tIns="0" rIns="0" bIns="0" rtlCol="0" anchor="t"/>
          <a:lstStyle/>
          <a:p>
            <a:pPr algn="l" indent="0" marL="0">
              <a:lnSpc>
                <a:spcPts val="2300"/>
              </a:lnSpc>
              <a:buNone/>
            </a:pPr>
            <a:r>
              <a:rPr lang="en-US" sz="1850" b="1" dirty="0">
                <a:solidFill>
                  <a:srgbClr val="2E3C4E"/>
                </a:solidFill>
                <a:latin typeface="Barlow Bold" pitchFamily="34" charset="0"/>
                <a:ea typeface="Barlow Bold" pitchFamily="34" charset="-122"/>
                <a:cs typeface="Barlow Bold" pitchFamily="34" charset="-120"/>
              </a:rPr>
              <a:t>Hệ thống Cảnh báo Sớm tự động (Early Warning System)</a:t>
            </a:r>
            <a:endParaRPr lang="en-US" sz="1850" dirty="0"/>
          </a:p>
        </p:txBody>
      </p:sp>
      <p:sp>
        <p:nvSpPr>
          <p:cNvPr id="4" name="Text 2"/>
          <p:cNvSpPr/>
          <p:nvPr/>
        </p:nvSpPr>
        <p:spPr>
          <a:xfrm>
            <a:off x="758309" y="2034064"/>
            <a:ext cx="13113782" cy="561975"/>
          </a:xfrm>
          <a:prstGeom prst="rect">
            <a:avLst/>
          </a:prstGeom>
          <a:noFill/>
          <a:ln/>
        </p:spPr>
        <p:txBody>
          <a:bodyPr wrap="square" lIns="0" tIns="0" rIns="0" bIns="0" rtlCol="0" anchor="t"/>
          <a:lstStyle/>
          <a:p>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Đây là "bộ não" phòng thủ chủ động của toàn hệ thống.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BOT quản lý tự động quét toàn bộ dự án mỗi 5 phút</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phân tích dữ liệu tiến độ và phát sinh cảnh báo theo 4 tầng mức độ nghiêm trọng — không cần đợi đến deadline mới biết dự án đã "vỡ" kế hoạch.</a:t>
            </a:r>
            <a:endParaRPr lang="en-US" sz="1400" dirty="0"/>
          </a:p>
        </p:txBody>
      </p:sp>
      <p:sp>
        <p:nvSpPr>
          <p:cNvPr id="5" name="Shape 3"/>
          <p:cNvSpPr/>
          <p:nvPr/>
        </p:nvSpPr>
        <p:spPr>
          <a:xfrm>
            <a:off x="758309" y="2788444"/>
            <a:ext cx="6471285" cy="2224683"/>
          </a:xfrm>
          <a:prstGeom prst="roundRect">
            <a:avLst>
              <a:gd name="adj" fmla="val 4932"/>
            </a:avLst>
          </a:prstGeom>
          <a:solidFill>
            <a:srgbClr val="FFFFFF"/>
          </a:solidFill>
          <a:ln w="22860">
            <a:solidFill>
              <a:srgbClr val="E53E3E"/>
            </a:solidFill>
            <a:prstDash val="solid"/>
          </a:ln>
        </p:spPr>
      </p:sp>
      <p:sp>
        <p:nvSpPr>
          <p:cNvPr id="6" name="Shape 4"/>
          <p:cNvSpPr/>
          <p:nvPr/>
        </p:nvSpPr>
        <p:spPr>
          <a:xfrm>
            <a:off x="735449" y="2788444"/>
            <a:ext cx="91440" cy="2224683"/>
          </a:xfrm>
          <a:prstGeom prst="roundRect">
            <a:avLst>
              <a:gd name="adj" fmla="val 295440"/>
            </a:avLst>
          </a:prstGeom>
          <a:solidFill>
            <a:srgbClr val="E53E3E"/>
          </a:solidFill>
          <a:ln/>
        </p:spPr>
      </p:sp>
      <p:sp>
        <p:nvSpPr>
          <p:cNvPr id="7" name="Text 5"/>
          <p:cNvSpPr/>
          <p:nvPr/>
        </p:nvSpPr>
        <p:spPr>
          <a:xfrm>
            <a:off x="1029772" y="2991326"/>
            <a:ext cx="3025259" cy="311348"/>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Barlow Bold" pitchFamily="34" charset="0"/>
                <a:ea typeface="Barlow Bold" pitchFamily="34" charset="-122"/>
                <a:cs typeface="Barlow Bold" pitchFamily="34" charset="-120"/>
              </a:rPr>
              <a:t>🔴</a:t>
            </a:r>
            <a:pPr algn="l" indent="0" marL="0">
              <a:lnSpc>
                <a:spcPts val="2300"/>
              </a:lnSpc>
              <a:buNone/>
            </a:pPr>
            <a:r>
              <a:rPr lang="en-US" sz="1850" b="1" dirty="0">
                <a:solidFill>
                  <a:srgbClr val="384653"/>
                </a:solidFill>
                <a:latin typeface="Barlow Bold" pitchFamily="34" charset="0"/>
                <a:ea typeface="Barlow Bold" pitchFamily="34" charset="-122"/>
                <a:cs typeface="Barlow Bold" pitchFamily="34" charset="-120"/>
              </a:rPr>
              <a:t> Tầng 1 — Critical Path (Đỏ)</a:t>
            </a:r>
            <a:endParaRPr lang="en-US" sz="1850" dirty="0"/>
          </a:p>
        </p:txBody>
      </p:sp>
      <p:sp>
        <p:nvSpPr>
          <p:cNvPr id="8" name="Text 6"/>
          <p:cNvSpPr/>
          <p:nvPr/>
        </p:nvSpPr>
        <p:spPr>
          <a:xfrm>
            <a:off x="1029772" y="3405307"/>
            <a:ext cx="5996940" cy="1123950"/>
          </a:xfrm>
          <a:prstGeom prst="rect">
            <a:avLst/>
          </a:prstGeom>
          <a:noFill/>
          <a:ln/>
        </p:spPr>
        <p:txBody>
          <a:bodyPr wrap="square" lIns="0" tIns="0" rIns="0" bIns="0" rtlCol="0" anchor="t"/>
          <a:lstStyle/>
          <a:p>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Kích hoạt:</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Có task nằm trên Đường Găng (Critical Path) bị trễ hạn.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Ý nghĩa:</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Deadline toàn bộ dự án bị đẩy lùi tương ứng — không còn khả năng bù đắp bằng phương án song song.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Hành động:</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Báo ngay lên Ban Giám đốc để can thiệp nguồn lực khẩn cấp.</a:t>
            </a:r>
            <a:endParaRPr lang="en-US" sz="1400" dirty="0"/>
          </a:p>
        </p:txBody>
      </p:sp>
      <p:sp>
        <p:nvSpPr>
          <p:cNvPr id="9" name="Shape 7"/>
          <p:cNvSpPr/>
          <p:nvPr/>
        </p:nvSpPr>
        <p:spPr>
          <a:xfrm>
            <a:off x="7400687" y="2788444"/>
            <a:ext cx="6471404" cy="2224683"/>
          </a:xfrm>
          <a:prstGeom prst="roundRect">
            <a:avLst>
              <a:gd name="adj" fmla="val 4932"/>
            </a:avLst>
          </a:prstGeom>
          <a:solidFill>
            <a:srgbClr val="FFFFFF"/>
          </a:solidFill>
          <a:ln w="22860">
            <a:solidFill>
              <a:srgbClr val="BACFDD"/>
            </a:solidFill>
            <a:prstDash val="solid"/>
          </a:ln>
        </p:spPr>
      </p:sp>
      <p:pic>
        <p:nvPicPr>
          <p:cNvPr id="10" name="Image 0" descr="preencoded.png">    </p:cNvPr>
          <p:cNvPicPr>
            <a:picLocks noChangeAspect="1"/>
          </p:cNvPicPr>
          <p:nvPr/>
        </p:nvPicPr>
        <p:blipFill>
          <a:blip r:embed="rId1"/>
          <a:stretch>
            <a:fillRect/>
          </a:stretch>
        </p:blipFill>
        <p:spPr>
          <a:xfrm>
            <a:off x="7377827" y="2788444"/>
            <a:ext cx="91440" cy="2224683"/>
          </a:xfrm>
          <a:prstGeom prst="rect">
            <a:avLst/>
          </a:prstGeom>
        </p:spPr>
      </p:pic>
      <p:sp>
        <p:nvSpPr>
          <p:cNvPr id="11" name="Text 8"/>
          <p:cNvSpPr/>
          <p:nvPr/>
        </p:nvSpPr>
        <p:spPr>
          <a:xfrm>
            <a:off x="7672149" y="2991326"/>
            <a:ext cx="3711297" cy="311348"/>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Barlow Bold" pitchFamily="34" charset="0"/>
                <a:ea typeface="Barlow Bold" pitchFamily="34" charset="-122"/>
                <a:cs typeface="Barlow Bold" pitchFamily="34" charset="-120"/>
              </a:rPr>
              <a:t>🟠</a:t>
            </a:r>
            <a:pPr algn="l" indent="0" marL="0">
              <a:lnSpc>
                <a:spcPts val="2300"/>
              </a:lnSpc>
              <a:buNone/>
            </a:pPr>
            <a:r>
              <a:rPr lang="en-US" sz="1850" b="1" dirty="0">
                <a:solidFill>
                  <a:srgbClr val="384653"/>
                </a:solidFill>
                <a:latin typeface="Barlow Bold" pitchFamily="34" charset="0"/>
                <a:ea typeface="Barlow Bold" pitchFamily="34" charset="-122"/>
                <a:cs typeface="Barlow Bold" pitchFamily="34" charset="-120"/>
              </a:rPr>
              <a:t> Tầng 2 — Slack Exhausted (Cam)</a:t>
            </a:r>
            <a:endParaRPr lang="en-US" sz="1850" dirty="0"/>
          </a:p>
        </p:txBody>
      </p:sp>
      <p:sp>
        <p:nvSpPr>
          <p:cNvPr id="12" name="Text 9"/>
          <p:cNvSpPr/>
          <p:nvPr/>
        </p:nvSpPr>
        <p:spPr>
          <a:xfrm>
            <a:off x="7672149" y="3405307"/>
            <a:ext cx="5997059" cy="1404938"/>
          </a:xfrm>
          <a:prstGeom prst="rect">
            <a:avLst/>
          </a:prstGeom>
          <a:noFill/>
          <a:ln/>
        </p:spPr>
        <p:txBody>
          <a:bodyPr wrap="square" lIns="0" tIns="0" rIns="0" bIns="0" rtlCol="0" anchor="t"/>
          <a:lstStyle/>
          <a:p>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Kích hoạt:</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Task không nằm trên đường găng nhưng đã tiêu hao hết toàn bộ quỹ thời gian đệm (Slack = 0).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Ý nghĩa:</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Task này đang trên bờ vực trở thành Đường Găng — bất kỳ sự chậm trễ thêm nào cũng ảnh hưởng đến deadline tổng.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Hành động:</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Ưu tiên giải quyết trong 24 giờ.</a:t>
            </a:r>
            <a:endParaRPr lang="en-US" sz="1400" dirty="0"/>
          </a:p>
        </p:txBody>
      </p:sp>
      <p:sp>
        <p:nvSpPr>
          <p:cNvPr id="13" name="Shape 10"/>
          <p:cNvSpPr/>
          <p:nvPr/>
        </p:nvSpPr>
        <p:spPr>
          <a:xfrm>
            <a:off x="758309" y="5184219"/>
            <a:ext cx="6471285" cy="2224683"/>
          </a:xfrm>
          <a:prstGeom prst="roundRect">
            <a:avLst>
              <a:gd name="adj" fmla="val 4932"/>
            </a:avLst>
          </a:prstGeom>
          <a:solidFill>
            <a:srgbClr val="FFFFFF"/>
          </a:solidFill>
          <a:ln w="22860">
            <a:solidFill>
              <a:srgbClr val="BACFDD"/>
            </a:solidFill>
            <a:prstDash val="solid"/>
          </a:ln>
        </p:spPr>
      </p:sp>
      <p:pic>
        <p:nvPicPr>
          <p:cNvPr id="14" name="Image 1" descr="preencoded.png">    </p:cNvPr>
          <p:cNvPicPr>
            <a:picLocks noChangeAspect="1"/>
          </p:cNvPicPr>
          <p:nvPr/>
        </p:nvPicPr>
        <p:blipFill>
          <a:blip r:embed="rId2"/>
          <a:stretch>
            <a:fillRect/>
          </a:stretch>
        </p:blipFill>
        <p:spPr>
          <a:xfrm>
            <a:off x="735449" y="5184219"/>
            <a:ext cx="91440" cy="2224683"/>
          </a:xfrm>
          <a:prstGeom prst="rect">
            <a:avLst/>
          </a:prstGeom>
        </p:spPr>
      </p:pic>
      <p:sp>
        <p:nvSpPr>
          <p:cNvPr id="15" name="Text 11"/>
          <p:cNvSpPr/>
          <p:nvPr/>
        </p:nvSpPr>
        <p:spPr>
          <a:xfrm>
            <a:off x="1029772" y="5387102"/>
            <a:ext cx="3116342" cy="311348"/>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Barlow Bold" pitchFamily="34" charset="0"/>
                <a:ea typeface="Barlow Bold" pitchFamily="34" charset="-122"/>
                <a:cs typeface="Barlow Bold" pitchFamily="34" charset="-120"/>
              </a:rPr>
              <a:t>🟠</a:t>
            </a:r>
            <a:pPr algn="l" indent="0" marL="0">
              <a:lnSpc>
                <a:spcPts val="2300"/>
              </a:lnSpc>
              <a:buNone/>
            </a:pPr>
            <a:r>
              <a:rPr lang="en-US" sz="1850" b="1" dirty="0">
                <a:solidFill>
                  <a:srgbClr val="384653"/>
                </a:solidFill>
                <a:latin typeface="Barlow Bold" pitchFamily="34" charset="0"/>
                <a:ea typeface="Barlow Bold" pitchFamily="34" charset="-122"/>
                <a:cs typeface="Barlow Bold" pitchFamily="34" charset="-120"/>
              </a:rPr>
              <a:t> Tầng 3 — Bottleneck (Cam)</a:t>
            </a:r>
            <a:endParaRPr lang="en-US" sz="1850" dirty="0"/>
          </a:p>
        </p:txBody>
      </p:sp>
      <p:sp>
        <p:nvSpPr>
          <p:cNvPr id="16" name="Text 12"/>
          <p:cNvSpPr/>
          <p:nvPr/>
        </p:nvSpPr>
        <p:spPr>
          <a:xfrm>
            <a:off x="1029772" y="5801082"/>
            <a:ext cx="5996940" cy="1404938"/>
          </a:xfrm>
          <a:prstGeom prst="rect">
            <a:avLst/>
          </a:prstGeom>
          <a:noFill/>
          <a:ln/>
        </p:spPr>
        <p:txBody>
          <a:bodyPr wrap="square" lIns="0" tIns="0" rIns="0" bIns="0" rtlCol="0" anchor="t"/>
          <a:lstStyle/>
          <a:p>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Kích hoạt:</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Task A chưa hoàn thành nhưng đang chặn Task B (quan hệ Finish-to-Start) không thể bắt đầu.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Ý nghĩa:</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Điểm nghẽn cục bộ đang gây lãng phí nguồn lực của nhóm phía sau — thợ chờ việc, máy móc nằm không.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Hành động:</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Tổ trưởng cần phân bổ lại nhân lực ngay để giải phóng nút cổ chai.</a:t>
            </a:r>
            <a:endParaRPr lang="en-US" sz="1400" dirty="0"/>
          </a:p>
        </p:txBody>
      </p:sp>
      <p:sp>
        <p:nvSpPr>
          <p:cNvPr id="17" name="Shape 13"/>
          <p:cNvSpPr/>
          <p:nvPr/>
        </p:nvSpPr>
        <p:spPr>
          <a:xfrm>
            <a:off x="7400687" y="5184219"/>
            <a:ext cx="6471404" cy="2224683"/>
          </a:xfrm>
          <a:prstGeom prst="roundRect">
            <a:avLst>
              <a:gd name="adj" fmla="val 4932"/>
            </a:avLst>
          </a:prstGeom>
          <a:solidFill>
            <a:srgbClr val="FFFFFF"/>
          </a:solidFill>
          <a:ln w="22860">
            <a:solidFill>
              <a:srgbClr val="BACFDD"/>
            </a:solidFill>
            <a:prstDash val="solid"/>
          </a:ln>
        </p:spPr>
      </p:sp>
      <p:pic>
        <p:nvPicPr>
          <p:cNvPr id="18" name="Image 2" descr="preencoded.png">    </p:cNvPr>
          <p:cNvPicPr>
            <a:picLocks noChangeAspect="1"/>
          </p:cNvPicPr>
          <p:nvPr/>
        </p:nvPicPr>
        <p:blipFill>
          <a:blip r:embed="rId3"/>
          <a:stretch>
            <a:fillRect/>
          </a:stretch>
        </p:blipFill>
        <p:spPr>
          <a:xfrm>
            <a:off x="7377827" y="5184219"/>
            <a:ext cx="91440" cy="2224683"/>
          </a:xfrm>
          <a:prstGeom prst="rect">
            <a:avLst/>
          </a:prstGeom>
        </p:spPr>
      </p:pic>
      <p:sp>
        <p:nvSpPr>
          <p:cNvPr id="19" name="Text 14"/>
          <p:cNvSpPr/>
          <p:nvPr/>
        </p:nvSpPr>
        <p:spPr>
          <a:xfrm>
            <a:off x="7672149" y="5387102"/>
            <a:ext cx="3787259" cy="311348"/>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Barlow Bold" pitchFamily="34" charset="0"/>
                <a:ea typeface="Barlow Bold" pitchFamily="34" charset="-122"/>
                <a:cs typeface="Barlow Bold" pitchFamily="34" charset="-120"/>
              </a:rPr>
              <a:t>🟡</a:t>
            </a:r>
            <a:pPr algn="l" indent="0" marL="0">
              <a:lnSpc>
                <a:spcPts val="2300"/>
              </a:lnSpc>
              <a:buNone/>
            </a:pPr>
            <a:r>
              <a:rPr lang="en-US" sz="1850" b="1" dirty="0">
                <a:solidFill>
                  <a:srgbClr val="384653"/>
                </a:solidFill>
                <a:latin typeface="Barlow Bold" pitchFamily="34" charset="0"/>
                <a:ea typeface="Barlow Bold" pitchFamily="34" charset="-122"/>
                <a:cs typeface="Barlow Bold" pitchFamily="34" charset="-120"/>
              </a:rPr>
              <a:t> Tầng 4 — Velocity Warning (Vàng)</a:t>
            </a:r>
            <a:endParaRPr lang="en-US" sz="1850" dirty="0"/>
          </a:p>
        </p:txBody>
      </p:sp>
      <p:sp>
        <p:nvSpPr>
          <p:cNvPr id="20" name="Text 15"/>
          <p:cNvSpPr/>
          <p:nvPr/>
        </p:nvSpPr>
        <p:spPr>
          <a:xfrm>
            <a:off x="7672149" y="5801082"/>
            <a:ext cx="5997059" cy="1404938"/>
          </a:xfrm>
          <a:prstGeom prst="rect">
            <a:avLst/>
          </a:prstGeom>
          <a:noFill/>
          <a:ln/>
        </p:spPr>
        <p:txBody>
          <a:bodyPr wrap="square" lIns="0" tIns="0" rIns="0" bIns="0" rtlCol="0" anchor="t"/>
          <a:lstStyle/>
          <a:p>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Kích hoạt:</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Tốc độ tiến độ thực (Progress Velocity) thấp hơn tốc độ thời gian trôi qua (Time Elapsed).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Ví dụ điển hình:</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Đã qua 80% thời gian cho phép nhưng khối lượng thực mới hoàn thành được 30%. </a:t>
            </a:r>
            <a:pPr algn="l" indent="0" marL="0">
              <a:lnSpc>
                <a:spcPts val="2200"/>
              </a:lnSpc>
              <a:buNone/>
            </a:pPr>
            <a:r>
              <a:rPr lang="en-US" sz="1400" b="1" dirty="0">
                <a:solidFill>
                  <a:srgbClr val="384653"/>
                </a:solidFill>
                <a:latin typeface="Montserrat" pitchFamily="34" charset="0"/>
                <a:ea typeface="Montserrat" pitchFamily="34" charset="-122"/>
                <a:cs typeface="Montserrat" pitchFamily="34" charset="-120"/>
              </a:rPr>
              <a:t>Ý nghĩa:</a:t>
            </a:r>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 Dự báo định lượng chắc chắn trễ nếu không tăng tốc — đủ thời gian để điều chỉnh.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955715"/>
            <a:ext cx="5878711" cy="623530"/>
          </a:xfrm>
          <a:prstGeom prst="rect">
            <a:avLst/>
          </a:prstGeom>
          <a:noFill/>
          <a:ln/>
        </p:spPr>
        <p:txBody>
          <a:bodyPr wrap="none" lIns="0" tIns="0" rIns="0" bIns="0" rtlCol="0" anchor="t"/>
          <a:lstStyle/>
          <a:p>
            <a:pPr algn="l" indent="0" marL="0">
              <a:lnSpc>
                <a:spcPts val="4900"/>
              </a:lnSpc>
              <a:buNone/>
            </a:pPr>
            <a:r>
              <a:rPr lang="en-US" sz="3900" b="1" dirty="0">
                <a:solidFill>
                  <a:srgbClr val="2E3C4E"/>
                </a:solidFill>
                <a:latin typeface="Barlow Bold" pitchFamily="34" charset="0"/>
                <a:ea typeface="Barlow Bold" pitchFamily="34" charset="-122"/>
                <a:cs typeface="Barlow Bold" pitchFamily="34" charset="-120"/>
              </a:rPr>
              <a:t>POC — Ba Góc Nhìn Thực Tế</a:t>
            </a:r>
            <a:endParaRPr lang="en-US" sz="3900" dirty="0"/>
          </a:p>
        </p:txBody>
      </p:sp>
      <p:sp>
        <p:nvSpPr>
          <p:cNvPr id="3" name="Text 1"/>
          <p:cNvSpPr/>
          <p:nvPr/>
        </p:nvSpPr>
        <p:spPr>
          <a:xfrm>
            <a:off x="758309" y="1654969"/>
            <a:ext cx="7094577" cy="311706"/>
          </a:xfrm>
          <a:prstGeom prst="rect">
            <a:avLst/>
          </a:prstGeom>
          <a:noFill/>
          <a:ln/>
        </p:spPr>
        <p:txBody>
          <a:bodyPr wrap="none" lIns="0" tIns="0" rIns="0" bIns="0" rtlCol="0" anchor="t"/>
          <a:lstStyle/>
          <a:p>
            <a:pPr algn="l" indent="0" marL="0">
              <a:lnSpc>
                <a:spcPts val="2450"/>
              </a:lnSpc>
              <a:buNone/>
            </a:pPr>
            <a:r>
              <a:rPr lang="en-US" sz="1950" b="1" dirty="0">
                <a:solidFill>
                  <a:srgbClr val="2E3C4E"/>
                </a:solidFill>
                <a:latin typeface="Barlow Bold" pitchFamily="34" charset="0"/>
                <a:ea typeface="Barlow Bold" pitchFamily="34" charset="-122"/>
                <a:cs typeface="Barlow Bold" pitchFamily="34" charset="-120"/>
              </a:rPr>
              <a:t>Proof of Concept — Hệ thống đã sẵn sàng để trải nghiệm trực tiếp</a:t>
            </a:r>
            <a:endParaRPr lang="en-US" sz="1950" dirty="0"/>
          </a:p>
        </p:txBody>
      </p:sp>
      <p:pic>
        <p:nvPicPr>
          <p:cNvPr id="4" name="Image 0" descr="preencoded.png">    </p:cNvPr>
          <p:cNvPicPr>
            <a:picLocks noChangeAspect="1"/>
          </p:cNvPicPr>
          <p:nvPr/>
        </p:nvPicPr>
        <p:blipFill>
          <a:blip r:embed="rId1"/>
          <a:stretch>
            <a:fillRect/>
          </a:stretch>
        </p:blipFill>
        <p:spPr>
          <a:xfrm>
            <a:off x="758309" y="2250996"/>
            <a:ext cx="4371261" cy="758309"/>
          </a:xfrm>
          <a:prstGeom prst="rect">
            <a:avLst/>
          </a:prstGeom>
        </p:spPr>
      </p:pic>
      <p:sp>
        <p:nvSpPr>
          <p:cNvPr id="5" name="Text 2"/>
          <p:cNvSpPr/>
          <p:nvPr/>
        </p:nvSpPr>
        <p:spPr>
          <a:xfrm>
            <a:off x="947857" y="3198852"/>
            <a:ext cx="2494359" cy="326946"/>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Barlow Bold" pitchFamily="34" charset="0"/>
                <a:ea typeface="Barlow Bold" pitchFamily="34" charset="-122"/>
                <a:cs typeface="Barlow Bold" pitchFamily="34" charset="-120"/>
              </a:rPr>
              <a:t>🔧</a:t>
            </a:r>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 Góc nhìn Thợ</a:t>
            </a:r>
            <a:endParaRPr lang="en-US" sz="1950" dirty="0"/>
          </a:p>
        </p:txBody>
      </p:sp>
      <p:sp>
        <p:nvSpPr>
          <p:cNvPr id="6" name="Text 3"/>
          <p:cNvSpPr/>
          <p:nvPr/>
        </p:nvSpPr>
        <p:spPr>
          <a:xfrm>
            <a:off x="947857" y="3639503"/>
            <a:ext cx="3992166" cy="2122765"/>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Thợ Check-in GPS tại tọa độ công trường → Nhận danh sách công việc được giao → Thực hiện và chụp ảnh tiến độ → Nộp bằng chứng hình ảnh nghiệm thu. Xin gia hạn task khi cần → Thông báo đến Tổ trưởng tự động. Toàn bộ thao tác chỉ cần smartphone.</a:t>
            </a:r>
            <a:endParaRPr lang="en-US" sz="1450" dirty="0"/>
          </a:p>
        </p:txBody>
      </p:sp>
      <p:pic>
        <p:nvPicPr>
          <p:cNvPr id="7" name="Image 1" descr="preencoded.png">    </p:cNvPr>
          <p:cNvPicPr>
            <a:picLocks noChangeAspect="1"/>
          </p:cNvPicPr>
          <p:nvPr/>
        </p:nvPicPr>
        <p:blipFill>
          <a:blip r:embed="rId2"/>
          <a:stretch>
            <a:fillRect/>
          </a:stretch>
        </p:blipFill>
        <p:spPr>
          <a:xfrm>
            <a:off x="5129570" y="2250996"/>
            <a:ext cx="4371261" cy="758309"/>
          </a:xfrm>
          <a:prstGeom prst="rect">
            <a:avLst/>
          </a:prstGeom>
        </p:spPr>
      </p:pic>
      <p:sp>
        <p:nvSpPr>
          <p:cNvPr id="8" name="Text 4"/>
          <p:cNvSpPr/>
          <p:nvPr/>
        </p:nvSpPr>
        <p:spPr>
          <a:xfrm>
            <a:off x="5319117" y="3198852"/>
            <a:ext cx="2494359" cy="326946"/>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Barlow Bold" pitchFamily="34" charset="0"/>
                <a:ea typeface="Barlow Bold" pitchFamily="34" charset="-122"/>
                <a:cs typeface="Barlow Bold" pitchFamily="34" charset="-120"/>
              </a:rPr>
              <a:t>👷</a:t>
            </a:r>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 Góc nhìn Tổ trưởng</a:t>
            </a:r>
            <a:endParaRPr lang="en-US" sz="1950" dirty="0"/>
          </a:p>
        </p:txBody>
      </p:sp>
      <p:sp>
        <p:nvSpPr>
          <p:cNvPr id="9" name="Text 5"/>
          <p:cNvSpPr/>
          <p:nvPr/>
        </p:nvSpPr>
        <p:spPr>
          <a:xfrm>
            <a:off x="5319117" y="3639503"/>
            <a:ext cx="3992166" cy="2122765"/>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Nhận Notification khi thợ nộp bằng chứng → Duyệt hoặc từ chối với ghi chú → Thấy tiến độ tổng của tổ </a:t>
            </a:r>
            <a:pPr algn="l" indent="0" marL="0">
              <a:lnSpc>
                <a:spcPts val="2350"/>
              </a:lnSpc>
              <a:buNone/>
            </a:pPr>
            <a:r>
              <a:rPr lang="en-US" sz="1450" b="1" dirty="0">
                <a:solidFill>
                  <a:srgbClr val="384653"/>
                </a:solidFill>
                <a:latin typeface="Montserrat" pitchFamily="34" charset="0"/>
                <a:ea typeface="Montserrat" pitchFamily="34" charset="-122"/>
                <a:cs typeface="Montserrat" pitchFamily="34" charset="-120"/>
              </a:rPr>
              <a:t>tự động nhảy % theo trọng số</a:t>
            </a:r>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 ngay sau khi duyệt. Phê duyệt gia hạn task trễ → Thấy sơ đồ Gantt toàn dự án </a:t>
            </a:r>
            <a:pPr algn="l" indent="0" marL="0">
              <a:lnSpc>
                <a:spcPts val="2350"/>
              </a:lnSpc>
              <a:buNone/>
            </a:pPr>
            <a:r>
              <a:rPr lang="en-US" sz="1450" b="1" dirty="0">
                <a:solidFill>
                  <a:srgbClr val="384653"/>
                </a:solidFill>
                <a:latin typeface="Montserrat" pitchFamily="34" charset="0"/>
                <a:ea typeface="Montserrat" pitchFamily="34" charset="-122"/>
                <a:cs typeface="Montserrat" pitchFamily="34" charset="-120"/>
              </a:rPr>
              <a:t>tự động trượt (Cascade)</a:t>
            </a:r>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 Tạo E-Form xin vật tư một chạm.</a:t>
            </a:r>
            <a:endParaRPr lang="en-US" sz="1450" dirty="0"/>
          </a:p>
        </p:txBody>
      </p:sp>
      <p:pic>
        <p:nvPicPr>
          <p:cNvPr id="10" name="Image 2" descr="preencoded.png">    </p:cNvPr>
          <p:cNvPicPr>
            <a:picLocks noChangeAspect="1"/>
          </p:cNvPicPr>
          <p:nvPr/>
        </p:nvPicPr>
        <p:blipFill>
          <a:blip r:embed="rId3"/>
          <a:stretch>
            <a:fillRect/>
          </a:stretch>
        </p:blipFill>
        <p:spPr>
          <a:xfrm>
            <a:off x="9500830" y="2250996"/>
            <a:ext cx="4371261" cy="758309"/>
          </a:xfrm>
          <a:prstGeom prst="rect">
            <a:avLst/>
          </a:prstGeom>
        </p:spPr>
      </p:pic>
      <p:sp>
        <p:nvSpPr>
          <p:cNvPr id="11" name="Text 6"/>
          <p:cNvSpPr/>
          <p:nvPr/>
        </p:nvSpPr>
        <p:spPr>
          <a:xfrm>
            <a:off x="9690378" y="3198852"/>
            <a:ext cx="2494359" cy="326946"/>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Barlow Bold" pitchFamily="34" charset="0"/>
                <a:ea typeface="Barlow Bold" pitchFamily="34" charset="-122"/>
                <a:cs typeface="Barlow Bold" pitchFamily="34" charset="-120"/>
              </a:rPr>
              <a:t>👔</a:t>
            </a:r>
            <a:pPr algn="l" indent="0" marL="0">
              <a:lnSpc>
                <a:spcPts val="2450"/>
              </a:lnSpc>
              <a:buNone/>
            </a:pPr>
            <a:r>
              <a:rPr lang="en-US" sz="1950" b="1" dirty="0">
                <a:solidFill>
                  <a:srgbClr val="384653"/>
                </a:solidFill>
                <a:latin typeface="Barlow Bold" pitchFamily="34" charset="0"/>
                <a:ea typeface="Barlow Bold" pitchFamily="34" charset="-122"/>
                <a:cs typeface="Barlow Bold" pitchFamily="34" charset="-120"/>
              </a:rPr>
              <a:t> Góc nhìn Giám đốc</a:t>
            </a:r>
            <a:endParaRPr lang="en-US" sz="1950" dirty="0"/>
          </a:p>
        </p:txBody>
      </p:sp>
      <p:sp>
        <p:nvSpPr>
          <p:cNvPr id="12" name="Text 7"/>
          <p:cNvSpPr/>
          <p:nvPr/>
        </p:nvSpPr>
        <p:spPr>
          <a:xfrm>
            <a:off x="9690378" y="3639503"/>
            <a:ext cx="3992166" cy="2122765"/>
          </a:xfrm>
          <a:prstGeom prst="rect">
            <a:avLst/>
          </a:prstGeom>
          <a:noFill/>
          <a:ln/>
        </p:spPr>
        <p:txBody>
          <a:bodyPr wrap="square" lIns="0" tIns="0" rIns="0" bIns="0" rtlCol="0" anchor="t"/>
          <a:lstStyle/>
          <a:p>
            <a:pPr algn="l" indent="0" marL="0">
              <a:lnSpc>
                <a:spcPts val="2350"/>
              </a:lnSpc>
              <a:buNone/>
            </a:pPr>
            <a:r>
              <a:rPr lang="en-US" sz="1450" dirty="0">
                <a:solidFill>
                  <a:srgbClr val="384653"/>
                </a:solidFill>
                <a:latin typeface="Montserrat" pitchFamily="34" charset="0"/>
                <a:ea typeface="Montserrat" pitchFamily="34" charset="-122"/>
                <a:cs typeface="Montserrat" pitchFamily="34" charset="-120"/>
              </a:rPr>
              <a:t>Mở Dashboard tổng quan → Nhận diện ngay các thẻ "Cảnh báo rủi ro" EWS theo màu sắc → Xem chi tiết sơ đồ Gantt toàn dự án → Duyệt gia hạn task trễ ngay trên điện thoại → Thấy timeline toàn bộ dự án tự cập nhật. Kiểm soát tất cả mà không cần họp.</a:t>
            </a:r>
            <a:endParaRPr lang="en-US" sz="1450" dirty="0"/>
          </a:p>
        </p:txBody>
      </p:sp>
      <p:sp>
        <p:nvSpPr>
          <p:cNvPr id="13" name="Shape 8"/>
          <p:cNvSpPr/>
          <p:nvPr/>
        </p:nvSpPr>
        <p:spPr>
          <a:xfrm>
            <a:off x="758309" y="6165056"/>
            <a:ext cx="13113782" cy="1108829"/>
          </a:xfrm>
          <a:prstGeom prst="roundRect">
            <a:avLst>
              <a:gd name="adj" fmla="val 25646"/>
            </a:avLst>
          </a:prstGeom>
          <a:solidFill>
            <a:srgbClr val="B6D6FC"/>
          </a:solidFill>
          <a:ln/>
        </p:spPr>
      </p:sp>
      <p:pic>
        <p:nvPicPr>
          <p:cNvPr id="14" name="Image 3" descr="preencoded.png">    </p:cNvPr>
          <p:cNvPicPr>
            <a:picLocks noChangeAspect="1"/>
          </p:cNvPicPr>
          <p:nvPr/>
        </p:nvPicPr>
        <p:blipFill>
          <a:blip r:embed="rId4"/>
          <a:stretch>
            <a:fillRect/>
          </a:stretch>
        </p:blipFill>
        <p:spPr>
          <a:xfrm>
            <a:off x="947857" y="6449497"/>
            <a:ext cx="236934" cy="189548"/>
          </a:xfrm>
          <a:prstGeom prst="rect">
            <a:avLst/>
          </a:prstGeom>
        </p:spPr>
      </p:pic>
      <p:sp>
        <p:nvSpPr>
          <p:cNvPr id="15" name="Text 9"/>
          <p:cNvSpPr/>
          <p:nvPr/>
        </p:nvSpPr>
        <p:spPr>
          <a:xfrm>
            <a:off x="1374338" y="6401991"/>
            <a:ext cx="12308205" cy="60650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Montserrat" pitchFamily="34" charset="0"/>
                <a:ea typeface="Montserrat" pitchFamily="34" charset="-122"/>
                <a:cs typeface="Montserrat" pitchFamily="34" charset="-120"/>
              </a:rPr>
              <a:t>Anh Bùi Tuấn Anh sẽ dừng slide tại đây và mở phần mềm live demo để trình diễn trực tiếp ba kịch bản trên với dữ liệu thực tế của SAREE.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749498"/>
            <a:ext cx="6635115" cy="498872"/>
          </a:xfrm>
          <a:prstGeom prst="rect">
            <a:avLst/>
          </a:prstGeom>
          <a:noFill/>
          <a:ln/>
        </p:spPr>
        <p:txBody>
          <a:bodyPr wrap="none" lIns="0" tIns="0" rIns="0" bIns="0" rtlCol="0" anchor="t"/>
          <a:lstStyle/>
          <a:p>
            <a:pPr algn="l" indent="0" marL="0">
              <a:lnSpc>
                <a:spcPts val="3900"/>
              </a:lnSpc>
              <a:buNone/>
            </a:pPr>
            <a:r>
              <a:rPr lang="en-US" sz="3100" b="1" dirty="0">
                <a:solidFill>
                  <a:srgbClr val="2E3C4E"/>
                </a:solidFill>
                <a:latin typeface="Barlow Bold" pitchFamily="34" charset="0"/>
                <a:ea typeface="Barlow Bold" pitchFamily="34" charset="-122"/>
                <a:cs typeface="Barlow Bold" pitchFamily="34" charset="-120"/>
              </a:rPr>
              <a:t>Lộ Trình Hoàn Thiện &amp; Bước Tiếp Theo</a:t>
            </a:r>
            <a:endParaRPr lang="en-US" sz="3100" dirty="0"/>
          </a:p>
        </p:txBody>
      </p:sp>
      <p:sp>
        <p:nvSpPr>
          <p:cNvPr id="3" name="Text 1"/>
          <p:cNvSpPr/>
          <p:nvPr/>
        </p:nvSpPr>
        <p:spPr>
          <a:xfrm>
            <a:off x="758309" y="1296829"/>
            <a:ext cx="6115764" cy="249436"/>
          </a:xfrm>
          <a:prstGeom prst="rect">
            <a:avLst/>
          </a:prstGeom>
          <a:noFill/>
          <a:ln/>
        </p:spPr>
        <p:txBody>
          <a:bodyPr wrap="none" lIns="0" tIns="0" rIns="0" bIns="0" rtlCol="0" anchor="t"/>
          <a:lstStyle/>
          <a:p>
            <a:pPr algn="l" indent="0" marL="0">
              <a:lnSpc>
                <a:spcPts val="1950"/>
              </a:lnSpc>
              <a:buNone/>
            </a:pPr>
            <a:r>
              <a:rPr lang="en-US" sz="1550" b="1" dirty="0">
                <a:solidFill>
                  <a:srgbClr val="2E3C4E"/>
                </a:solidFill>
                <a:latin typeface="Barlow Bold" pitchFamily="34" charset="0"/>
                <a:ea typeface="Barlow Bold" pitchFamily="34" charset="-122"/>
                <a:cs typeface="Barlow Bold" pitchFamily="34" charset="-120"/>
              </a:rPr>
              <a:t>Roadmap triển khai theo 3 giai đoạn — Từ nền tảng đến trí tuệ nhân tạo</a:t>
            </a:r>
            <a:endParaRPr lang="en-US" sz="1550" dirty="0"/>
          </a:p>
        </p:txBody>
      </p:sp>
      <p:sp>
        <p:nvSpPr>
          <p:cNvPr id="4" name="Shape 2"/>
          <p:cNvSpPr/>
          <p:nvPr/>
        </p:nvSpPr>
        <p:spPr>
          <a:xfrm>
            <a:off x="7307580" y="1728192"/>
            <a:ext cx="15240" cy="2868573"/>
          </a:xfrm>
          <a:prstGeom prst="roundRect">
            <a:avLst>
              <a:gd name="adj" fmla="val 1492752"/>
            </a:avLst>
          </a:prstGeom>
          <a:solidFill>
            <a:srgbClr val="BACFDD"/>
          </a:solidFill>
          <a:ln/>
        </p:spPr>
      </p:sp>
      <p:sp>
        <p:nvSpPr>
          <p:cNvPr id="5" name="Shape 3"/>
          <p:cNvSpPr/>
          <p:nvPr/>
        </p:nvSpPr>
        <p:spPr>
          <a:xfrm>
            <a:off x="6704886" y="1891189"/>
            <a:ext cx="454938" cy="15240"/>
          </a:xfrm>
          <a:prstGeom prst="roundRect">
            <a:avLst>
              <a:gd name="adj" fmla="val 1492752"/>
            </a:avLst>
          </a:prstGeom>
          <a:solidFill>
            <a:srgbClr val="BACFDD"/>
          </a:solidFill>
          <a:ln/>
        </p:spPr>
      </p:sp>
      <p:sp>
        <p:nvSpPr>
          <p:cNvPr id="6" name="Shape 4"/>
          <p:cNvSpPr/>
          <p:nvPr/>
        </p:nvSpPr>
        <p:spPr>
          <a:xfrm>
            <a:off x="7144583" y="1728192"/>
            <a:ext cx="341233" cy="341233"/>
          </a:xfrm>
          <a:prstGeom prst="roundRect">
            <a:avLst>
              <a:gd name="adj" fmla="val 66669"/>
            </a:avLst>
          </a:prstGeom>
          <a:solidFill>
            <a:srgbClr val="D4E9F7"/>
          </a:solidFill>
          <a:ln w="7620">
            <a:solidFill>
              <a:srgbClr val="BACFDD"/>
            </a:solidFill>
            <a:prstDash val="solid"/>
          </a:ln>
        </p:spPr>
      </p:sp>
      <p:sp>
        <p:nvSpPr>
          <p:cNvPr id="7" name="Text 5"/>
          <p:cNvSpPr/>
          <p:nvPr/>
        </p:nvSpPr>
        <p:spPr>
          <a:xfrm>
            <a:off x="7195483" y="1749147"/>
            <a:ext cx="239435" cy="299323"/>
          </a:xfrm>
          <a:prstGeom prst="rect">
            <a:avLst/>
          </a:prstGeom>
          <a:noFill/>
          <a:ln/>
        </p:spPr>
        <p:txBody>
          <a:bodyPr wrap="none" lIns="0" tIns="0" rIns="0" bIns="0" rtlCol="0" anchor="t"/>
          <a:lstStyle/>
          <a:p>
            <a:pPr algn="ctr" indent="0" marL="0">
              <a:lnSpc>
                <a:spcPts val="1850"/>
              </a:lnSpc>
              <a:buNone/>
            </a:pPr>
            <a:r>
              <a:rPr lang="en-US" sz="1850" b="1" dirty="0">
                <a:solidFill>
                  <a:srgbClr val="384653"/>
                </a:solidFill>
                <a:latin typeface="Barlow Bold" pitchFamily="34" charset="0"/>
                <a:ea typeface="Barlow Bold" pitchFamily="34" charset="-122"/>
                <a:cs typeface="Barlow Bold" pitchFamily="34" charset="-120"/>
              </a:rPr>
              <a:t>1</a:t>
            </a:r>
            <a:endParaRPr lang="en-US" sz="1850" dirty="0"/>
          </a:p>
        </p:txBody>
      </p:sp>
      <p:sp>
        <p:nvSpPr>
          <p:cNvPr id="8" name="Text 6"/>
          <p:cNvSpPr/>
          <p:nvPr/>
        </p:nvSpPr>
        <p:spPr>
          <a:xfrm>
            <a:off x="4561403" y="1780222"/>
            <a:ext cx="1995487" cy="249436"/>
          </a:xfrm>
          <a:prstGeom prst="rect">
            <a:avLst/>
          </a:prstGeom>
          <a:noFill/>
          <a:ln/>
        </p:spPr>
        <p:txBody>
          <a:bodyPr wrap="none" lIns="0" tIns="0" rIns="0" bIns="0" rtlCol="0" anchor="t"/>
          <a:lstStyle/>
          <a:p>
            <a:pPr algn="r" indent="0" marL="0">
              <a:lnSpc>
                <a:spcPts val="1950"/>
              </a:lnSpc>
              <a:buNone/>
            </a:pPr>
            <a:r>
              <a:rPr lang="en-US" sz="1550" b="1" dirty="0">
                <a:solidFill>
                  <a:srgbClr val="384653"/>
                </a:solidFill>
                <a:latin typeface="Barlow Bold" pitchFamily="34" charset="0"/>
                <a:ea typeface="Barlow Bold" pitchFamily="34" charset="-122"/>
                <a:cs typeface="Barlow Bold" pitchFamily="34" charset="-120"/>
              </a:rPr>
              <a:t>Phase 1 — Tháng 1–2</a:t>
            </a:r>
            <a:endParaRPr lang="en-US" sz="1550" dirty="0"/>
          </a:p>
        </p:txBody>
      </p:sp>
      <p:sp>
        <p:nvSpPr>
          <p:cNvPr id="9" name="Text 7"/>
          <p:cNvSpPr/>
          <p:nvPr/>
        </p:nvSpPr>
        <p:spPr>
          <a:xfrm>
            <a:off x="758309" y="2102406"/>
            <a:ext cx="5798582" cy="873443"/>
          </a:xfrm>
          <a:prstGeom prst="rect">
            <a:avLst/>
          </a:prstGeom>
          <a:noFill/>
          <a:ln/>
        </p:spPr>
        <p:txBody>
          <a:bodyPr wrap="square" lIns="0" tIns="0" rIns="0" bIns="0" rtlCol="0" anchor="t"/>
          <a:lstStyle/>
          <a:p>
            <a:pPr algn="r"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Core MES &amp; Site Management</a:t>
            </a:r>
            <a:pPr algn="r"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(Đã hoàn thiện trong POC). Bao gồm: Quản lý Task chuyên sâu, Workflow gia hạn có phê duyệt, Sơ đồ Gantt với Cascade Logic, Tính tiến độ theo trọng số Bottom-up và Hệ thống cảnh báo sớm 4 tầng (EWS). GPS Check-in và Daily Proof Report.</a:t>
            </a:r>
            <a:endParaRPr lang="en-US" sz="1150" dirty="0"/>
          </a:p>
        </p:txBody>
      </p:sp>
      <p:sp>
        <p:nvSpPr>
          <p:cNvPr id="10" name="Shape 8"/>
          <p:cNvSpPr/>
          <p:nvPr/>
        </p:nvSpPr>
        <p:spPr>
          <a:xfrm>
            <a:off x="7470577" y="2740462"/>
            <a:ext cx="454938" cy="15240"/>
          </a:xfrm>
          <a:prstGeom prst="roundRect">
            <a:avLst>
              <a:gd name="adj" fmla="val 1492752"/>
            </a:avLst>
          </a:prstGeom>
          <a:solidFill>
            <a:srgbClr val="BACFDD"/>
          </a:solidFill>
          <a:ln/>
        </p:spPr>
      </p:sp>
      <p:sp>
        <p:nvSpPr>
          <p:cNvPr id="11" name="Shape 9"/>
          <p:cNvSpPr/>
          <p:nvPr/>
        </p:nvSpPr>
        <p:spPr>
          <a:xfrm>
            <a:off x="7144583" y="2577465"/>
            <a:ext cx="341233" cy="341233"/>
          </a:xfrm>
          <a:prstGeom prst="roundRect">
            <a:avLst>
              <a:gd name="adj" fmla="val 66669"/>
            </a:avLst>
          </a:prstGeom>
          <a:solidFill>
            <a:srgbClr val="D4E9F7"/>
          </a:solidFill>
          <a:ln w="7620">
            <a:solidFill>
              <a:srgbClr val="BACFDD"/>
            </a:solidFill>
            <a:prstDash val="solid"/>
          </a:ln>
        </p:spPr>
      </p:sp>
      <p:sp>
        <p:nvSpPr>
          <p:cNvPr id="12" name="Text 10"/>
          <p:cNvSpPr/>
          <p:nvPr/>
        </p:nvSpPr>
        <p:spPr>
          <a:xfrm>
            <a:off x="7195483" y="2598420"/>
            <a:ext cx="239435" cy="299323"/>
          </a:xfrm>
          <a:prstGeom prst="rect">
            <a:avLst/>
          </a:prstGeom>
          <a:noFill/>
          <a:ln/>
        </p:spPr>
        <p:txBody>
          <a:bodyPr wrap="none" lIns="0" tIns="0" rIns="0" bIns="0" rtlCol="0" anchor="t"/>
          <a:lstStyle/>
          <a:p>
            <a:pPr algn="ctr" indent="0" marL="0">
              <a:lnSpc>
                <a:spcPts val="1850"/>
              </a:lnSpc>
              <a:buNone/>
            </a:pPr>
            <a:r>
              <a:rPr lang="en-US" sz="1850" b="1" dirty="0">
                <a:solidFill>
                  <a:srgbClr val="384653"/>
                </a:solidFill>
                <a:latin typeface="Barlow Bold" pitchFamily="34" charset="0"/>
                <a:ea typeface="Barlow Bold" pitchFamily="34" charset="-122"/>
                <a:cs typeface="Barlow Bold" pitchFamily="34" charset="-120"/>
              </a:rPr>
              <a:t>2</a:t>
            </a:r>
            <a:endParaRPr lang="en-US" sz="1850" dirty="0"/>
          </a:p>
        </p:txBody>
      </p:sp>
      <p:sp>
        <p:nvSpPr>
          <p:cNvPr id="13" name="Text 11"/>
          <p:cNvSpPr/>
          <p:nvPr/>
        </p:nvSpPr>
        <p:spPr>
          <a:xfrm>
            <a:off x="8073509" y="2629495"/>
            <a:ext cx="1995487" cy="249436"/>
          </a:xfrm>
          <a:prstGeom prst="rect">
            <a:avLst/>
          </a:prstGeom>
          <a:noFill/>
          <a:ln/>
        </p:spPr>
        <p:txBody>
          <a:bodyPr wrap="none" lIns="0" tIns="0" rIns="0" bIns="0" rtlCol="0" anchor="t"/>
          <a:lstStyle/>
          <a:p>
            <a:pPr algn="l" indent="0" marL="0">
              <a:lnSpc>
                <a:spcPts val="1950"/>
              </a:lnSpc>
              <a:buNone/>
            </a:pPr>
            <a:r>
              <a:rPr lang="en-US" sz="1550" b="1" dirty="0">
                <a:solidFill>
                  <a:srgbClr val="384653"/>
                </a:solidFill>
                <a:latin typeface="Barlow Bold" pitchFamily="34" charset="0"/>
                <a:ea typeface="Barlow Bold" pitchFamily="34" charset="-122"/>
                <a:cs typeface="Barlow Bold" pitchFamily="34" charset="-120"/>
              </a:rPr>
              <a:t>Phase 2 — Tháng 3–4</a:t>
            </a:r>
            <a:endParaRPr lang="en-US" sz="1550" dirty="0"/>
          </a:p>
        </p:txBody>
      </p:sp>
      <p:sp>
        <p:nvSpPr>
          <p:cNvPr id="14" name="Text 12"/>
          <p:cNvSpPr/>
          <p:nvPr/>
        </p:nvSpPr>
        <p:spPr>
          <a:xfrm>
            <a:off x="8073509" y="2951678"/>
            <a:ext cx="5798582" cy="873443"/>
          </a:xfrm>
          <a:prstGeom prst="rect">
            <a:avLst/>
          </a:prstGeom>
          <a:noFill/>
          <a:ln/>
        </p:spPr>
        <p:txBody>
          <a:bodyPr wrap="square" lIns="0" tIns="0" rIns="0" bIns="0" rtlCol="0" anchor="t"/>
          <a:lstStyle/>
          <a:p>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Số hóa Báo giá &amp; Vật tư</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Xây dựng luồng Ticket luân chuyển báo giá tự động qua 4 bộ phận. Tích hợp E-Form xin vật tư liên kết trực tiếp với Kho 1, 2, 3. Win/Loss Analytics Dashboard. Lưu trữ lịch sử thương lượng và phân tích nguyên nhân trượt thầu.</a:t>
            </a:r>
            <a:endParaRPr lang="en-US" sz="1150" dirty="0"/>
          </a:p>
        </p:txBody>
      </p:sp>
      <p:sp>
        <p:nvSpPr>
          <p:cNvPr id="15" name="Shape 13"/>
          <p:cNvSpPr/>
          <p:nvPr/>
        </p:nvSpPr>
        <p:spPr>
          <a:xfrm>
            <a:off x="6704886" y="3494365"/>
            <a:ext cx="454938" cy="15240"/>
          </a:xfrm>
          <a:prstGeom prst="roundRect">
            <a:avLst>
              <a:gd name="adj" fmla="val 1492752"/>
            </a:avLst>
          </a:prstGeom>
          <a:solidFill>
            <a:srgbClr val="BACFDD"/>
          </a:solidFill>
          <a:ln/>
        </p:spPr>
      </p:sp>
      <p:sp>
        <p:nvSpPr>
          <p:cNvPr id="16" name="Shape 14"/>
          <p:cNvSpPr/>
          <p:nvPr/>
        </p:nvSpPr>
        <p:spPr>
          <a:xfrm>
            <a:off x="7144583" y="3331369"/>
            <a:ext cx="341233" cy="341233"/>
          </a:xfrm>
          <a:prstGeom prst="roundRect">
            <a:avLst>
              <a:gd name="adj" fmla="val 66669"/>
            </a:avLst>
          </a:prstGeom>
          <a:solidFill>
            <a:srgbClr val="D4E9F7"/>
          </a:solidFill>
          <a:ln w="7620">
            <a:solidFill>
              <a:srgbClr val="BACFDD"/>
            </a:solidFill>
            <a:prstDash val="solid"/>
          </a:ln>
        </p:spPr>
      </p:sp>
      <p:sp>
        <p:nvSpPr>
          <p:cNvPr id="17" name="Text 15"/>
          <p:cNvSpPr/>
          <p:nvPr/>
        </p:nvSpPr>
        <p:spPr>
          <a:xfrm>
            <a:off x="7195483" y="3352324"/>
            <a:ext cx="239435" cy="299323"/>
          </a:xfrm>
          <a:prstGeom prst="rect">
            <a:avLst/>
          </a:prstGeom>
          <a:noFill/>
          <a:ln/>
        </p:spPr>
        <p:txBody>
          <a:bodyPr wrap="none" lIns="0" tIns="0" rIns="0" bIns="0" rtlCol="0" anchor="t"/>
          <a:lstStyle/>
          <a:p>
            <a:pPr algn="ctr" indent="0" marL="0">
              <a:lnSpc>
                <a:spcPts val="1850"/>
              </a:lnSpc>
              <a:buNone/>
            </a:pPr>
            <a:r>
              <a:rPr lang="en-US" sz="1850" b="1" dirty="0">
                <a:solidFill>
                  <a:srgbClr val="384653"/>
                </a:solidFill>
                <a:latin typeface="Barlow Bold" pitchFamily="34" charset="0"/>
                <a:ea typeface="Barlow Bold" pitchFamily="34" charset="-122"/>
                <a:cs typeface="Barlow Bold" pitchFamily="34" charset="-120"/>
              </a:rPr>
              <a:t>3</a:t>
            </a:r>
            <a:endParaRPr lang="en-US" sz="1850" dirty="0"/>
          </a:p>
        </p:txBody>
      </p:sp>
      <p:sp>
        <p:nvSpPr>
          <p:cNvPr id="18" name="Text 16"/>
          <p:cNvSpPr/>
          <p:nvPr/>
        </p:nvSpPr>
        <p:spPr>
          <a:xfrm>
            <a:off x="4561403" y="3383399"/>
            <a:ext cx="1995487" cy="249436"/>
          </a:xfrm>
          <a:prstGeom prst="rect">
            <a:avLst/>
          </a:prstGeom>
          <a:noFill/>
          <a:ln/>
        </p:spPr>
        <p:txBody>
          <a:bodyPr wrap="none" lIns="0" tIns="0" rIns="0" bIns="0" rtlCol="0" anchor="t"/>
          <a:lstStyle/>
          <a:p>
            <a:pPr algn="r" indent="0" marL="0">
              <a:lnSpc>
                <a:spcPts val="1950"/>
              </a:lnSpc>
              <a:buNone/>
            </a:pPr>
            <a:r>
              <a:rPr lang="en-US" sz="1550" b="1" dirty="0">
                <a:solidFill>
                  <a:srgbClr val="384653"/>
                </a:solidFill>
                <a:latin typeface="Barlow Bold" pitchFamily="34" charset="0"/>
                <a:ea typeface="Barlow Bold" pitchFamily="34" charset="-122"/>
                <a:cs typeface="Barlow Bold" pitchFamily="34" charset="-120"/>
              </a:rPr>
              <a:t>Phase 3 — Tháng 5+</a:t>
            </a:r>
            <a:endParaRPr lang="en-US" sz="1550" dirty="0"/>
          </a:p>
        </p:txBody>
      </p:sp>
      <p:sp>
        <p:nvSpPr>
          <p:cNvPr id="19" name="Text 17"/>
          <p:cNvSpPr/>
          <p:nvPr/>
        </p:nvSpPr>
        <p:spPr>
          <a:xfrm>
            <a:off x="758309" y="3705582"/>
            <a:ext cx="5798582" cy="873443"/>
          </a:xfrm>
          <a:prstGeom prst="rect">
            <a:avLst/>
          </a:prstGeom>
          <a:noFill/>
          <a:ln/>
        </p:spPr>
        <p:txBody>
          <a:bodyPr wrap="square" lIns="0" tIns="0" rIns="0" bIns="0" rtlCol="0" anchor="t"/>
          <a:lstStyle/>
          <a:p>
            <a:pPr algn="r"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Bảo hành &amp; Trí tuệ nhân tạo</a:t>
            </a:r>
            <a:pPr algn="r"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Quản lý lịch sử lỗi thi công để phục vụ bảo trì và nâng cấp. Nghiên cứu </a:t>
            </a:r>
            <a:pPr algn="r"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AI/RAG tự động bóc tách vật tư từ bản vẽ kỹ thuật</a:t>
            </a:r>
            <a:pPr algn="r"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 giảm 80% thời gian lập báo giá thủ công. Dự báo rủi ro dựa trên dữ liệu lịch sử dự án.</a:t>
            </a:r>
            <a:endParaRPr lang="en-US" sz="1150" dirty="0"/>
          </a:p>
        </p:txBody>
      </p:sp>
      <p:sp>
        <p:nvSpPr>
          <p:cNvPr id="20" name="Shape 18"/>
          <p:cNvSpPr/>
          <p:nvPr/>
        </p:nvSpPr>
        <p:spPr>
          <a:xfrm>
            <a:off x="649010" y="4733211"/>
            <a:ext cx="6590467" cy="2746772"/>
          </a:xfrm>
          <a:prstGeom prst="roundRect">
            <a:avLst>
              <a:gd name="adj" fmla="val 13252"/>
            </a:avLst>
          </a:prstGeom>
          <a:solidFill>
            <a:srgbClr val="D75BE2"/>
          </a:solidFill>
          <a:ln/>
        </p:spPr>
      </p:sp>
      <p:sp>
        <p:nvSpPr>
          <p:cNvPr id="21" name="Text 19"/>
          <p:cNvSpPr/>
          <p:nvPr/>
        </p:nvSpPr>
        <p:spPr>
          <a:xfrm>
            <a:off x="800576" y="4854535"/>
            <a:ext cx="3139440" cy="249436"/>
          </a:xfrm>
          <a:prstGeom prst="rect">
            <a:avLst/>
          </a:prstGeom>
          <a:noFill/>
          <a:ln/>
        </p:spPr>
        <p:txBody>
          <a:bodyPr wrap="none" lIns="0" tIns="0" rIns="0" bIns="0" rtlCol="0" anchor="t"/>
          <a:lstStyle/>
          <a:p>
            <a:pPr algn="l" indent="0" marL="0">
              <a:lnSpc>
                <a:spcPts val="1950"/>
              </a:lnSpc>
              <a:buNone/>
            </a:pPr>
            <a:r>
              <a:rPr lang="en-US" sz="1550" b="1" dirty="0">
                <a:solidFill>
                  <a:srgbClr val="000000"/>
                </a:solidFill>
                <a:latin typeface="Barlow Bold" pitchFamily="34" charset="0"/>
                <a:ea typeface="Barlow Bold" pitchFamily="34" charset="-122"/>
                <a:cs typeface="Barlow Bold" pitchFamily="34" charset="-120"/>
              </a:rPr>
              <a:t>Giá trị mang lại sau triển khai đầy đủ</a:t>
            </a:r>
            <a:endParaRPr lang="en-US" sz="1550" dirty="0"/>
          </a:p>
        </p:txBody>
      </p:sp>
      <p:sp>
        <p:nvSpPr>
          <p:cNvPr id="22" name="Text 20"/>
          <p:cNvSpPr/>
          <p:nvPr/>
        </p:nvSpPr>
        <p:spPr>
          <a:xfrm>
            <a:off x="800576" y="5225296"/>
            <a:ext cx="6287333" cy="1000601"/>
          </a:xfrm>
          <a:prstGeom prst="rect">
            <a:avLst/>
          </a:prstGeom>
          <a:noFill/>
          <a:ln/>
        </p:spPr>
        <p:txBody>
          <a:bodyPr wrap="square" lIns="0" tIns="0" rIns="0" bIns="0" rtlCol="0" anchor="t"/>
          <a:lstStyle/>
          <a:p>
            <a:pPr algn="l" marL="342900" indent="-342900">
              <a:lnSpc>
                <a:spcPts val="1700"/>
              </a:lnSpc>
              <a:buSzPct val="100000"/>
              <a:buChar char="•"/>
            </a:pPr>
            <a:r>
              <a:rPr lang="en-US" sz="1150" dirty="0">
                <a:solidFill>
                  <a:srgbClr val="000000"/>
                </a:solidFill>
                <a:latin typeface="Montserrat" pitchFamily="34" charset="0"/>
                <a:ea typeface="Montserrat" pitchFamily="34" charset="-122"/>
                <a:cs typeface="Montserrat" pitchFamily="34" charset="-120"/>
              </a:rPr>
              <a:t>Rút ngắn thời gian báo giá từ nhiều ngày xuống còn vài giờ.</a:t>
            </a:r>
            <a:endParaRPr lang="en-US" sz="1150" dirty="0"/>
          </a:p>
          <a:p>
            <a:pPr algn="l" marL="342900" indent="-342900">
              <a:lnSpc>
                <a:spcPts val="1700"/>
              </a:lnSpc>
              <a:buSzPct val="100000"/>
              <a:buChar char="•"/>
            </a:pPr>
            <a:r>
              <a:rPr lang="en-US" sz="1150" dirty="0">
                <a:solidFill>
                  <a:srgbClr val="000000"/>
                </a:solidFill>
                <a:latin typeface="Montserrat" pitchFamily="34" charset="0"/>
                <a:ea typeface="Montserrat" pitchFamily="34" charset="-122"/>
                <a:cs typeface="Montserrat" pitchFamily="34" charset="-120"/>
              </a:rPr>
              <a:t>Loại bỏ hoàn toàn tình trạng "đổ lỗi dây chuyền" — mọi quyết định có dấu vết.</a:t>
            </a:r>
            <a:endParaRPr lang="en-US" sz="1150" dirty="0"/>
          </a:p>
          <a:p>
            <a:pPr algn="l" marL="342900" indent="-342900">
              <a:lnSpc>
                <a:spcPts val="1700"/>
              </a:lnSpc>
              <a:buSzPct val="100000"/>
              <a:buChar char="•"/>
            </a:pPr>
            <a:r>
              <a:rPr lang="en-US" sz="1150" dirty="0">
                <a:solidFill>
                  <a:srgbClr val="000000"/>
                </a:solidFill>
                <a:latin typeface="Montserrat" pitchFamily="34" charset="0"/>
                <a:ea typeface="Montserrat" pitchFamily="34" charset="-122"/>
                <a:cs typeface="Montserrat" pitchFamily="34" charset="-120"/>
              </a:rPr>
              <a:t>Ban Giám đốc kiểm soát 100% tiến độ mọi dự án từ một màn hình duy nhất.</a:t>
            </a:r>
            <a:endParaRPr lang="en-US" sz="1150" dirty="0"/>
          </a:p>
          <a:p>
            <a:pPr algn="l" marL="342900" indent="-342900">
              <a:lnSpc>
                <a:spcPts val="1700"/>
              </a:lnSpc>
              <a:buSzPct val="100000"/>
              <a:buChar char="•"/>
            </a:pPr>
            <a:r>
              <a:rPr lang="en-US" sz="1150" dirty="0">
                <a:solidFill>
                  <a:srgbClr val="000000"/>
                </a:solidFill>
                <a:latin typeface="Montserrat" pitchFamily="34" charset="0"/>
                <a:ea typeface="Montserrat" pitchFamily="34" charset="-122"/>
                <a:cs typeface="Montserrat" pitchFamily="34" charset="-120"/>
              </a:rPr>
              <a:t>Nền tảng dữ liệu sạch cho AI dự báo rủi ro và tối ưu nguồn lực tương lai.</a:t>
            </a:r>
            <a:endParaRPr lang="en-US" sz="1150" dirty="0"/>
          </a:p>
        </p:txBody>
      </p:sp>
      <p:sp>
        <p:nvSpPr>
          <p:cNvPr id="23" name="Text 21"/>
          <p:cNvSpPr/>
          <p:nvPr/>
        </p:nvSpPr>
        <p:spPr>
          <a:xfrm>
            <a:off x="7507843" y="4854535"/>
            <a:ext cx="1995487" cy="249436"/>
          </a:xfrm>
          <a:prstGeom prst="rect">
            <a:avLst/>
          </a:prstGeom>
          <a:noFill/>
          <a:ln/>
        </p:spPr>
        <p:txBody>
          <a:bodyPr wrap="none" lIns="0" tIns="0" rIns="0" bIns="0" rtlCol="0" anchor="t"/>
          <a:lstStyle/>
          <a:p>
            <a:pPr algn="l" indent="0" marL="0">
              <a:lnSpc>
                <a:spcPts val="1950"/>
              </a:lnSpc>
              <a:buNone/>
            </a:pPr>
            <a:r>
              <a:rPr lang="en-US" sz="1550" b="1" dirty="0">
                <a:solidFill>
                  <a:srgbClr val="2E3C4E"/>
                </a:solidFill>
                <a:latin typeface="Barlow Bold" pitchFamily="34" charset="0"/>
                <a:ea typeface="Barlow Bold" pitchFamily="34" charset="-122"/>
                <a:cs typeface="Barlow Bold" pitchFamily="34" charset="-120"/>
              </a:rPr>
              <a:t>Lời mời hành động</a:t>
            </a:r>
            <a:endParaRPr lang="en-US" sz="1550" dirty="0"/>
          </a:p>
        </p:txBody>
      </p:sp>
      <p:sp>
        <p:nvSpPr>
          <p:cNvPr id="24" name="Text 22"/>
          <p:cNvSpPr/>
          <p:nvPr/>
        </p:nvSpPr>
        <p:spPr>
          <a:xfrm>
            <a:off x="7507843" y="5225296"/>
            <a:ext cx="6371868" cy="655082"/>
          </a:xfrm>
          <a:prstGeom prst="rect">
            <a:avLst/>
          </a:prstGeom>
          <a:noFill/>
          <a:ln/>
        </p:spPr>
        <p:txBody>
          <a:bodyPr wrap="square" lIns="0" tIns="0" rIns="0" bIns="0" rtlCol="0" anchor="t"/>
          <a:lstStyle/>
          <a:p>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Hệ thống SAREE ERP/MES đã được xây dựng từ chính những nỗi đau vận hành thực tế của SAREE — không phải giải pháp off-the-shelf áp đặt từ bên ngoài. Đây là sản phẩm được thiết kế riêng, hiểu đúng nghiệp vụ và sẵn sàng triển khai ngay.</a:t>
            </a:r>
            <a:endParaRPr lang="en-US" sz="1150" dirty="0"/>
          </a:p>
        </p:txBody>
      </p:sp>
      <p:sp>
        <p:nvSpPr>
          <p:cNvPr id="25" name="Text 23"/>
          <p:cNvSpPr/>
          <p:nvPr/>
        </p:nvSpPr>
        <p:spPr>
          <a:xfrm>
            <a:off x="7507843" y="5989558"/>
            <a:ext cx="6371868" cy="436721"/>
          </a:xfrm>
          <a:prstGeom prst="rect">
            <a:avLst/>
          </a:prstGeom>
          <a:noFill/>
          <a:ln/>
        </p:spPr>
        <p:txBody>
          <a:bodyPr wrap="square" lIns="0" tIns="0" rIns="0" bIns="0" rtlCol="0" anchor="t"/>
          <a:lstStyle/>
          <a:p>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Chúng tôi trân trọng mời Ban Giám đốc và các Trưởng phòng </a:t>
            </a:r>
            <a:pPr algn="l" indent="0" marL="0">
              <a:lnSpc>
                <a:spcPts val="1700"/>
              </a:lnSpc>
              <a:buNone/>
            </a:pPr>
            <a:r>
              <a:rPr lang="en-US" sz="1150" b="1" dirty="0">
                <a:solidFill>
                  <a:srgbClr val="384653"/>
                </a:solidFill>
                <a:latin typeface="Montserrat" pitchFamily="34" charset="0"/>
                <a:ea typeface="Montserrat" pitchFamily="34" charset="-122"/>
                <a:cs typeface="Montserrat" pitchFamily="34" charset="-120"/>
              </a:rPr>
              <a:t>trực tiếp trải nghiệm POC</a:t>
            </a:r>
            <a:pPr algn="l" indent="0" marL="0">
              <a:lnSpc>
                <a:spcPts val="1700"/>
              </a:lnSpc>
              <a:buNone/>
            </a:pPr>
            <a:r>
              <a:rPr lang="en-US" sz="1150" dirty="0">
                <a:solidFill>
                  <a:srgbClr val="384653"/>
                </a:solidFill>
                <a:latin typeface="Montserrat" pitchFamily="34" charset="0"/>
                <a:ea typeface="Montserrat" pitchFamily="34" charset="-122"/>
                <a:cs typeface="Montserrat" pitchFamily="34" charset="-120"/>
              </a:rPr>
              <a:t> và chia sẻ phản hồi để định hướng cho các bước phát triển tiếp theo.</a:t>
            </a:r>
            <a:endParaRPr lang="en-US" sz="1150" dirty="0"/>
          </a:p>
        </p:txBody>
      </p:sp>
      <p:sp>
        <p:nvSpPr>
          <p:cNvPr id="26" name="Shape 24"/>
          <p:cNvSpPr/>
          <p:nvPr/>
        </p:nvSpPr>
        <p:spPr>
          <a:xfrm>
            <a:off x="7507843" y="6562725"/>
            <a:ext cx="6371868" cy="780812"/>
          </a:xfrm>
          <a:prstGeom prst="roundRect">
            <a:avLst>
              <a:gd name="adj" fmla="val 29136"/>
            </a:avLst>
          </a:prstGeom>
          <a:solidFill>
            <a:srgbClr val="B6FCB8"/>
          </a:solidFill>
          <a:ln/>
        </p:spPr>
      </p:sp>
      <p:pic>
        <p:nvPicPr>
          <p:cNvPr id="27" name="Image 0" descr="preencoded.png">    </p:cNvPr>
          <p:cNvPicPr>
            <a:picLocks noChangeAspect="1"/>
          </p:cNvPicPr>
          <p:nvPr/>
        </p:nvPicPr>
        <p:blipFill>
          <a:blip r:embed="rId1"/>
          <a:stretch>
            <a:fillRect/>
          </a:stretch>
        </p:blipFill>
        <p:spPr>
          <a:xfrm>
            <a:off x="7659410" y="6779538"/>
            <a:ext cx="189548" cy="151567"/>
          </a:xfrm>
          <a:prstGeom prst="rect">
            <a:avLst/>
          </a:prstGeom>
        </p:spPr>
      </p:pic>
      <p:sp>
        <p:nvSpPr>
          <p:cNvPr id="28" name="Text 25"/>
          <p:cNvSpPr/>
          <p:nvPr/>
        </p:nvSpPr>
        <p:spPr>
          <a:xfrm>
            <a:off x="8000524" y="6721912"/>
            <a:ext cx="5727621" cy="436721"/>
          </a:xfrm>
          <a:prstGeom prst="rect">
            <a:avLst/>
          </a:prstGeom>
          <a:noFill/>
          <a:ln/>
        </p:spPr>
        <p:txBody>
          <a:bodyPr wrap="square" lIns="0" tIns="0" rIns="0" bIns="0" rtlCol="0" anchor="t"/>
          <a:lstStyle/>
          <a:p>
            <a:pPr algn="l" indent="0" marL="0">
              <a:lnSpc>
                <a:spcPts val="1700"/>
              </a:lnSpc>
              <a:buNone/>
            </a:pPr>
            <a:r>
              <a:rPr lang="en-US" sz="1150" dirty="0">
                <a:solidFill>
                  <a:srgbClr val="000000"/>
                </a:solidFill>
                <a:latin typeface="Montserrat" pitchFamily="34" charset="0"/>
                <a:ea typeface="Montserrat" pitchFamily="34" charset="-122"/>
                <a:cs typeface="Montserrat" pitchFamily="34" charset="-120"/>
              </a:rPr>
              <a:t>Cảm ơn Ban Giám đốc đã lắng nghe. Mời các anh/chị đặt câu hỏi về giải pháp và POC.</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39723" y="510659"/>
            <a:ext cx="6084332" cy="341948"/>
          </a:xfrm>
          <a:prstGeom prst="rect">
            <a:avLst/>
          </a:prstGeom>
          <a:noFill/>
          <a:ln/>
        </p:spPr>
        <p:txBody>
          <a:bodyPr wrap="none" lIns="0" tIns="0" rIns="0" bIns="0" rtlCol="0" anchor="t"/>
          <a:lstStyle/>
          <a:p>
            <a:pPr algn="l" indent="0" marL="0">
              <a:lnSpc>
                <a:spcPts val="2650"/>
              </a:lnSpc>
              <a:buNone/>
            </a:pPr>
            <a:r>
              <a:rPr lang="en-US" sz="2150" b="1" dirty="0">
                <a:solidFill>
                  <a:srgbClr val="2E3C4E"/>
                </a:solidFill>
                <a:latin typeface="Barlow Bold" pitchFamily="34" charset="0"/>
                <a:ea typeface="Barlow Bold" pitchFamily="34" charset="-122"/>
                <a:cs typeface="Barlow Bold" pitchFamily="34" charset="-120"/>
              </a:rPr>
              <a:t>Kế hoạch triển khai chi tiết: Ưu tiên khối Văn phòng</a:t>
            </a:r>
            <a:endParaRPr lang="en-US" sz="2150" dirty="0"/>
          </a:p>
        </p:txBody>
      </p:sp>
      <p:sp>
        <p:nvSpPr>
          <p:cNvPr id="3" name="Text 1"/>
          <p:cNvSpPr/>
          <p:nvPr/>
        </p:nvSpPr>
        <p:spPr>
          <a:xfrm>
            <a:off x="639723" y="966549"/>
            <a:ext cx="13350954" cy="128707"/>
          </a:xfrm>
          <a:prstGeom prst="rect">
            <a:avLst/>
          </a:prstGeom>
          <a:noFill/>
          <a:ln/>
        </p:spPr>
        <p:txBody>
          <a:bodyPr wrap="none" lIns="0" tIns="0" rIns="0" bIns="0" rtlCol="0" anchor="t"/>
          <a:lstStyle/>
          <a:p>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Đề xuất này phác thảo lộ trình triển khai hệ thống SAREE ERP/MES, tập trung vào các luồng nghiệp vụ cốt lõi tại văn phòng trước khi mở rộng ra công trường.</a:t>
            </a:r>
            <a:endParaRPr lang="en-US" sz="800" dirty="0"/>
          </a:p>
        </p:txBody>
      </p:sp>
      <p:sp>
        <p:nvSpPr>
          <p:cNvPr id="4" name="Text 2"/>
          <p:cNvSpPr/>
          <p:nvPr/>
        </p:nvSpPr>
        <p:spPr>
          <a:xfrm>
            <a:off x="639723" y="1180743"/>
            <a:ext cx="4397573" cy="273487"/>
          </a:xfrm>
          <a:prstGeom prst="rect">
            <a:avLst/>
          </a:prstGeom>
          <a:noFill/>
          <a:ln/>
        </p:spPr>
        <p:txBody>
          <a:bodyPr wrap="none" lIns="0" tIns="0" rIns="0" bIns="0" rtlCol="0" anchor="t"/>
          <a:lstStyle/>
          <a:p>
            <a:pPr algn="l" indent="0" marL="0">
              <a:lnSpc>
                <a:spcPts val="2150"/>
              </a:lnSpc>
              <a:buNone/>
            </a:pPr>
            <a:r>
              <a:rPr lang="en-US" sz="1700" b="1" dirty="0">
                <a:solidFill>
                  <a:srgbClr val="2E3C4E"/>
                </a:solidFill>
                <a:latin typeface="Barlow Bold" pitchFamily="34" charset="0"/>
                <a:ea typeface="Barlow Bold" pitchFamily="34" charset="-122"/>
                <a:cs typeface="Barlow Bold" pitchFamily="34" charset="-120"/>
              </a:rPr>
              <a:t>Giai đoạn 1: Triển khai Khối Văn phòng (8 tuần)</a:t>
            </a:r>
            <a:endParaRPr lang="en-US" sz="1700" dirty="0"/>
          </a:p>
        </p:txBody>
      </p:sp>
      <p:sp>
        <p:nvSpPr>
          <p:cNvPr id="5" name="Text 3"/>
          <p:cNvSpPr/>
          <p:nvPr/>
        </p:nvSpPr>
        <p:spPr>
          <a:xfrm>
            <a:off x="639723" y="1539716"/>
            <a:ext cx="13350954" cy="128707"/>
          </a:xfrm>
          <a:prstGeom prst="rect">
            <a:avLst/>
          </a:prstGeom>
          <a:noFill/>
          <a:ln/>
        </p:spPr>
        <p:txBody>
          <a:bodyPr wrap="none" lIns="0" tIns="0" rIns="0" bIns="0" rtlCol="0" anchor="t"/>
          <a:lstStyle/>
          <a:p>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Giai đoạn này tập trung vào các module thiết yếu cho hoạt động nội bộ và phản hồi người dùng:</a:t>
            </a:r>
            <a:endParaRPr lang="en-US" sz="800" dirty="0"/>
          </a:p>
        </p:txBody>
      </p:sp>
      <p:sp>
        <p:nvSpPr>
          <p:cNvPr id="6" name="Shape 4"/>
          <p:cNvSpPr/>
          <p:nvPr/>
        </p:nvSpPr>
        <p:spPr>
          <a:xfrm>
            <a:off x="7307580" y="1732478"/>
            <a:ext cx="15240" cy="2793444"/>
          </a:xfrm>
          <a:prstGeom prst="roundRect">
            <a:avLst>
              <a:gd name="adj" fmla="val 1023354"/>
            </a:avLst>
          </a:prstGeom>
          <a:solidFill>
            <a:srgbClr val="BACFDD"/>
          </a:solidFill>
          <a:ln/>
        </p:spPr>
      </p:sp>
      <p:sp>
        <p:nvSpPr>
          <p:cNvPr id="7" name="Shape 5"/>
          <p:cNvSpPr/>
          <p:nvPr/>
        </p:nvSpPr>
        <p:spPr>
          <a:xfrm>
            <a:off x="6901696" y="1841778"/>
            <a:ext cx="311825" cy="15240"/>
          </a:xfrm>
          <a:prstGeom prst="roundRect">
            <a:avLst>
              <a:gd name="adj" fmla="val 1023354"/>
            </a:avLst>
          </a:prstGeom>
          <a:solidFill>
            <a:srgbClr val="BACFDD"/>
          </a:solidFill>
          <a:ln/>
        </p:spPr>
      </p:sp>
      <p:sp>
        <p:nvSpPr>
          <p:cNvPr id="8" name="Shape 6"/>
          <p:cNvSpPr/>
          <p:nvPr/>
        </p:nvSpPr>
        <p:spPr>
          <a:xfrm>
            <a:off x="7198281" y="1732478"/>
            <a:ext cx="233839" cy="233839"/>
          </a:xfrm>
          <a:prstGeom prst="roundRect">
            <a:avLst>
              <a:gd name="adj" fmla="val 66695"/>
            </a:avLst>
          </a:prstGeom>
          <a:solidFill>
            <a:srgbClr val="D4E9F7"/>
          </a:solidFill>
          <a:ln w="7620">
            <a:solidFill>
              <a:srgbClr val="BACFDD"/>
            </a:solidFill>
            <a:prstDash val="solid"/>
          </a:ln>
        </p:spPr>
      </p:sp>
      <p:sp>
        <p:nvSpPr>
          <p:cNvPr id="9" name="Text 7"/>
          <p:cNvSpPr/>
          <p:nvPr/>
        </p:nvSpPr>
        <p:spPr>
          <a:xfrm>
            <a:off x="7233166" y="1746825"/>
            <a:ext cx="164068" cy="205145"/>
          </a:xfrm>
          <a:prstGeom prst="rect">
            <a:avLst/>
          </a:prstGeom>
          <a:noFill/>
          <a:ln/>
        </p:spPr>
        <p:txBody>
          <a:bodyPr wrap="none" lIns="0" tIns="0" rIns="0" bIns="0" rtlCol="0" anchor="t"/>
          <a:lstStyle/>
          <a:p>
            <a:pPr algn="ctr" indent="0" marL="0">
              <a:lnSpc>
                <a:spcPts val="1250"/>
              </a:lnSpc>
              <a:buNone/>
            </a:pPr>
            <a:r>
              <a:rPr lang="en-US" sz="1250" b="1" dirty="0">
                <a:solidFill>
                  <a:srgbClr val="384653"/>
                </a:solidFill>
                <a:latin typeface="Barlow Bold" pitchFamily="34" charset="0"/>
                <a:ea typeface="Barlow Bold" pitchFamily="34" charset="-122"/>
                <a:cs typeface="Barlow Bold" pitchFamily="34" charset="-120"/>
              </a:rPr>
              <a:t>1</a:t>
            </a:r>
            <a:endParaRPr lang="en-US" sz="1250" dirty="0"/>
          </a:p>
        </p:txBody>
      </p:sp>
      <p:sp>
        <p:nvSpPr>
          <p:cNvPr id="10" name="Text 8"/>
          <p:cNvSpPr/>
          <p:nvPr/>
        </p:nvSpPr>
        <p:spPr>
          <a:xfrm>
            <a:off x="5055156" y="1768197"/>
            <a:ext cx="1740218" cy="170974"/>
          </a:xfrm>
          <a:prstGeom prst="rect">
            <a:avLst/>
          </a:prstGeom>
          <a:noFill/>
          <a:ln/>
        </p:spPr>
        <p:txBody>
          <a:bodyPr wrap="none" lIns="0" tIns="0" rIns="0" bIns="0" rtlCol="0" anchor="t"/>
          <a:lstStyle/>
          <a:p>
            <a:pPr algn="r" indent="0" marL="0">
              <a:lnSpc>
                <a:spcPts val="1300"/>
              </a:lnSpc>
              <a:buNone/>
            </a:pPr>
            <a:r>
              <a:rPr lang="en-US" sz="1050" b="1" dirty="0">
                <a:solidFill>
                  <a:srgbClr val="384653"/>
                </a:solidFill>
                <a:latin typeface="Barlow Bold" pitchFamily="34" charset="0"/>
                <a:ea typeface="Barlow Bold" pitchFamily="34" charset="-122"/>
                <a:cs typeface="Barlow Bold" pitchFamily="34" charset="-120"/>
              </a:rPr>
              <a:t>Tuần 1-3: Báo giá &amp; Hợp đồng</a:t>
            </a:r>
            <a:endParaRPr lang="en-US" sz="1050" dirty="0"/>
          </a:p>
        </p:txBody>
      </p:sp>
      <p:sp>
        <p:nvSpPr>
          <p:cNvPr id="11" name="Text 9"/>
          <p:cNvSpPr/>
          <p:nvPr/>
        </p:nvSpPr>
        <p:spPr>
          <a:xfrm>
            <a:off x="639723" y="1973342"/>
            <a:ext cx="6155650" cy="257413"/>
          </a:xfrm>
          <a:prstGeom prst="rect">
            <a:avLst/>
          </a:prstGeom>
          <a:noFill/>
          <a:ln/>
        </p:spPr>
        <p:txBody>
          <a:bodyPr wrap="square" lIns="0" tIns="0" rIns="0" bIns="0" rtlCol="0" anchor="t"/>
          <a:lstStyle/>
          <a:p>
            <a:pPr algn="r"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Xây dựng quy trình báo giá đa giai đoạn, phê duyệt, thương lượng và quản lý trạng thái. Tự động tạo hợp đồng từ báo giá thắng, quản lý mốc tạm ứng.</a:t>
            </a:r>
            <a:endParaRPr lang="en-US" sz="800" dirty="0"/>
          </a:p>
        </p:txBody>
      </p:sp>
      <p:sp>
        <p:nvSpPr>
          <p:cNvPr id="12" name="Text 10"/>
          <p:cNvSpPr/>
          <p:nvPr/>
        </p:nvSpPr>
        <p:spPr>
          <a:xfrm>
            <a:off x="639723" y="2264926"/>
            <a:ext cx="6155650" cy="128707"/>
          </a:xfrm>
          <a:prstGeom prst="rect">
            <a:avLst/>
          </a:prstGeom>
          <a:noFill/>
          <a:ln/>
        </p:spPr>
        <p:txBody>
          <a:bodyPr wrap="none" lIns="0" tIns="0" rIns="0" bIns="0" rtlCol="0" anchor="t"/>
          <a:lstStyle/>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Đầu ra:</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Hoàn thiện luồng tạo báo giá → duyệt → thắng → tạo hợp đồng → xác nhận tạm ứng.</a:t>
            </a:r>
            <a:endParaRPr lang="en-US" sz="800" dirty="0"/>
          </a:p>
        </p:txBody>
      </p:sp>
      <p:sp>
        <p:nvSpPr>
          <p:cNvPr id="13" name="Shape 11"/>
          <p:cNvSpPr/>
          <p:nvPr/>
        </p:nvSpPr>
        <p:spPr>
          <a:xfrm>
            <a:off x="7416879" y="2371606"/>
            <a:ext cx="311825" cy="15240"/>
          </a:xfrm>
          <a:prstGeom prst="roundRect">
            <a:avLst>
              <a:gd name="adj" fmla="val 1023354"/>
            </a:avLst>
          </a:prstGeom>
          <a:solidFill>
            <a:srgbClr val="BACFDD"/>
          </a:solidFill>
          <a:ln/>
        </p:spPr>
      </p:sp>
      <p:sp>
        <p:nvSpPr>
          <p:cNvPr id="14" name="Shape 12"/>
          <p:cNvSpPr/>
          <p:nvPr/>
        </p:nvSpPr>
        <p:spPr>
          <a:xfrm>
            <a:off x="7198281" y="2262307"/>
            <a:ext cx="233839" cy="233839"/>
          </a:xfrm>
          <a:prstGeom prst="roundRect">
            <a:avLst>
              <a:gd name="adj" fmla="val 66695"/>
            </a:avLst>
          </a:prstGeom>
          <a:solidFill>
            <a:srgbClr val="D4E9F7"/>
          </a:solidFill>
          <a:ln w="7620">
            <a:solidFill>
              <a:srgbClr val="BACFDD"/>
            </a:solidFill>
            <a:prstDash val="solid"/>
          </a:ln>
        </p:spPr>
      </p:sp>
      <p:sp>
        <p:nvSpPr>
          <p:cNvPr id="15" name="Text 13"/>
          <p:cNvSpPr/>
          <p:nvPr/>
        </p:nvSpPr>
        <p:spPr>
          <a:xfrm>
            <a:off x="7233166" y="2276654"/>
            <a:ext cx="164068" cy="205145"/>
          </a:xfrm>
          <a:prstGeom prst="rect">
            <a:avLst/>
          </a:prstGeom>
          <a:noFill/>
          <a:ln/>
        </p:spPr>
        <p:txBody>
          <a:bodyPr wrap="none" lIns="0" tIns="0" rIns="0" bIns="0" rtlCol="0" anchor="t"/>
          <a:lstStyle/>
          <a:p>
            <a:pPr algn="ctr" indent="0" marL="0">
              <a:lnSpc>
                <a:spcPts val="1250"/>
              </a:lnSpc>
              <a:buNone/>
            </a:pPr>
            <a:r>
              <a:rPr lang="en-US" sz="1250" b="1" dirty="0">
                <a:solidFill>
                  <a:srgbClr val="384653"/>
                </a:solidFill>
                <a:latin typeface="Barlow Bold" pitchFamily="34" charset="0"/>
                <a:ea typeface="Barlow Bold" pitchFamily="34" charset="-122"/>
                <a:cs typeface="Barlow Bold" pitchFamily="34" charset="-120"/>
              </a:rPr>
              <a:t>2</a:t>
            </a:r>
            <a:endParaRPr lang="en-US" sz="1250" dirty="0"/>
          </a:p>
        </p:txBody>
      </p:sp>
      <p:sp>
        <p:nvSpPr>
          <p:cNvPr id="16" name="Text 14"/>
          <p:cNvSpPr/>
          <p:nvPr/>
        </p:nvSpPr>
        <p:spPr>
          <a:xfrm>
            <a:off x="7835027" y="2298025"/>
            <a:ext cx="2045137" cy="170974"/>
          </a:xfrm>
          <a:prstGeom prst="rect">
            <a:avLst/>
          </a:prstGeom>
          <a:noFill/>
          <a:ln/>
        </p:spPr>
        <p:txBody>
          <a:bodyPr wrap="none" lIns="0" tIns="0" rIns="0" bIns="0" rtlCol="0" anchor="t"/>
          <a:lstStyle/>
          <a:p>
            <a:pPr algn="l" indent="0" marL="0">
              <a:lnSpc>
                <a:spcPts val="1300"/>
              </a:lnSpc>
              <a:buNone/>
            </a:pPr>
            <a:r>
              <a:rPr lang="en-US" sz="1050" b="1" dirty="0">
                <a:solidFill>
                  <a:srgbClr val="384653"/>
                </a:solidFill>
                <a:latin typeface="Barlow Bold" pitchFamily="34" charset="0"/>
                <a:ea typeface="Barlow Bold" pitchFamily="34" charset="-122"/>
                <a:cs typeface="Barlow Bold" pitchFamily="34" charset="-120"/>
              </a:rPr>
              <a:t>Tuần 4-6: Vật tư (Mua hàng &amp; Kho)</a:t>
            </a:r>
            <a:endParaRPr lang="en-US" sz="1050" dirty="0"/>
          </a:p>
        </p:txBody>
      </p:sp>
      <p:sp>
        <p:nvSpPr>
          <p:cNvPr id="17" name="Text 15"/>
          <p:cNvSpPr/>
          <p:nvPr/>
        </p:nvSpPr>
        <p:spPr>
          <a:xfrm>
            <a:off x="7835027" y="2503170"/>
            <a:ext cx="6155650" cy="257413"/>
          </a:xfrm>
          <a:prstGeom prst="rect">
            <a:avLst/>
          </a:prstGeom>
          <a:noFill/>
          <a:ln/>
        </p:spPr>
        <p:txBody>
          <a:bodyPr wrap="square" lIns="0" tIns="0" rIns="0" bIns="0" rtlCol="0" anchor="t"/>
          <a:lstStyle/>
          <a:p>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Phát triển module mua hàng (yêu cầu, duyệt, PO, đặt hàng, nhận hàng) và quản lý kho (tồn, luân chuyển, cảnh báo, cấp phát). Tích hợp thông báo Zalo cho các sự kiện quan trọng.</a:t>
            </a:r>
            <a:endParaRPr lang="en-US" sz="800" dirty="0"/>
          </a:p>
        </p:txBody>
      </p:sp>
      <p:sp>
        <p:nvSpPr>
          <p:cNvPr id="18" name="Text 16"/>
          <p:cNvSpPr/>
          <p:nvPr/>
        </p:nvSpPr>
        <p:spPr>
          <a:xfrm>
            <a:off x="7835027" y="2794754"/>
            <a:ext cx="6155650" cy="128707"/>
          </a:xfrm>
          <a:prstGeom prst="rect">
            <a:avLst/>
          </a:prstGeom>
          <a:noFill/>
          <a:ln/>
        </p:spPr>
        <p:txBody>
          <a:bodyPr wrap="none" lIns="0" tIns="0" rIns="0" bIns="0" rtlCol="0" anchor="t"/>
          <a:lstStyle/>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Đầu ra:</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Luồng vật tư liên kết với hợp đồng, báo cáo tồn kho, lịch sử nhập xuất, cảnh báo thiếu vật tư.</a:t>
            </a:r>
            <a:endParaRPr lang="en-US" sz="800" dirty="0"/>
          </a:p>
        </p:txBody>
      </p:sp>
      <p:sp>
        <p:nvSpPr>
          <p:cNvPr id="19" name="Shape 17"/>
          <p:cNvSpPr/>
          <p:nvPr/>
        </p:nvSpPr>
        <p:spPr>
          <a:xfrm>
            <a:off x="6901696" y="2862263"/>
            <a:ext cx="311825" cy="15240"/>
          </a:xfrm>
          <a:prstGeom prst="roundRect">
            <a:avLst>
              <a:gd name="adj" fmla="val 1023354"/>
            </a:avLst>
          </a:prstGeom>
          <a:solidFill>
            <a:srgbClr val="BACFDD"/>
          </a:solidFill>
          <a:ln/>
        </p:spPr>
      </p:sp>
      <p:sp>
        <p:nvSpPr>
          <p:cNvPr id="20" name="Shape 18"/>
          <p:cNvSpPr/>
          <p:nvPr/>
        </p:nvSpPr>
        <p:spPr>
          <a:xfrm>
            <a:off x="7198281" y="2752963"/>
            <a:ext cx="233839" cy="233839"/>
          </a:xfrm>
          <a:prstGeom prst="roundRect">
            <a:avLst>
              <a:gd name="adj" fmla="val 66695"/>
            </a:avLst>
          </a:prstGeom>
          <a:solidFill>
            <a:srgbClr val="D4E9F7"/>
          </a:solidFill>
          <a:ln w="7620">
            <a:solidFill>
              <a:srgbClr val="BACFDD"/>
            </a:solidFill>
            <a:prstDash val="solid"/>
          </a:ln>
        </p:spPr>
      </p:sp>
      <p:sp>
        <p:nvSpPr>
          <p:cNvPr id="21" name="Text 19"/>
          <p:cNvSpPr/>
          <p:nvPr/>
        </p:nvSpPr>
        <p:spPr>
          <a:xfrm>
            <a:off x="7233166" y="2767310"/>
            <a:ext cx="164068" cy="205145"/>
          </a:xfrm>
          <a:prstGeom prst="rect">
            <a:avLst/>
          </a:prstGeom>
          <a:noFill/>
          <a:ln/>
        </p:spPr>
        <p:txBody>
          <a:bodyPr wrap="none" lIns="0" tIns="0" rIns="0" bIns="0" rtlCol="0" anchor="t"/>
          <a:lstStyle/>
          <a:p>
            <a:pPr algn="ctr" indent="0" marL="0">
              <a:lnSpc>
                <a:spcPts val="1250"/>
              </a:lnSpc>
              <a:buNone/>
            </a:pPr>
            <a:r>
              <a:rPr lang="en-US" sz="1250" b="1" dirty="0">
                <a:solidFill>
                  <a:srgbClr val="384653"/>
                </a:solidFill>
                <a:latin typeface="Barlow Bold" pitchFamily="34" charset="0"/>
                <a:ea typeface="Barlow Bold" pitchFamily="34" charset="-122"/>
                <a:cs typeface="Barlow Bold" pitchFamily="34" charset="-120"/>
              </a:rPr>
              <a:t>3</a:t>
            </a:r>
            <a:endParaRPr lang="en-US" sz="1250" dirty="0"/>
          </a:p>
        </p:txBody>
      </p:sp>
      <p:sp>
        <p:nvSpPr>
          <p:cNvPr id="22" name="Text 20"/>
          <p:cNvSpPr/>
          <p:nvPr/>
        </p:nvSpPr>
        <p:spPr>
          <a:xfrm>
            <a:off x="3392329" y="2788682"/>
            <a:ext cx="3403044" cy="170974"/>
          </a:xfrm>
          <a:prstGeom prst="rect">
            <a:avLst/>
          </a:prstGeom>
          <a:noFill/>
          <a:ln/>
        </p:spPr>
        <p:txBody>
          <a:bodyPr wrap="none" lIns="0" tIns="0" rIns="0" bIns="0" rtlCol="0" anchor="t"/>
          <a:lstStyle/>
          <a:p>
            <a:pPr algn="r" indent="0" marL="0">
              <a:lnSpc>
                <a:spcPts val="1300"/>
              </a:lnSpc>
              <a:buNone/>
            </a:pPr>
            <a:r>
              <a:rPr lang="en-US" sz="1050" b="1" dirty="0">
                <a:solidFill>
                  <a:srgbClr val="384653"/>
                </a:solidFill>
                <a:latin typeface="Barlow Bold" pitchFamily="34" charset="0"/>
                <a:ea typeface="Barlow Bold" pitchFamily="34" charset="-122"/>
                <a:cs typeface="Barlow Bold" pitchFamily="34" charset="-120"/>
              </a:rPr>
              <a:t>Tuần 4-6: Thông báo Zalo (xuyên suốt, chốt trong tuần 6)</a:t>
            </a:r>
            <a:endParaRPr lang="en-US" sz="1050" dirty="0"/>
          </a:p>
        </p:txBody>
      </p:sp>
      <p:sp>
        <p:nvSpPr>
          <p:cNvPr id="23" name="Text 21"/>
          <p:cNvSpPr/>
          <p:nvPr/>
        </p:nvSpPr>
        <p:spPr>
          <a:xfrm>
            <a:off x="639723" y="2993827"/>
            <a:ext cx="6155650" cy="128707"/>
          </a:xfrm>
          <a:prstGeom prst="rect">
            <a:avLst/>
          </a:prstGeom>
          <a:noFill/>
          <a:ln/>
        </p:spPr>
        <p:txBody>
          <a:bodyPr wrap="none" lIns="0" tIns="0" rIns="0" bIns="0" rtlCol="0" anchor="t"/>
          <a:lstStyle/>
          <a:p>
            <a:pPr algn="r" indent="0" marL="0">
              <a:lnSpc>
                <a:spcPts val="1000"/>
              </a:lnSpc>
              <a:buNone/>
            </a:pPr>
            <a:r>
              <a:rPr lang="en-US" sz="800" b="1" dirty="0">
                <a:solidFill>
                  <a:srgbClr val="384653"/>
                </a:solidFill>
                <a:latin typeface="Montserrat" pitchFamily="34" charset="0"/>
                <a:ea typeface="Montserrat" pitchFamily="34" charset="-122"/>
                <a:cs typeface="Montserrat" pitchFamily="34" charset="-120"/>
              </a:rPr>
              <a:t>Phạm vi chính:</a:t>
            </a:r>
            <a:endParaRPr lang="en-US" sz="800" dirty="0"/>
          </a:p>
        </p:txBody>
      </p:sp>
      <p:sp>
        <p:nvSpPr>
          <p:cNvPr id="24" name="Text 22"/>
          <p:cNvSpPr/>
          <p:nvPr/>
        </p:nvSpPr>
        <p:spPr>
          <a:xfrm>
            <a:off x="639723" y="3156704"/>
            <a:ext cx="6155650" cy="554593"/>
          </a:xfrm>
          <a:prstGeom prst="rect">
            <a:avLst/>
          </a:prstGeom>
          <a:noFill/>
          <a:ln/>
        </p:spPr>
        <p:txBody>
          <a:bodyPr wrap="square" lIns="0" tIns="0" rIns="0" bIns="0" rtlCol="0" anchor="t"/>
          <a:lstStyle/>
          <a:p>
            <a:pPr algn="l" marL="342900" indent="-342900">
              <a:lnSpc>
                <a:spcPts val="1000"/>
              </a:lnSpc>
              <a:buSzPct val="100000"/>
              <a:buChar char="•"/>
            </a:pPr>
            <a:r>
              <a:rPr lang="en-US" sz="800" dirty="0">
                <a:solidFill>
                  <a:srgbClr val="384653"/>
                </a:solidFill>
                <a:latin typeface="Montserrat" pitchFamily="34" charset="0"/>
                <a:ea typeface="Montserrat" pitchFamily="34" charset="-122"/>
                <a:cs typeface="Montserrat" pitchFamily="34" charset="-120"/>
              </a:rPr>
              <a:t>Gửi thông báo theo sự kiện quan trọng: báo giá đến lượt phê duyệt; hợp đồng chuyển trạng thái (gửi/ký/nhận tạm ứng/bắt đầu sản xuất); PR/PO cần duyệt, đã duyệt, đã nhận hàng; cảnh báo tồn kho thấp.</a:t>
            </a:r>
            <a:endParaRPr lang="en-US" sz="800" dirty="0"/>
          </a:p>
          <a:p>
            <a:pPr algn="l" marL="342900" indent="-342900">
              <a:lnSpc>
                <a:spcPts val="1000"/>
              </a:lnSpc>
              <a:buSzPct val="100000"/>
              <a:buChar char="•"/>
            </a:pPr>
            <a:r>
              <a:rPr lang="en-US" sz="800" dirty="0">
                <a:solidFill>
                  <a:srgbClr val="384653"/>
                </a:solidFill>
                <a:latin typeface="Montserrat" pitchFamily="34" charset="0"/>
                <a:ea typeface="Montserrat" pitchFamily="34" charset="-122"/>
                <a:cs typeface="Montserrat" pitchFamily="34" charset="-120"/>
              </a:rPr>
              <a:t>Gắn người nhận theo quyền/phân vai.</a:t>
            </a:r>
            <a:endParaRPr lang="en-US" sz="800" dirty="0"/>
          </a:p>
          <a:p>
            <a:pPr algn="l" marL="342900" indent="-342900">
              <a:lnSpc>
                <a:spcPts val="1000"/>
              </a:lnSpc>
              <a:buSzPct val="100000"/>
              <a:buChar char="•"/>
            </a:pPr>
            <a:r>
              <a:rPr lang="en-US" sz="800" dirty="0">
                <a:solidFill>
                  <a:srgbClr val="384653"/>
                </a:solidFill>
                <a:latin typeface="Montserrat" pitchFamily="34" charset="0"/>
                <a:ea typeface="Montserrat" pitchFamily="34" charset="-122"/>
                <a:cs typeface="Montserrat" pitchFamily="34" charset="-120"/>
              </a:rPr>
              <a:t>Có dự phòng (fallback) trong hệ thống nếu Zalo lỗi.</a:t>
            </a:r>
            <a:endParaRPr lang="en-US" sz="800" dirty="0"/>
          </a:p>
        </p:txBody>
      </p:sp>
      <p:sp>
        <p:nvSpPr>
          <p:cNvPr id="25" name="Text 23"/>
          <p:cNvSpPr/>
          <p:nvPr/>
        </p:nvSpPr>
        <p:spPr>
          <a:xfrm>
            <a:off x="639723" y="3745468"/>
            <a:ext cx="6155650" cy="128707"/>
          </a:xfrm>
          <a:prstGeom prst="rect">
            <a:avLst/>
          </a:prstGeom>
          <a:noFill/>
          <a:ln/>
        </p:spPr>
        <p:txBody>
          <a:bodyPr wrap="none" lIns="0" tIns="0" rIns="0" bIns="0" rtlCol="0" anchor="t"/>
          <a:lstStyle/>
          <a:p>
            <a:pPr algn="r" indent="0" marL="0">
              <a:lnSpc>
                <a:spcPts val="1000"/>
              </a:lnSpc>
              <a:buNone/>
            </a:pPr>
            <a:r>
              <a:rPr lang="en-US" sz="800" b="1" dirty="0">
                <a:solidFill>
                  <a:srgbClr val="384653"/>
                </a:solidFill>
                <a:latin typeface="Montserrat" pitchFamily="34" charset="0"/>
                <a:ea typeface="Montserrat" pitchFamily="34" charset="-122"/>
                <a:cs typeface="Montserrat" pitchFamily="34" charset="-120"/>
              </a:rPr>
              <a:t>Đầu ra:</a:t>
            </a:r>
            <a:pPr algn="r"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Người dùng văn phòng nhận được cảnh báo Zalo kịp thời, giảm bỏ sót nhiệm vụ.</a:t>
            </a:r>
            <a:endParaRPr lang="en-US" sz="800" dirty="0"/>
          </a:p>
        </p:txBody>
      </p:sp>
      <p:sp>
        <p:nvSpPr>
          <p:cNvPr id="26" name="Shape 24"/>
          <p:cNvSpPr/>
          <p:nvPr/>
        </p:nvSpPr>
        <p:spPr>
          <a:xfrm>
            <a:off x="7416879" y="3479840"/>
            <a:ext cx="311825" cy="15240"/>
          </a:xfrm>
          <a:prstGeom prst="roundRect">
            <a:avLst>
              <a:gd name="adj" fmla="val 1023354"/>
            </a:avLst>
          </a:prstGeom>
          <a:solidFill>
            <a:srgbClr val="BACFDD"/>
          </a:solidFill>
          <a:ln/>
        </p:spPr>
      </p:sp>
      <p:sp>
        <p:nvSpPr>
          <p:cNvPr id="27" name="Shape 25"/>
          <p:cNvSpPr/>
          <p:nvPr/>
        </p:nvSpPr>
        <p:spPr>
          <a:xfrm>
            <a:off x="7198281" y="3370540"/>
            <a:ext cx="233839" cy="233839"/>
          </a:xfrm>
          <a:prstGeom prst="roundRect">
            <a:avLst>
              <a:gd name="adj" fmla="val 66695"/>
            </a:avLst>
          </a:prstGeom>
          <a:solidFill>
            <a:srgbClr val="D4E9F7"/>
          </a:solidFill>
          <a:ln w="7620">
            <a:solidFill>
              <a:srgbClr val="BACFDD"/>
            </a:solidFill>
            <a:prstDash val="solid"/>
          </a:ln>
        </p:spPr>
      </p:sp>
      <p:sp>
        <p:nvSpPr>
          <p:cNvPr id="28" name="Text 26"/>
          <p:cNvSpPr/>
          <p:nvPr/>
        </p:nvSpPr>
        <p:spPr>
          <a:xfrm>
            <a:off x="7233166" y="3384887"/>
            <a:ext cx="164068" cy="205145"/>
          </a:xfrm>
          <a:prstGeom prst="rect">
            <a:avLst/>
          </a:prstGeom>
          <a:noFill/>
          <a:ln/>
        </p:spPr>
        <p:txBody>
          <a:bodyPr wrap="none" lIns="0" tIns="0" rIns="0" bIns="0" rtlCol="0" anchor="t"/>
          <a:lstStyle/>
          <a:p>
            <a:pPr algn="ctr" indent="0" marL="0">
              <a:lnSpc>
                <a:spcPts val="1250"/>
              </a:lnSpc>
              <a:buNone/>
            </a:pPr>
            <a:r>
              <a:rPr lang="en-US" sz="1250" b="1" dirty="0">
                <a:solidFill>
                  <a:srgbClr val="384653"/>
                </a:solidFill>
                <a:latin typeface="Barlow Bold" pitchFamily="34" charset="0"/>
                <a:ea typeface="Barlow Bold" pitchFamily="34" charset="-122"/>
                <a:cs typeface="Barlow Bold" pitchFamily="34" charset="-120"/>
              </a:rPr>
              <a:t>4</a:t>
            </a:r>
            <a:endParaRPr lang="en-US" sz="1250" dirty="0"/>
          </a:p>
        </p:txBody>
      </p:sp>
      <p:sp>
        <p:nvSpPr>
          <p:cNvPr id="29" name="Text 27"/>
          <p:cNvSpPr/>
          <p:nvPr/>
        </p:nvSpPr>
        <p:spPr>
          <a:xfrm>
            <a:off x="7835027" y="3406259"/>
            <a:ext cx="1368028" cy="170974"/>
          </a:xfrm>
          <a:prstGeom prst="rect">
            <a:avLst/>
          </a:prstGeom>
          <a:noFill/>
          <a:ln/>
        </p:spPr>
        <p:txBody>
          <a:bodyPr wrap="none" lIns="0" tIns="0" rIns="0" bIns="0" rtlCol="0" anchor="t"/>
          <a:lstStyle/>
          <a:p>
            <a:pPr algn="l" indent="0" marL="0">
              <a:lnSpc>
                <a:spcPts val="1300"/>
              </a:lnSpc>
              <a:buNone/>
            </a:pPr>
            <a:r>
              <a:rPr lang="en-US" sz="1050" b="1" dirty="0">
                <a:solidFill>
                  <a:srgbClr val="384653"/>
                </a:solidFill>
                <a:latin typeface="Barlow Bold" pitchFamily="34" charset="0"/>
                <a:ea typeface="Barlow Bold" pitchFamily="34" charset="-122"/>
                <a:cs typeface="Barlow Bold" pitchFamily="34" charset="-120"/>
              </a:rPr>
              <a:t>Tuần 7-8: Fix Bug</a:t>
            </a:r>
            <a:endParaRPr lang="en-US" sz="1050" dirty="0"/>
          </a:p>
        </p:txBody>
      </p:sp>
      <p:sp>
        <p:nvSpPr>
          <p:cNvPr id="30" name="Text 28"/>
          <p:cNvSpPr/>
          <p:nvPr/>
        </p:nvSpPr>
        <p:spPr>
          <a:xfrm>
            <a:off x="7835027" y="3611404"/>
            <a:ext cx="6155650" cy="128707"/>
          </a:xfrm>
          <a:prstGeom prst="rect">
            <a:avLst/>
          </a:prstGeom>
          <a:noFill/>
          <a:ln/>
        </p:spPr>
        <p:txBody>
          <a:bodyPr wrap="none" lIns="0" tIns="0" rIns="0" bIns="0" rtlCol="0" anchor="t"/>
          <a:lstStyle/>
          <a:p>
            <a:pPr algn="l" indent="0" marL="0">
              <a:lnSpc>
                <a:spcPts val="1000"/>
              </a:lnSpc>
              <a:buNone/>
            </a:pPr>
            <a:r>
              <a:rPr lang="en-US" sz="800" b="1" dirty="0">
                <a:solidFill>
                  <a:srgbClr val="384653"/>
                </a:solidFill>
                <a:latin typeface="Montserrat" pitchFamily="34" charset="0"/>
                <a:ea typeface="Montserrat" pitchFamily="34" charset="-122"/>
                <a:cs typeface="Montserrat" pitchFamily="34" charset="-120"/>
              </a:rPr>
              <a:t>Mục tiêu:</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Tổng hợp fix bug sau khi user test 3 module, ổn định phân quyền, di trú dữ liệu, thống nhất báo cáo.</a:t>
            </a:r>
            <a:endParaRPr lang="en-US" sz="800" dirty="0"/>
          </a:p>
        </p:txBody>
      </p:sp>
      <p:sp>
        <p:nvSpPr>
          <p:cNvPr id="31" name="Text 29"/>
          <p:cNvSpPr/>
          <p:nvPr/>
        </p:nvSpPr>
        <p:spPr>
          <a:xfrm>
            <a:off x="7835027" y="3774281"/>
            <a:ext cx="6155650" cy="128707"/>
          </a:xfrm>
          <a:prstGeom prst="rect">
            <a:avLst/>
          </a:prstGeom>
          <a:noFill/>
          <a:ln/>
        </p:spPr>
        <p:txBody>
          <a:bodyPr wrap="none" lIns="0" tIns="0" rIns="0" bIns="0" rtlCol="0" anchor="t"/>
          <a:lstStyle/>
          <a:p>
            <a:pPr algn="l" indent="0" marL="0">
              <a:lnSpc>
                <a:spcPts val="1000"/>
              </a:lnSpc>
              <a:buNone/>
            </a:pPr>
            <a:r>
              <a:rPr lang="en-US" sz="800" b="1" dirty="0">
                <a:solidFill>
                  <a:srgbClr val="384653"/>
                </a:solidFill>
                <a:latin typeface="Montserrat" pitchFamily="34" charset="0"/>
                <a:ea typeface="Montserrat" pitchFamily="34" charset="-122"/>
                <a:cs typeface="Montserrat" pitchFamily="34" charset="-120"/>
              </a:rPr>
              <a:t>Hoạt động:</a:t>
            </a:r>
            <a:endParaRPr lang="en-US" sz="800" dirty="0"/>
          </a:p>
        </p:txBody>
      </p:sp>
      <p:sp>
        <p:nvSpPr>
          <p:cNvPr id="32" name="Text 30"/>
          <p:cNvSpPr/>
          <p:nvPr/>
        </p:nvSpPr>
        <p:spPr>
          <a:xfrm>
            <a:off x="7835027" y="3937159"/>
            <a:ext cx="6155650" cy="425887"/>
          </a:xfrm>
          <a:prstGeom prst="rect">
            <a:avLst/>
          </a:prstGeom>
          <a:noFill/>
          <a:ln/>
        </p:spPr>
        <p:txBody>
          <a:bodyPr wrap="square" lIns="0" tIns="0" rIns="0" bIns="0" rtlCol="0" anchor="t"/>
          <a:lstStyle/>
          <a:p>
            <a:pPr algn="l" marL="342900" indent="-342900">
              <a:lnSpc>
                <a:spcPts val="1000"/>
              </a:lnSpc>
              <a:buSzPct val="100000"/>
              <a:buChar char="•"/>
            </a:pPr>
            <a:r>
              <a:rPr lang="en-US" sz="800" dirty="0">
                <a:solidFill>
                  <a:srgbClr val="384653"/>
                </a:solidFill>
                <a:latin typeface="Montserrat" pitchFamily="34" charset="0"/>
                <a:ea typeface="Montserrat" pitchFamily="34" charset="-122"/>
                <a:cs typeface="Montserrat" pitchFamily="34" charset="-120"/>
              </a:rPr>
              <a:t>Kiểm thử hồi quy toàn bộ các luồng end-to-end.</a:t>
            </a:r>
            <a:endParaRPr lang="en-US" sz="800" dirty="0"/>
          </a:p>
          <a:p>
            <a:pPr algn="l" marL="342900" indent="-342900">
              <a:lnSpc>
                <a:spcPts val="1000"/>
              </a:lnSpc>
              <a:buSzPct val="100000"/>
              <a:buChar char="•"/>
            </a:pPr>
            <a:r>
              <a:rPr lang="en-US" sz="800" dirty="0">
                <a:solidFill>
                  <a:srgbClr val="384653"/>
                </a:solidFill>
                <a:latin typeface="Montserrat" pitchFamily="34" charset="0"/>
                <a:ea typeface="Montserrat" pitchFamily="34" charset="-122"/>
                <a:cs typeface="Montserrat" pitchFamily="34" charset="-120"/>
              </a:rPr>
              <a:t>Chuẩn hóa thông điệp lỗi và trải nghiệm chuyển giai đoạn UX.</a:t>
            </a:r>
            <a:endParaRPr lang="en-US" sz="800" dirty="0"/>
          </a:p>
          <a:p>
            <a:pPr algn="l" marL="342900" indent="-342900">
              <a:lnSpc>
                <a:spcPts val="1000"/>
              </a:lnSpc>
              <a:buSzPct val="100000"/>
              <a:buChar char="•"/>
            </a:pPr>
            <a:r>
              <a:rPr lang="en-US" sz="800" dirty="0">
                <a:solidFill>
                  <a:srgbClr val="384653"/>
                </a:solidFill>
                <a:latin typeface="Montserrat" pitchFamily="34" charset="0"/>
                <a:ea typeface="Montserrat" pitchFamily="34" charset="-122"/>
                <a:cs typeface="Montserrat" pitchFamily="34" charset="-120"/>
              </a:rPr>
              <a:t>Checklist UAT theo vai trò (Kinh doanh/Kỹ thuật/Vật tư/Giám đốc/Admin).</a:t>
            </a:r>
            <a:endParaRPr lang="en-US" sz="800" dirty="0"/>
          </a:p>
        </p:txBody>
      </p:sp>
      <p:sp>
        <p:nvSpPr>
          <p:cNvPr id="33" name="Text 31"/>
          <p:cNvSpPr/>
          <p:nvPr/>
        </p:nvSpPr>
        <p:spPr>
          <a:xfrm>
            <a:off x="7835027" y="4397216"/>
            <a:ext cx="6155650" cy="128707"/>
          </a:xfrm>
          <a:prstGeom prst="rect">
            <a:avLst/>
          </a:prstGeom>
          <a:noFill/>
          <a:ln/>
        </p:spPr>
        <p:txBody>
          <a:bodyPr wrap="none" lIns="0" tIns="0" rIns="0" bIns="0" rtlCol="0" anchor="t"/>
          <a:lstStyle/>
          <a:p>
            <a:pPr algn="l" indent="0" marL="0">
              <a:lnSpc>
                <a:spcPts val="1000"/>
              </a:lnSpc>
              <a:buNone/>
            </a:pPr>
            <a:r>
              <a:rPr lang="en-US" sz="800" b="1" dirty="0">
                <a:solidFill>
                  <a:srgbClr val="384653"/>
                </a:solidFill>
                <a:latin typeface="Montserrat" pitchFamily="34" charset="0"/>
                <a:ea typeface="Montserrat" pitchFamily="34" charset="-122"/>
                <a:cs typeface="Montserrat" pitchFamily="34" charset="-120"/>
              </a:rPr>
              <a:t>Đầu ra:</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Hoàn thiện hệ thống vào production.</a:t>
            </a:r>
            <a:endParaRPr lang="en-US" sz="800" dirty="0"/>
          </a:p>
        </p:txBody>
      </p:sp>
      <p:sp>
        <p:nvSpPr>
          <p:cNvPr id="34" name="Text 32"/>
          <p:cNvSpPr/>
          <p:nvPr/>
        </p:nvSpPr>
        <p:spPr>
          <a:xfrm>
            <a:off x="639723" y="4611410"/>
            <a:ext cx="4625578" cy="273487"/>
          </a:xfrm>
          <a:prstGeom prst="rect">
            <a:avLst/>
          </a:prstGeom>
          <a:noFill/>
          <a:ln/>
        </p:spPr>
        <p:txBody>
          <a:bodyPr wrap="none" lIns="0" tIns="0" rIns="0" bIns="0" rtlCol="0" anchor="t"/>
          <a:lstStyle/>
          <a:p>
            <a:pPr algn="l" indent="0" marL="0">
              <a:lnSpc>
                <a:spcPts val="2150"/>
              </a:lnSpc>
              <a:buNone/>
            </a:pPr>
            <a:r>
              <a:rPr lang="en-US" sz="1700" b="1" dirty="0">
                <a:solidFill>
                  <a:srgbClr val="2E3C4E"/>
                </a:solidFill>
                <a:latin typeface="Barlow Bold" pitchFamily="34" charset="0"/>
                <a:ea typeface="Barlow Bold" pitchFamily="34" charset="-122"/>
                <a:cs typeface="Barlow Bold" pitchFamily="34" charset="-120"/>
              </a:rPr>
              <a:t>Giai đoạn 2: Task Chi tiết cho Công nhân (6 tuần)</a:t>
            </a:r>
            <a:endParaRPr lang="en-US" sz="1700" dirty="0"/>
          </a:p>
        </p:txBody>
      </p:sp>
      <p:sp>
        <p:nvSpPr>
          <p:cNvPr id="35" name="Text 33"/>
          <p:cNvSpPr/>
          <p:nvPr/>
        </p:nvSpPr>
        <p:spPr>
          <a:xfrm>
            <a:off x="639723" y="4970383"/>
            <a:ext cx="13350954" cy="128707"/>
          </a:xfrm>
          <a:prstGeom prst="rect">
            <a:avLst/>
          </a:prstGeom>
          <a:noFill/>
          <a:ln/>
        </p:spPr>
        <p:txBody>
          <a:bodyPr wrap="none" lIns="0" tIns="0" rIns="0" bIns="0" rtlCol="0" anchor="t"/>
          <a:lstStyle/>
          <a:p>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Sau khi khối văn phòng ổn định, hệ thống sẽ mở rộng để quản lý công việc tại công trường:</a:t>
            </a:r>
            <a:endParaRPr lang="en-US" sz="800" dirty="0"/>
          </a:p>
        </p:txBody>
      </p:sp>
      <p:pic>
        <p:nvPicPr>
          <p:cNvPr id="36" name="Image 0" descr="preencoded.png">    </p:cNvPr>
          <p:cNvPicPr>
            <a:picLocks noChangeAspect="1"/>
          </p:cNvPicPr>
          <p:nvPr/>
        </p:nvPicPr>
        <p:blipFill>
          <a:blip r:embed="rId1"/>
          <a:stretch>
            <a:fillRect/>
          </a:stretch>
        </p:blipFill>
        <p:spPr>
          <a:xfrm>
            <a:off x="639723" y="5163145"/>
            <a:ext cx="6675477" cy="415885"/>
          </a:xfrm>
          <a:prstGeom prst="rect">
            <a:avLst/>
          </a:prstGeom>
        </p:spPr>
      </p:pic>
      <p:sp>
        <p:nvSpPr>
          <p:cNvPr id="37" name="Text 34"/>
          <p:cNvSpPr/>
          <p:nvPr/>
        </p:nvSpPr>
        <p:spPr>
          <a:xfrm>
            <a:off x="743664" y="5635943"/>
            <a:ext cx="2052042" cy="170974"/>
          </a:xfrm>
          <a:prstGeom prst="rect">
            <a:avLst/>
          </a:prstGeom>
          <a:noFill/>
          <a:ln/>
        </p:spPr>
        <p:txBody>
          <a:bodyPr wrap="none" lIns="0" tIns="0" rIns="0" bIns="0" rtlCol="0" anchor="t"/>
          <a:lstStyle/>
          <a:p>
            <a:pPr algn="l" indent="0" marL="0">
              <a:lnSpc>
                <a:spcPts val="1300"/>
              </a:lnSpc>
              <a:buNone/>
            </a:pPr>
            <a:r>
              <a:rPr lang="en-US" sz="1050" b="1" dirty="0">
                <a:solidFill>
                  <a:srgbClr val="384653"/>
                </a:solidFill>
                <a:latin typeface="Barlow Bold" pitchFamily="34" charset="0"/>
                <a:ea typeface="Barlow Bold" pitchFamily="34" charset="-122"/>
                <a:cs typeface="Barlow Bold" pitchFamily="34" charset="-120"/>
              </a:rPr>
              <a:t>Tuần 9-12: Module Task Công trình</a:t>
            </a:r>
            <a:endParaRPr lang="en-US" sz="1050" dirty="0"/>
          </a:p>
        </p:txBody>
      </p:sp>
      <p:sp>
        <p:nvSpPr>
          <p:cNvPr id="38" name="Text 35"/>
          <p:cNvSpPr/>
          <p:nvPr/>
        </p:nvSpPr>
        <p:spPr>
          <a:xfrm>
            <a:off x="743664" y="5841087"/>
            <a:ext cx="6467594" cy="257413"/>
          </a:xfrm>
          <a:prstGeom prst="rect">
            <a:avLst/>
          </a:prstGeom>
          <a:noFill/>
          <a:ln/>
        </p:spPr>
        <p:txBody>
          <a:bodyPr wrap="square" lIns="0" tIns="0" rIns="0" bIns="0" rtlCol="0" anchor="t"/>
          <a:lstStyle/>
          <a:p>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Xây dựng lập kế hoạch task, theo dõi tiến độ hằng ngày (ảnh, checklist), xử lý yêu cầu gia hạn, nhật ký vấn đề. Hỗ trợ chat nhóm và báo cáo hiệu suất cá nhân/tổ đội.</a:t>
            </a:r>
            <a:endParaRPr lang="en-US" sz="800" dirty="0"/>
          </a:p>
        </p:txBody>
      </p:sp>
      <p:pic>
        <p:nvPicPr>
          <p:cNvPr id="39" name="Image 1" descr="preencoded.png">    </p:cNvPr>
          <p:cNvPicPr>
            <a:picLocks noChangeAspect="1"/>
          </p:cNvPicPr>
          <p:nvPr/>
        </p:nvPicPr>
        <p:blipFill>
          <a:blip r:embed="rId2"/>
          <a:stretch>
            <a:fillRect/>
          </a:stretch>
        </p:blipFill>
        <p:spPr>
          <a:xfrm>
            <a:off x="7315200" y="5163145"/>
            <a:ext cx="6675477" cy="415885"/>
          </a:xfrm>
          <a:prstGeom prst="rect">
            <a:avLst/>
          </a:prstGeom>
        </p:spPr>
      </p:pic>
      <p:sp>
        <p:nvSpPr>
          <p:cNvPr id="40" name="Text 36"/>
          <p:cNvSpPr/>
          <p:nvPr/>
        </p:nvSpPr>
        <p:spPr>
          <a:xfrm>
            <a:off x="7419142" y="5635943"/>
            <a:ext cx="1977271" cy="170974"/>
          </a:xfrm>
          <a:prstGeom prst="rect">
            <a:avLst/>
          </a:prstGeom>
          <a:noFill/>
          <a:ln/>
        </p:spPr>
        <p:txBody>
          <a:bodyPr wrap="none" lIns="0" tIns="0" rIns="0" bIns="0" rtlCol="0" anchor="t"/>
          <a:lstStyle/>
          <a:p>
            <a:pPr algn="l" indent="0" marL="0">
              <a:lnSpc>
                <a:spcPts val="1300"/>
              </a:lnSpc>
              <a:buNone/>
            </a:pPr>
            <a:r>
              <a:rPr lang="en-US" sz="1050" b="1" dirty="0">
                <a:solidFill>
                  <a:srgbClr val="384653"/>
                </a:solidFill>
                <a:latin typeface="Barlow Bold" pitchFamily="34" charset="0"/>
                <a:ea typeface="Barlow Bold" pitchFamily="34" charset="-122"/>
                <a:cs typeface="Barlow Bold" pitchFamily="34" charset="-120"/>
              </a:rPr>
              <a:t>Tuần 13-14: Củng cố Module Field</a:t>
            </a:r>
            <a:endParaRPr lang="en-US" sz="1050" dirty="0"/>
          </a:p>
        </p:txBody>
      </p:sp>
      <p:sp>
        <p:nvSpPr>
          <p:cNvPr id="41" name="Text 37"/>
          <p:cNvSpPr/>
          <p:nvPr/>
        </p:nvSpPr>
        <p:spPr>
          <a:xfrm>
            <a:off x="7419142" y="5841087"/>
            <a:ext cx="6467594" cy="128707"/>
          </a:xfrm>
          <a:prstGeom prst="rect">
            <a:avLst/>
          </a:prstGeom>
          <a:noFill/>
          <a:ln/>
        </p:spPr>
        <p:txBody>
          <a:bodyPr wrap="none" lIns="0" tIns="0" rIns="0" bIns="0" rtlCol="0" anchor="t"/>
          <a:lstStyle/>
          <a:p>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Ổn định trải nghiệm người dùng ngoài công trường, chuẩn hóa dashboard đánh giá tiến độ, trễ hạn và hiệu suất nhân sự.</a:t>
            </a:r>
            <a:endParaRPr lang="en-US" sz="800" dirty="0"/>
          </a:p>
        </p:txBody>
      </p:sp>
      <p:sp>
        <p:nvSpPr>
          <p:cNvPr id="42" name="Text 38"/>
          <p:cNvSpPr/>
          <p:nvPr/>
        </p:nvSpPr>
        <p:spPr>
          <a:xfrm>
            <a:off x="639723" y="6287929"/>
            <a:ext cx="2188845" cy="273487"/>
          </a:xfrm>
          <a:prstGeom prst="rect">
            <a:avLst/>
          </a:prstGeom>
          <a:noFill/>
          <a:ln/>
        </p:spPr>
        <p:txBody>
          <a:bodyPr wrap="none" lIns="0" tIns="0" rIns="0" bIns="0" rtlCol="0" anchor="t"/>
          <a:lstStyle/>
          <a:p>
            <a:pPr algn="l" indent="0" marL="0">
              <a:lnSpc>
                <a:spcPts val="2150"/>
              </a:lnSpc>
              <a:buNone/>
            </a:pPr>
            <a:r>
              <a:rPr lang="en-US" sz="1700" b="1" dirty="0">
                <a:solidFill>
                  <a:srgbClr val="2E3C4E"/>
                </a:solidFill>
                <a:latin typeface="Barlow Bold" pitchFamily="34" charset="0"/>
                <a:ea typeface="Barlow Bold" pitchFamily="34" charset="-122"/>
                <a:cs typeface="Barlow Bold" pitchFamily="34" charset="-120"/>
              </a:rPr>
              <a:t>Mốc &amp; Rủi ro chính</a:t>
            </a:r>
            <a:endParaRPr lang="en-US" sz="1700" dirty="0"/>
          </a:p>
        </p:txBody>
      </p:sp>
      <p:sp>
        <p:nvSpPr>
          <p:cNvPr id="43" name="Text 39"/>
          <p:cNvSpPr/>
          <p:nvPr/>
        </p:nvSpPr>
        <p:spPr>
          <a:xfrm>
            <a:off x="639723" y="6703814"/>
            <a:ext cx="1368028" cy="170974"/>
          </a:xfrm>
          <a:prstGeom prst="rect">
            <a:avLst/>
          </a:prstGeom>
          <a:noFill/>
          <a:ln/>
        </p:spPr>
        <p:txBody>
          <a:bodyPr wrap="none" lIns="0" tIns="0" rIns="0" bIns="0" rtlCol="0" anchor="t"/>
          <a:lstStyle/>
          <a:p>
            <a:pPr algn="l" indent="0" marL="0">
              <a:lnSpc>
                <a:spcPts val="1300"/>
              </a:lnSpc>
              <a:buNone/>
            </a:pPr>
            <a:r>
              <a:rPr lang="en-US" sz="1050" b="1" dirty="0">
                <a:solidFill>
                  <a:srgbClr val="2E3C4E"/>
                </a:solidFill>
                <a:latin typeface="Barlow Bold" pitchFamily="34" charset="0"/>
                <a:ea typeface="Barlow Bold" pitchFamily="34" charset="-122"/>
                <a:cs typeface="Barlow Bold" pitchFamily="34" charset="-120"/>
              </a:rPr>
              <a:t>Mốc nghiệm thu</a:t>
            </a:r>
            <a:endParaRPr lang="en-US" sz="1050" dirty="0"/>
          </a:p>
        </p:txBody>
      </p:sp>
      <p:sp>
        <p:nvSpPr>
          <p:cNvPr id="44" name="Text 40"/>
          <p:cNvSpPr/>
          <p:nvPr/>
        </p:nvSpPr>
        <p:spPr>
          <a:xfrm>
            <a:off x="639723" y="6931700"/>
            <a:ext cx="6548676" cy="574477"/>
          </a:xfrm>
          <a:prstGeom prst="rect">
            <a:avLst/>
          </a:prstGeom>
          <a:noFill/>
          <a:ln/>
        </p:spPr>
        <p:txBody>
          <a:bodyPr wrap="square" lIns="0" tIns="0" rIns="0" bIns="0" rtlCol="0" anchor="t"/>
          <a:lstStyle/>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Tuần 3:</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Demo luồng Báo giá + Hợp đồng.</a:t>
            </a:r>
            <a:endParaRPr lang="en-US" sz="800" dirty="0"/>
          </a:p>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Tuần 6:</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Demo luồng Vật tư + Thông báo Zalo.</a:t>
            </a:r>
            <a:endParaRPr lang="en-US" sz="800" dirty="0"/>
          </a:p>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Tuần 8:</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Hoàn thiện bugfix, sẵn sàng UAT khối văn phòng.</a:t>
            </a:r>
            <a:endParaRPr lang="en-US" sz="800" dirty="0"/>
          </a:p>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Tuần 14:</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Module Task ngoài công trường ổn định, sẵn sàng triển khai.</a:t>
            </a:r>
            <a:endParaRPr lang="en-US" sz="800" dirty="0"/>
          </a:p>
        </p:txBody>
      </p:sp>
      <p:sp>
        <p:nvSpPr>
          <p:cNvPr id="45" name="Text 41"/>
          <p:cNvSpPr/>
          <p:nvPr/>
        </p:nvSpPr>
        <p:spPr>
          <a:xfrm>
            <a:off x="7449622" y="6703814"/>
            <a:ext cx="1368028" cy="170974"/>
          </a:xfrm>
          <a:prstGeom prst="rect">
            <a:avLst/>
          </a:prstGeom>
          <a:noFill/>
          <a:ln/>
        </p:spPr>
        <p:txBody>
          <a:bodyPr wrap="none" lIns="0" tIns="0" rIns="0" bIns="0" rtlCol="0" anchor="t"/>
          <a:lstStyle/>
          <a:p>
            <a:pPr algn="l" indent="0" marL="0">
              <a:lnSpc>
                <a:spcPts val="1300"/>
              </a:lnSpc>
              <a:buNone/>
            </a:pPr>
            <a:r>
              <a:rPr lang="en-US" sz="1050" b="1" dirty="0">
                <a:solidFill>
                  <a:srgbClr val="2E3C4E"/>
                </a:solidFill>
                <a:latin typeface="Barlow Bold" pitchFamily="34" charset="0"/>
                <a:ea typeface="Barlow Bold" pitchFamily="34" charset="-122"/>
                <a:cs typeface="Barlow Bold" pitchFamily="34" charset="-120"/>
              </a:rPr>
              <a:t>Rủi ro &amp; Giải pháp</a:t>
            </a:r>
            <a:endParaRPr lang="en-US" sz="1050" dirty="0"/>
          </a:p>
        </p:txBody>
      </p:sp>
      <p:sp>
        <p:nvSpPr>
          <p:cNvPr id="46" name="Text 42"/>
          <p:cNvSpPr/>
          <p:nvPr/>
        </p:nvSpPr>
        <p:spPr>
          <a:xfrm>
            <a:off x="7449622" y="6931700"/>
            <a:ext cx="6548676" cy="425887"/>
          </a:xfrm>
          <a:prstGeom prst="rect">
            <a:avLst/>
          </a:prstGeom>
          <a:noFill/>
          <a:ln/>
        </p:spPr>
        <p:txBody>
          <a:bodyPr wrap="square" lIns="0" tIns="0" rIns="0" bIns="0" rtlCol="0" anchor="t"/>
          <a:lstStyle/>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Trượt phạm vi:</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Chốt phạm vi theo milestone, đưa yêu cầu phát sinh vào backlog.</a:t>
            </a:r>
            <a:endParaRPr lang="en-US" sz="800" dirty="0"/>
          </a:p>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Tích hợp Zalo trễ:</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Sử dụng adapter trung gian + backup thông báo nội bộ, ưu tiên sự kiện trọng yếu.</a:t>
            </a:r>
            <a:endParaRPr lang="en-US" sz="800" dirty="0"/>
          </a:p>
          <a:p>
            <a:pPr algn="l" marL="342900" indent="-342900">
              <a:lnSpc>
                <a:spcPts val="1000"/>
              </a:lnSpc>
              <a:buSzPct val="100000"/>
              <a:buChar char="•"/>
            </a:pPr>
            <a:r>
              <a:rPr lang="en-US" sz="800" b="1" dirty="0">
                <a:solidFill>
                  <a:srgbClr val="384653"/>
                </a:solidFill>
                <a:latin typeface="Montserrat" pitchFamily="34" charset="0"/>
                <a:ea typeface="Montserrat" pitchFamily="34" charset="-122"/>
                <a:cs typeface="Montserrat" pitchFamily="34" charset="-120"/>
              </a:rPr>
              <a:t>Khoảng cách dữ liệu:</a:t>
            </a:r>
            <a:pPr algn="l"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 Kiểm thử ma trận phân quyền, UAT theo luồng end-to-end.</a:t>
            </a:r>
            <a:endParaRPr lang="en-US" sz="800" dirty="0"/>
          </a:p>
        </p:txBody>
      </p:sp>
      <p:sp>
        <p:nvSpPr>
          <p:cNvPr id="47" name="Text 43"/>
          <p:cNvSpPr/>
          <p:nvPr/>
        </p:nvSpPr>
        <p:spPr>
          <a:xfrm>
            <a:off x="639723" y="7590115"/>
            <a:ext cx="13350954" cy="128707"/>
          </a:xfrm>
          <a:prstGeom prst="rect">
            <a:avLst/>
          </a:prstGeom>
          <a:noFill/>
          <a:ln/>
        </p:spPr>
        <p:txBody>
          <a:bodyPr wrap="none" lIns="0" tIns="0" rIns="0" bIns="0" rtlCol="0" anchor="t"/>
          <a:lstStyle/>
          <a:p>
            <a:pPr algn="ctr" indent="0" marL="0">
              <a:lnSpc>
                <a:spcPts val="1000"/>
              </a:lnSpc>
              <a:buNone/>
            </a:pPr>
            <a:r>
              <a:rPr lang="en-US" sz="800" dirty="0">
                <a:solidFill>
                  <a:srgbClr val="384653"/>
                </a:solidFill>
                <a:latin typeface="Montserrat" pitchFamily="34" charset="0"/>
                <a:ea typeface="Montserrat" pitchFamily="34" charset="-122"/>
                <a:cs typeface="Montserrat" pitchFamily="34" charset="-120"/>
              </a:rPr>
              <a:t>Kế hoạch này đảm bảo triển khai có lộ trình rõ ràng, giảm thiểu rủi ro và tối ưu hóa phản hồi để xây dựng hệ thống bền vững.</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8309" y="859393"/>
            <a:ext cx="11316057" cy="592455"/>
          </a:xfrm>
          <a:prstGeom prst="rect">
            <a:avLst/>
          </a:prstGeom>
          <a:noFill/>
          <a:ln/>
        </p:spPr>
        <p:txBody>
          <a:bodyPr wrap="none" lIns="0" tIns="0" rIns="0" bIns="0" rtlCol="0" anchor="t"/>
          <a:lstStyle/>
          <a:p>
            <a:pPr algn="l" indent="0" marL="0">
              <a:lnSpc>
                <a:spcPts val="4650"/>
              </a:lnSpc>
              <a:buNone/>
            </a:pPr>
            <a:r>
              <a:rPr lang="en-US" sz="3700" b="1" dirty="0">
                <a:solidFill>
                  <a:srgbClr val="2E3C4E"/>
                </a:solidFill>
                <a:latin typeface="Barlow Bold" pitchFamily="34" charset="0"/>
                <a:ea typeface="Barlow Bold" pitchFamily="34" charset="-122"/>
                <a:cs typeface="Barlow Bold" pitchFamily="34" charset="-120"/>
              </a:rPr>
              <a:t>Kế hoạch triển khai chi tiết: Hoàn thiện khối Văn phòng</a:t>
            </a:r>
            <a:endParaRPr lang="en-US" sz="3700" dirty="0"/>
          </a:p>
        </p:txBody>
      </p:sp>
      <p:sp>
        <p:nvSpPr>
          <p:cNvPr id="3" name="Text 1"/>
          <p:cNvSpPr/>
          <p:nvPr/>
        </p:nvSpPr>
        <p:spPr>
          <a:xfrm>
            <a:off x="758309" y="1520190"/>
            <a:ext cx="8085415" cy="473988"/>
          </a:xfrm>
          <a:prstGeom prst="rect">
            <a:avLst/>
          </a:prstGeom>
          <a:noFill/>
          <a:ln/>
        </p:spPr>
        <p:txBody>
          <a:bodyPr wrap="none" lIns="0" tIns="0" rIns="0" bIns="0" rtlCol="0" anchor="t"/>
          <a:lstStyle/>
          <a:p>
            <a:pPr algn="l" indent="0" marL="0">
              <a:lnSpc>
                <a:spcPts val="3700"/>
              </a:lnSpc>
              <a:buNone/>
            </a:pPr>
            <a:r>
              <a:rPr lang="en-US" sz="2950" b="1" dirty="0">
                <a:solidFill>
                  <a:srgbClr val="2E3C4E"/>
                </a:solidFill>
                <a:latin typeface="Barlow Bold" pitchFamily="34" charset="0"/>
                <a:ea typeface="Barlow Bold" pitchFamily="34" charset="-122"/>
                <a:cs typeface="Barlow Bold" pitchFamily="34" charset="-120"/>
              </a:rPr>
              <a:t>Giai đoạn 1: Triển khai Khối Văn phòng (tiếp theo)</a:t>
            </a:r>
            <a:endParaRPr lang="en-US" sz="2950" dirty="0"/>
          </a:p>
        </p:txBody>
      </p:sp>
      <p:sp>
        <p:nvSpPr>
          <p:cNvPr id="4" name="Text 2"/>
          <p:cNvSpPr/>
          <p:nvPr/>
        </p:nvSpPr>
        <p:spPr>
          <a:xfrm>
            <a:off x="758309" y="2250758"/>
            <a:ext cx="360164" cy="225028"/>
          </a:xfrm>
          <a:prstGeom prst="rect">
            <a:avLst/>
          </a:prstGeom>
          <a:noFill/>
          <a:ln/>
        </p:spPr>
        <p:txBody>
          <a:bodyPr wrap="none" lIns="0" tIns="0" rIns="0" bIns="0" rtlCol="0" anchor="t"/>
          <a:lstStyle/>
          <a:p>
            <a:pPr algn="l" indent="0" marL="0">
              <a:lnSpc>
                <a:spcPts val="2200"/>
              </a:lnSpc>
              <a:buNone/>
            </a:pPr>
            <a:r>
              <a:rPr lang="en-US" sz="1400" dirty="0">
                <a:solidFill>
                  <a:srgbClr val="384653"/>
                </a:solidFill>
                <a:latin typeface="Barlow Light" pitchFamily="34" charset="0"/>
                <a:ea typeface="Barlow Light" pitchFamily="34" charset="-122"/>
                <a:cs typeface="Barlow Light" pitchFamily="34" charset="-120"/>
              </a:rPr>
              <a:t>01</a:t>
            </a:r>
            <a:endParaRPr lang="en-US" sz="1400" dirty="0"/>
          </a:p>
        </p:txBody>
      </p:sp>
      <p:pic>
        <p:nvPicPr>
          <p:cNvPr id="5" name="Image 0" descr="preencoded.png">    </p:cNvPr>
          <p:cNvPicPr>
            <a:picLocks noChangeAspect="1"/>
          </p:cNvPicPr>
          <p:nvPr/>
        </p:nvPicPr>
        <p:blipFill>
          <a:blip r:embed="rId1"/>
          <a:stretch>
            <a:fillRect/>
          </a:stretch>
        </p:blipFill>
        <p:spPr>
          <a:xfrm>
            <a:off x="758309" y="2533888"/>
            <a:ext cx="6471285" cy="22860"/>
          </a:xfrm>
          <a:prstGeom prst="rect">
            <a:avLst/>
          </a:prstGeom>
        </p:spPr>
      </p:pic>
      <p:sp>
        <p:nvSpPr>
          <p:cNvPr id="6" name="Text 3"/>
          <p:cNvSpPr/>
          <p:nvPr/>
        </p:nvSpPr>
        <p:spPr>
          <a:xfrm>
            <a:off x="758309" y="2669619"/>
            <a:ext cx="2668310" cy="296108"/>
          </a:xfrm>
          <a:prstGeom prst="rect">
            <a:avLst/>
          </a:prstGeom>
          <a:noFill/>
          <a:ln/>
        </p:spPr>
        <p:txBody>
          <a:bodyPr wrap="none" lIns="0" tIns="0" rIns="0" bIns="0" rtlCol="0" anchor="t"/>
          <a:lstStyle/>
          <a:p>
            <a:pPr algn="l" indent="0" marL="0">
              <a:lnSpc>
                <a:spcPts val="2300"/>
              </a:lnSpc>
              <a:buNone/>
            </a:pPr>
            <a:r>
              <a:rPr lang="en-US" sz="1850" b="1" dirty="0">
                <a:solidFill>
                  <a:srgbClr val="384653"/>
                </a:solidFill>
                <a:latin typeface="Barlow Bold" pitchFamily="34" charset="0"/>
                <a:ea typeface="Barlow Bold" pitchFamily="34" charset="-122"/>
                <a:cs typeface="Barlow Bold" pitchFamily="34" charset="-120"/>
              </a:rPr>
              <a:t>Thông báo Zalo (Tuần 1-6)</a:t>
            </a:r>
            <a:endParaRPr lang="en-US" sz="1850" dirty="0"/>
          </a:p>
        </p:txBody>
      </p:sp>
      <p:sp>
        <p:nvSpPr>
          <p:cNvPr id="7" name="Text 4"/>
          <p:cNvSpPr/>
          <p:nvPr/>
        </p:nvSpPr>
        <p:spPr>
          <a:xfrm>
            <a:off x="758309" y="3068360"/>
            <a:ext cx="6471285" cy="1123950"/>
          </a:xfrm>
          <a:prstGeom prst="rect">
            <a:avLst/>
          </a:prstGeom>
          <a:noFill/>
          <a:ln/>
        </p:spPr>
        <p:txBody>
          <a:bodyPr wrap="square" lIns="0" tIns="0" rIns="0" bIns="0" rtlCol="0" anchor="t"/>
          <a:lstStyle/>
          <a:p>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Tích hợp gửi thông báo tức thời qua Zalo cho các sự kiện quan trọng như phê duyệt báo giá, chuyển trạng thái hợp đồng, yêu cầu mua hàng/PO cần duyệt, cảnh báo tồn kho thấp. Đảm bảo người dùng văn phòng không bỏ lỡ các nhiệm vụ trọng yếu.</a:t>
            </a:r>
            <a:endParaRPr lang="en-US" sz="1400" dirty="0"/>
          </a:p>
        </p:txBody>
      </p:sp>
      <p:sp>
        <p:nvSpPr>
          <p:cNvPr id="8" name="Text 5"/>
          <p:cNvSpPr/>
          <p:nvPr/>
        </p:nvSpPr>
        <p:spPr>
          <a:xfrm>
            <a:off x="758309" y="4294942"/>
            <a:ext cx="6471285" cy="621744"/>
          </a:xfrm>
          <a:prstGeom prst="rect">
            <a:avLst/>
          </a:prstGeom>
          <a:noFill/>
          <a:ln/>
        </p:spPr>
        <p:txBody>
          <a:bodyPr wrap="square" lIns="0" tIns="0" rIns="0" bIns="0" rtlCol="0" anchor="t"/>
          <a:lstStyle/>
          <a:p>
            <a:pPr algn="l" marL="342900" indent="-342900">
              <a:lnSpc>
                <a:spcPts val="2200"/>
              </a:lnSpc>
              <a:buSzPct val="100000"/>
              <a:buChar char="•"/>
            </a:pPr>
            <a:r>
              <a:rPr lang="en-US" sz="1400" dirty="0">
                <a:solidFill>
                  <a:srgbClr val="384653"/>
                </a:solidFill>
                <a:latin typeface="Montserrat" pitchFamily="34" charset="0"/>
                <a:ea typeface="Montserrat" pitchFamily="34" charset="-122"/>
                <a:cs typeface="Montserrat" pitchFamily="34" charset="-120"/>
              </a:rPr>
              <a:t>Gắn người nhận theo quyền hạn/vai trò.</a:t>
            </a:r>
            <a:endParaRPr lang="en-US" sz="1400" dirty="0"/>
          </a:p>
          <a:p>
            <a:pPr algn="l" marL="342900" indent="-342900">
              <a:lnSpc>
                <a:spcPts val="2200"/>
              </a:lnSpc>
              <a:buSzPct val="100000"/>
              <a:buChar char="•"/>
            </a:pPr>
            <a:r>
              <a:rPr lang="en-US" sz="1400" dirty="0">
                <a:solidFill>
                  <a:srgbClr val="384653"/>
                </a:solidFill>
                <a:latin typeface="Montserrat" pitchFamily="34" charset="0"/>
                <a:ea typeface="Montserrat" pitchFamily="34" charset="-122"/>
                <a:cs typeface="Montserrat" pitchFamily="34" charset="-120"/>
              </a:rPr>
              <a:t>Có cơ chế dự phòng (fallback) nếu Zalo gặp sự cố.</a:t>
            </a:r>
            <a:endParaRPr lang="en-US" sz="1400" dirty="0"/>
          </a:p>
        </p:txBody>
      </p:sp>
      <p:sp>
        <p:nvSpPr>
          <p:cNvPr id="9" name="Text 6"/>
          <p:cNvSpPr/>
          <p:nvPr/>
        </p:nvSpPr>
        <p:spPr>
          <a:xfrm>
            <a:off x="7400687" y="2250758"/>
            <a:ext cx="360164" cy="225028"/>
          </a:xfrm>
          <a:prstGeom prst="rect">
            <a:avLst/>
          </a:prstGeom>
          <a:noFill/>
          <a:ln/>
        </p:spPr>
        <p:txBody>
          <a:bodyPr wrap="none" lIns="0" tIns="0" rIns="0" bIns="0" rtlCol="0" anchor="t"/>
          <a:lstStyle/>
          <a:p>
            <a:pPr algn="l" indent="0" marL="0">
              <a:lnSpc>
                <a:spcPts val="2200"/>
              </a:lnSpc>
              <a:buNone/>
            </a:pPr>
            <a:r>
              <a:rPr lang="en-US" sz="1400" dirty="0">
                <a:solidFill>
                  <a:srgbClr val="384653"/>
                </a:solidFill>
                <a:latin typeface="Barlow Light" pitchFamily="34" charset="0"/>
                <a:ea typeface="Barlow Light" pitchFamily="34" charset="-122"/>
                <a:cs typeface="Barlow Light" pitchFamily="34" charset="-120"/>
              </a:rPr>
              <a:t>02</a:t>
            </a:r>
            <a:endParaRPr lang="en-US" sz="1400" dirty="0"/>
          </a:p>
        </p:txBody>
      </p:sp>
      <p:pic>
        <p:nvPicPr>
          <p:cNvPr id="10" name="Image 1" descr="preencoded.png">    </p:cNvPr>
          <p:cNvPicPr>
            <a:picLocks noChangeAspect="1"/>
          </p:cNvPicPr>
          <p:nvPr/>
        </p:nvPicPr>
        <p:blipFill>
          <a:blip r:embed="rId2"/>
          <a:stretch>
            <a:fillRect/>
          </a:stretch>
        </p:blipFill>
        <p:spPr>
          <a:xfrm>
            <a:off x="7400687" y="2533888"/>
            <a:ext cx="6471404" cy="22860"/>
          </a:xfrm>
          <a:prstGeom prst="rect">
            <a:avLst/>
          </a:prstGeom>
        </p:spPr>
      </p:pic>
      <p:sp>
        <p:nvSpPr>
          <p:cNvPr id="11" name="Text 7"/>
          <p:cNvSpPr/>
          <p:nvPr/>
        </p:nvSpPr>
        <p:spPr>
          <a:xfrm>
            <a:off x="7400687" y="2669619"/>
            <a:ext cx="2946440" cy="296108"/>
          </a:xfrm>
          <a:prstGeom prst="rect">
            <a:avLst/>
          </a:prstGeom>
          <a:noFill/>
          <a:ln/>
        </p:spPr>
        <p:txBody>
          <a:bodyPr wrap="none" lIns="0" tIns="0" rIns="0" bIns="0" rtlCol="0" anchor="t"/>
          <a:lstStyle/>
          <a:p>
            <a:pPr algn="l" indent="0" marL="0">
              <a:lnSpc>
                <a:spcPts val="2300"/>
              </a:lnSpc>
              <a:buNone/>
            </a:pPr>
            <a:r>
              <a:rPr lang="en-US" sz="1850" b="1" dirty="0">
                <a:solidFill>
                  <a:srgbClr val="384653"/>
                </a:solidFill>
                <a:latin typeface="Barlow Bold" pitchFamily="34" charset="0"/>
                <a:ea typeface="Barlow Bold" pitchFamily="34" charset="-122"/>
                <a:cs typeface="Barlow Bold" pitchFamily="34" charset="-120"/>
              </a:rPr>
              <a:t>Hardening và UAT (Tuần 7-8)</a:t>
            </a:r>
            <a:endParaRPr lang="en-US" sz="1850" dirty="0"/>
          </a:p>
        </p:txBody>
      </p:sp>
      <p:sp>
        <p:nvSpPr>
          <p:cNvPr id="12" name="Text 8"/>
          <p:cNvSpPr/>
          <p:nvPr/>
        </p:nvSpPr>
        <p:spPr>
          <a:xfrm>
            <a:off x="7400687" y="3068360"/>
            <a:ext cx="6471404" cy="842963"/>
          </a:xfrm>
          <a:prstGeom prst="rect">
            <a:avLst/>
          </a:prstGeom>
          <a:noFill/>
          <a:ln/>
        </p:spPr>
        <p:txBody>
          <a:bodyPr wrap="square" lIns="0" tIns="0" rIns="0" bIns="0" rtlCol="0" anchor="t"/>
          <a:lstStyle/>
          <a:p>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Tập trung sửa lỗi tổng hợp sau khi người dùng thử nghiệm 3 module đầu tiên. Ổn định phân quyền, chuẩn hóa dữ liệu và báo cáo. Thực hiện kiểm thử hồi quy toàn diện các luồng nghiệp vụ end-to-end.</a:t>
            </a:r>
            <a:endParaRPr lang="en-US" sz="1400" dirty="0"/>
          </a:p>
        </p:txBody>
      </p:sp>
      <p:sp>
        <p:nvSpPr>
          <p:cNvPr id="13" name="Text 9"/>
          <p:cNvSpPr/>
          <p:nvPr/>
        </p:nvSpPr>
        <p:spPr>
          <a:xfrm>
            <a:off x="7400687" y="4013954"/>
            <a:ext cx="6471404" cy="902732"/>
          </a:xfrm>
          <a:prstGeom prst="rect">
            <a:avLst/>
          </a:prstGeom>
          <a:noFill/>
          <a:ln/>
        </p:spPr>
        <p:txBody>
          <a:bodyPr wrap="square" lIns="0" tIns="0" rIns="0" bIns="0" rtlCol="0" anchor="t"/>
          <a:lstStyle/>
          <a:p>
            <a:pPr algn="l" marL="342900" indent="-342900">
              <a:lnSpc>
                <a:spcPts val="2200"/>
              </a:lnSpc>
              <a:buSzPct val="100000"/>
              <a:buChar char="•"/>
            </a:pPr>
            <a:r>
              <a:rPr lang="en-US" sz="1400" dirty="0">
                <a:solidFill>
                  <a:srgbClr val="384653"/>
                </a:solidFill>
                <a:latin typeface="Montserrat" pitchFamily="34" charset="0"/>
                <a:ea typeface="Montserrat" pitchFamily="34" charset="-122"/>
                <a:cs typeface="Montserrat" pitchFamily="34" charset="-120"/>
              </a:rPr>
              <a:t>Chuẩn hóa thông điệp lỗi và trải nghiệm người dùng.</a:t>
            </a:r>
            <a:endParaRPr lang="en-US" sz="1400" dirty="0"/>
          </a:p>
          <a:p>
            <a:pPr algn="l" marL="342900" indent="-342900">
              <a:lnSpc>
                <a:spcPts val="2200"/>
              </a:lnSpc>
              <a:buSzPct val="100000"/>
              <a:buChar char="•"/>
            </a:pPr>
            <a:r>
              <a:rPr lang="en-US" sz="1400" dirty="0">
                <a:solidFill>
                  <a:srgbClr val="384653"/>
                </a:solidFill>
                <a:latin typeface="Montserrat" pitchFamily="34" charset="0"/>
                <a:ea typeface="Montserrat" pitchFamily="34" charset="-122"/>
                <a:cs typeface="Montserrat" pitchFamily="34" charset="-120"/>
              </a:rPr>
              <a:t>Thiết lập checklist UAT theo từng vai trò (Kinh doanh, Kỹ thuật, Vật tư, Ban Giám đốc).</a:t>
            </a:r>
            <a:endParaRPr lang="en-US" sz="1400" dirty="0"/>
          </a:p>
        </p:txBody>
      </p:sp>
      <p:sp>
        <p:nvSpPr>
          <p:cNvPr id="14" name="Text 10"/>
          <p:cNvSpPr/>
          <p:nvPr/>
        </p:nvSpPr>
        <p:spPr>
          <a:xfrm>
            <a:off x="758309" y="5244108"/>
            <a:ext cx="13113782" cy="280988"/>
          </a:xfrm>
          <a:prstGeom prst="rect">
            <a:avLst/>
          </a:prstGeom>
          <a:noFill/>
          <a:ln/>
        </p:spPr>
        <p:txBody>
          <a:bodyPr wrap="none" lIns="0" tIns="0" rIns="0" bIns="0" rtlCol="0" anchor="t"/>
          <a:lstStyle/>
          <a:p>
            <a:pPr algn="ctr"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Sau giai đoạn này, bản build sẽ sẵn sàng cho việc kiểm thử chính thức của khối văn phòng.</a:t>
            </a:r>
            <a:endParaRPr lang="en-US" sz="1400" dirty="0"/>
          </a:p>
        </p:txBody>
      </p:sp>
      <p:sp>
        <p:nvSpPr>
          <p:cNvPr id="15" name="Shape 11"/>
          <p:cNvSpPr/>
          <p:nvPr/>
        </p:nvSpPr>
        <p:spPr>
          <a:xfrm>
            <a:off x="758309" y="5744528"/>
            <a:ext cx="13113782" cy="13454"/>
          </a:xfrm>
          <a:prstGeom prst="rect">
            <a:avLst/>
          </a:prstGeom>
          <a:solidFill>
            <a:srgbClr val="384653">
              <a:alpha val="50000"/>
            </a:srgbClr>
          </a:solidFill>
          <a:ln/>
        </p:spPr>
      </p:sp>
      <p:sp>
        <p:nvSpPr>
          <p:cNvPr id="16" name="Text 12"/>
          <p:cNvSpPr/>
          <p:nvPr/>
        </p:nvSpPr>
        <p:spPr>
          <a:xfrm>
            <a:off x="758309" y="6077545"/>
            <a:ext cx="8013025" cy="473988"/>
          </a:xfrm>
          <a:prstGeom prst="rect">
            <a:avLst/>
          </a:prstGeom>
          <a:noFill/>
          <a:ln/>
        </p:spPr>
        <p:txBody>
          <a:bodyPr wrap="none" lIns="0" tIns="0" rIns="0" bIns="0" rtlCol="0" anchor="t"/>
          <a:lstStyle/>
          <a:p>
            <a:pPr algn="l" indent="0" marL="0">
              <a:lnSpc>
                <a:spcPts val="3700"/>
              </a:lnSpc>
              <a:buNone/>
            </a:pPr>
            <a:r>
              <a:rPr lang="en-US" sz="2950" b="1" dirty="0">
                <a:solidFill>
                  <a:srgbClr val="2E3C4E"/>
                </a:solidFill>
                <a:latin typeface="Barlow Bold" pitchFamily="34" charset="0"/>
                <a:ea typeface="Barlow Bold" pitchFamily="34" charset="-122"/>
                <a:cs typeface="Barlow Bold" pitchFamily="34" charset="-120"/>
              </a:rPr>
              <a:t>Giai đoạn 2: Task Chi tiết cho Công nhân (6 tuần)</a:t>
            </a:r>
            <a:endParaRPr lang="en-US" sz="2950" dirty="0"/>
          </a:p>
        </p:txBody>
      </p:sp>
      <p:sp>
        <p:nvSpPr>
          <p:cNvPr id="17" name="Text 13"/>
          <p:cNvSpPr/>
          <p:nvPr/>
        </p:nvSpPr>
        <p:spPr>
          <a:xfrm>
            <a:off x="758309" y="6808113"/>
            <a:ext cx="13113782" cy="561975"/>
          </a:xfrm>
          <a:prstGeom prst="rect">
            <a:avLst/>
          </a:prstGeom>
          <a:noFill/>
          <a:ln/>
        </p:spPr>
        <p:txBody>
          <a:bodyPr wrap="square" lIns="0" tIns="0" rIns="0" bIns="0" rtlCol="0" anchor="t"/>
          <a:lstStyle/>
          <a:p>
            <a:pPr algn="l" indent="0" marL="0">
              <a:lnSpc>
                <a:spcPts val="2200"/>
              </a:lnSpc>
              <a:buNone/>
            </a:pPr>
            <a:r>
              <a:rPr lang="en-US" sz="1400" dirty="0">
                <a:solidFill>
                  <a:srgbClr val="384653"/>
                </a:solidFill>
                <a:latin typeface="Montserrat" pitchFamily="34" charset="0"/>
                <a:ea typeface="Montserrat" pitchFamily="34" charset="-122"/>
                <a:cs typeface="Montserrat" pitchFamily="34" charset="-120"/>
              </a:rPr>
              <a:t>Sau khi các module văn phòng ổn định và được nghiệm thu, hệ thống sẽ mở rộng để quản lý chi tiết công việc tại công trường với mục tiêu tối ưu hóa vận hành và giảm thiểu rủi ro ngoài hiện trường.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2026-04-24T17:34:06Z</dcterms:created>
  <dcterms:modified xsi:type="dcterms:W3CDTF">2026-04-24T17:34:06Z</dcterms:modified>
</cp:coreProperties>
</file>